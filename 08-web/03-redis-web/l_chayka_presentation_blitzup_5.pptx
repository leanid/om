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292608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57200"/>
            <a:ext cx="2286000" cy="2286000"/>
          </a:xfrm>
          <a:prstGeom prst="ellipse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9144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1F2A37"/>
                </a:solidFill>
                <a:latin typeface="Segoe UI"/>
              </a:rPr>
              <a:t>Redis Log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73E8"/>
                </a:solidFill>
                <a:latin typeface="Segoe UI"/>
              </a:rPr>
              <a:t>Клиент-серверная система сбора и просмотра логов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Segoe UI"/>
              </a:rPr>
              <a:t>C++ · Redis Streams · SSE · Modern Web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937760"/>
            <a:ext cx="1737360" cy="502920"/>
          </a:xfrm>
          <a:prstGeom prst="roundRect">
            <a:avLst>
              <a:gd name="adj" fmla="val 15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C++23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4937760"/>
            <a:ext cx="1737360" cy="502920"/>
          </a:xfrm>
          <a:prstGeom prst="roundRect">
            <a:avLst>
              <a:gd name="adj" fmla="val 15000"/>
            </a:avLst>
          </a:prstGeom>
          <a:solidFill>
            <a:srgbClr val="DC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4937760"/>
            <a:ext cx="1737360" cy="502920"/>
          </a:xfrm>
          <a:prstGeom prst="roundRect">
            <a:avLst>
              <a:gd name="adj" fmla="val 15000"/>
            </a:avLst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httplib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937760"/>
            <a:ext cx="1737360" cy="502920"/>
          </a:xfrm>
          <a:prstGeom prst="roundRect">
            <a:avLst>
              <a:gd name="adj" fmla="val 15000"/>
            </a:avLst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937760"/>
            <a:ext cx="1737360" cy="502920"/>
          </a:xfrm>
          <a:prstGeom prst="roundRect">
            <a:avLst>
              <a:gd name="adj" fmla="val 15000"/>
            </a:avLst>
          </a:prstGeom>
          <a:solidFill>
            <a:srgbClr val="7B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HTML/CSS/JS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Обзор системы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Что делает Redis Log System и зачем она нужна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256032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/>
            <a:r>
              <a:rPr sz="1600" b="1">
                <a:solidFill>
                  <a:srgbClr val="E8710A"/>
                </a:solidFill>
                <a:latin typeface="Segoe UI"/>
              </a:rPr>
              <a:t>Проблема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Множество устройств генерируют логи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Нужен централизованный сбор в реальном времени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Просмотр и скачивание логов через веб-интерфейс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Масштабируемость и автоматическая очистка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256032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/>
            <a:r>
              <a:rPr sz="1600" b="1">
                <a:solidFill>
                  <a:srgbClr val="009B8D"/>
                </a:solidFill>
                <a:latin typeface="Segoe UI"/>
              </a:rPr>
              <a:t>Решение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Redis Streams как шина сообщений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C++ клиент отправляет логи в Redis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C++ HTTP-сервер с SSE для real-time доставки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Современный веб-UI для просмотра и фильтрации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Устройство
(C++ клиент)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4773168"/>
            <a:ext cx="640080" cy="457200"/>
          </a:xfrm>
          <a:prstGeom prst="rightArrow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45720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DC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Redis
Streams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0720" y="4773168"/>
            <a:ext cx="640080" cy="457200"/>
          </a:xfrm>
          <a:prstGeom prst="rightArrow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45720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HTTP-сервер
(C++ / httplib)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86800" y="4773168"/>
            <a:ext cx="640080" cy="457200"/>
          </a:xfrm>
          <a:prstGeom prst="rightArrow">
            <a:avLst/>
          </a:prstGeom>
          <a:solidFill>
            <a:srgbClr val="E0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09760" y="45720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Браузер
(SSE + JS)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Как компоненты взаимодействуют друг с другом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743200" cy="3200400"/>
          </a:xfrm>
          <a:prstGeom prst="roundRect">
            <a:avLst>
              <a:gd name="adj" fmla="val 3000"/>
            </a:avLst>
          </a:prstGeom>
          <a:solidFill>
            <a:srgbClr val="EBF5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A73E8"/>
                </a:solidFill>
                <a:latin typeface="Segoe UI"/>
              </a:rPr>
              <a:t>CLIENT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1F2A37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F2A37"/>
                </a:solidFill>
                <a:latin typeface="Segoe UI"/>
              </a:rPr>
              <a:t>  41-redis-log-client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1F2A37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Подключение к Redis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Регистрация устройства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Генерация stream-ключа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XADD в Redis Stream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Интерактивный ввод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2743200"/>
            <a:ext cx="731520" cy="365760"/>
          </a:xfrm>
          <a:prstGeom prst="right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2331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73E8"/>
                </a:solidFill>
                <a:latin typeface="Segoe UI"/>
              </a:rPr>
              <a:t>XADD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3931920"/>
            <a:ext cx="731520" cy="365760"/>
          </a:xfrm>
          <a:prstGeom prst="rightArrow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9B8D"/>
                </a:solidFill>
                <a:latin typeface="Segoe UI"/>
              </a:rPr>
              <a:t>HSET
SADD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011680"/>
            <a:ext cx="3474720" cy="32004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DC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DC362E"/>
                </a:solidFill>
                <a:latin typeface="Segoe UI"/>
              </a:rPr>
              <a:t>REDIS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1F2A37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F2A37"/>
                </a:solidFill>
                <a:latin typeface="Segoe UI"/>
              </a:rPr>
              <a:t>  Структуры данных: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1F2A37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E8710A"/>
                </a:solidFill>
                <a:latin typeface="Consolas"/>
              </a:rPr>
              <a:t>  HASH    all_devices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009B8D"/>
                </a:solidFill>
                <a:latin typeface="Consolas"/>
              </a:rPr>
              <a:t>  SET     log_names:{dev}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1A73E8"/>
                </a:solidFill>
                <a:latin typeface="Consolas"/>
              </a:rPr>
              <a:t>  STREAM  log:{dev}:{file}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1F2A37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7B4FBF"/>
                </a:solidFill>
                <a:latin typeface="Segoe UI"/>
              </a:rPr>
              <a:t>  Keyspace Notifications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6B7280"/>
                </a:solidFill>
                <a:latin typeface="Segoe UI"/>
              </a:rPr>
              <a:t>  TTL: 72 часа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89520" y="2743200"/>
            <a:ext cx="731520" cy="365760"/>
          </a:xfrm>
          <a:prstGeom prst="rightArrow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331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8710A"/>
                </a:solidFill>
                <a:latin typeface="Segoe UI"/>
              </a:rPr>
              <a:t>XRANGE
XREAD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89520" y="3931920"/>
            <a:ext cx="731520" cy="365760"/>
          </a:xfrm>
          <a:prstGeom prst="rightArrow">
            <a:avLst/>
          </a:prstGeom>
          <a:solidFill>
            <a:srgbClr val="7B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297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B4FBF"/>
                </a:solidFill>
                <a:latin typeface="Segoe UI"/>
              </a:rPr>
              <a:t>SUBSCRIBE
psubscribe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011680"/>
            <a:ext cx="3474720" cy="320040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87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8710A"/>
                </a:solidFill>
                <a:latin typeface="Segoe UI"/>
              </a:rPr>
              <a:t>WEB SERVER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1F2A37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200" b="1">
                <a:solidFill>
                  <a:srgbClr val="1F2A37"/>
                </a:solidFill>
                <a:latin typeface="Segoe UI"/>
              </a:rPr>
              <a:t>  03-redis-web</a:t>
            </a:r>
          </a:p>
          <a:p>
            <a:pPr algn="l">
              <a:spcBef>
                <a:spcPts val="600"/>
              </a:spcBef>
            </a:pPr>
            <a:r>
              <a:rPr sz="400" b="0">
                <a:solidFill>
                  <a:srgbClr val="1F2A37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notification_center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unified_stream_provider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unified_stream_handler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logs_download_handler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  • Статика: HTML/CSS/JS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5486400"/>
            <a:ext cx="2560320" cy="777240"/>
          </a:xfrm>
          <a:prstGeom prst="roundRect">
            <a:avLst>
              <a:gd name="adj" fmla="val 5000"/>
            </a:avLst>
          </a:prstGeom>
          <a:solidFill>
            <a:srgbClr val="E6FAF5"/>
          </a:solidFill>
          <a:ln w="12700">
            <a:solidFill>
              <a:srgbClr val="009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9B8D"/>
                </a:solidFill>
                <a:latin typeface="Segoe UI"/>
              </a:rPr>
              <a:t>  BROWSER  (EventSource / SSE)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966960" y="5166360"/>
            <a:ext cx="320040" cy="320040"/>
          </a:xfrm>
          <a:prstGeom prst="downArrow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Модель данных Redis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Три типа ключей для хранения логов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88720" cy="411480"/>
          </a:xfrm>
          <a:prstGeom prst="roundRect">
            <a:avLst>
              <a:gd name="adj" fmla="val 15000"/>
            </a:avLst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474720" cy="384048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/>
            <a:r>
              <a:rPr sz="1500" b="1">
                <a:solidFill>
                  <a:srgbClr val="E8710A"/>
                </a:solidFill>
                <a:latin typeface="Consolas"/>
              </a:rPr>
              <a:t>all_devices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6B7280"/>
                </a:solidFill>
                <a:latin typeface="Segoe UI"/>
              </a:rPr>
              <a:t>Реестр всех устройств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1F2A37"/>
                </a:solidFill>
                <a:latin typeface="Segoe UI"/>
              </a:rPr>
              <a:t/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Ключ:  </a:t>
            </a:r>
            <a:r>
              <a:rPr sz="1200">
                <a:solidFill>
                  <a:srgbClr val="1F2A37"/>
                </a:solidFill>
                <a:latin typeface="Consolas"/>
              </a:rPr>
              <a:t>all_devices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Формат:  </a:t>
            </a:r>
            <a:r>
              <a:rPr sz="1200">
                <a:solidFill>
                  <a:srgbClr val="1F2A37"/>
                </a:solidFill>
                <a:latin typeface="Consolas"/>
              </a:rPr>
              <a:t>device_name → platform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Пример:  </a:t>
            </a:r>
            <a:r>
              <a:rPr sz="1200">
                <a:solidFill>
                  <a:srgbClr val="1F2A37"/>
                </a:solidFill>
                <a:latin typeface="Consolas"/>
              </a:rPr>
              <a:t>"anastasia_device" → "MacOS"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TTL:  </a:t>
            </a:r>
            <a:r>
              <a:rPr sz="1200">
                <a:solidFill>
                  <a:srgbClr val="1F2A37"/>
                </a:solidFill>
                <a:latin typeface="Consolas"/>
              </a:rPr>
              <a:t>72 часа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1188720" cy="411480"/>
          </a:xfrm>
          <a:prstGeom prst="roundRect">
            <a:avLst>
              <a:gd name="adj" fmla="val 15000"/>
            </a:avLst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3474720" cy="384048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/>
            <a:r>
              <a:rPr sz="1500" b="1">
                <a:solidFill>
                  <a:srgbClr val="009B8D"/>
                </a:solidFill>
                <a:latin typeface="Consolas"/>
              </a:rPr>
              <a:t>log_names:{device}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6B7280"/>
                </a:solidFill>
                <a:latin typeface="Segoe UI"/>
              </a:rPr>
              <a:t>Список лог-файлов устройства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1F2A37"/>
                </a:solidFill>
                <a:latin typeface="Segoe UI"/>
              </a:rPr>
              <a:t/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Ключ:  </a:t>
            </a:r>
            <a:r>
              <a:rPr sz="1200">
                <a:solidFill>
                  <a:srgbClr val="1F2A37"/>
                </a:solidFill>
                <a:latin typeface="Consolas"/>
              </a:rPr>
              <a:t>log_names:anastasia_device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Элементы:  </a:t>
            </a:r>
            <a:r>
              <a:rPr sz="1200">
                <a:solidFill>
                  <a:srgbClr val="1F2A37"/>
                </a:solidFill>
                <a:latin typeface="Consolas"/>
              </a:rPr>
              <a:t>Имена лог-стримов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Пример:  </a:t>
            </a:r>
            <a:r>
              <a:rPr sz="1200">
                <a:solidFill>
                  <a:srgbClr val="1F2A37"/>
                </a:solidFill>
                <a:latin typeface="Consolas"/>
              </a:rPr>
              <a:t>"log_17_03_2026T14_30_45.txt"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TTL:  </a:t>
            </a:r>
            <a:r>
              <a:rPr sz="1200">
                <a:solidFill>
                  <a:srgbClr val="1F2A37"/>
                </a:solidFill>
                <a:latin typeface="Consolas"/>
              </a:rPr>
              <a:t>72 часа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1188720" cy="411480"/>
          </a:xfrm>
          <a:prstGeom prst="roundRect">
            <a:avLst>
              <a:gd name="adj" fmla="val 15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103120"/>
            <a:ext cx="3474720" cy="3840480"/>
          </a:xfrm>
          <a:prstGeom prst="roundRect">
            <a:avLst>
              <a:gd name="adj" fmla="val 3000"/>
            </a:avLst>
          </a:prstGeom>
          <a:solidFill>
            <a:srgbClr val="EBF5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 bIns="182880"/>
          <a:lstStyle/>
          <a:p>
            <a:pPr algn="ctr"/>
            <a:r>
              <a:rPr sz="1500" b="1">
                <a:solidFill>
                  <a:srgbClr val="1A73E8"/>
                </a:solidFill>
                <a:latin typeface="Consolas"/>
              </a:rPr>
              <a:t>log:{device}:{file}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6B7280"/>
                </a:solidFill>
                <a:latin typeface="Segoe UI"/>
              </a:rPr>
              <a:t>Содержимое лог-файла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1F2A37"/>
                </a:solidFill>
                <a:latin typeface="Segoe UI"/>
              </a:rPr>
              <a:t/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Ключ:  </a:t>
            </a:r>
            <a:r>
              <a:rPr sz="1200">
                <a:solidFill>
                  <a:srgbClr val="1F2A37"/>
                </a:solidFill>
                <a:latin typeface="Consolas"/>
              </a:rPr>
              <a:t>log:anastasia_device:log_17_03...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Поле:  </a:t>
            </a:r>
            <a:r>
              <a:rPr sz="1200">
                <a:solidFill>
                  <a:srgbClr val="1F2A37"/>
                </a:solidFill>
                <a:latin typeface="Consolas"/>
              </a:rPr>
              <a:t>message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Пример:  </a:t>
            </a:r>
            <a:r>
              <a:rPr sz="1200">
                <a:solidFill>
                  <a:srgbClr val="1F2A37"/>
                </a:solidFill>
                <a:latin typeface="Consolas"/>
              </a:rPr>
              <a:t>"[14:30:45.123] INFO Started"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4B5563"/>
                </a:solidFill>
                <a:latin typeface="Segoe UI"/>
              </a:rPr>
              <a:t>TTL:  </a:t>
            </a:r>
            <a:r>
              <a:rPr sz="1200">
                <a:solidFill>
                  <a:srgbClr val="1F2A37"/>
                </a:solidFill>
                <a:latin typeface="Consolas"/>
              </a:rPr>
              <a:t>72 часа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Клиент: 41-redis-log-client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Отправка логов в Redis Stream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00200"/>
            <a:ext cx="320040" cy="32004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3E8"/>
                </a:solidFill>
                <a:latin typeface="Segoe UI"/>
              </a:rPr>
              <a:t>1. Подключение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Segoe UI"/>
              </a:rPr>
              <a:t>Читает строку подключения из
log_client_config.txt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0360"/>
            <a:ext cx="320040" cy="320040"/>
          </a:xfrm>
          <a:prstGeom prst="ellipse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B8D"/>
                </a:solidFill>
                <a:latin typeface="Segoe UI"/>
              </a:rPr>
              <a:t>2. Регистрация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Segoe UI"/>
              </a:rPr>
              <a:t>HSET all_devices + SADD log_names
со сгенерированным именем стрима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160519"/>
            <a:ext cx="320040" cy="320040"/>
          </a:xfrm>
          <a:prstGeom prst="ellipse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605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69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710A"/>
                </a:solidFill>
                <a:latin typeface="Segoe UI"/>
              </a:rPr>
              <a:t>3. Логирование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38911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Segoe UI"/>
              </a:rPr>
              <a:t>XADD в Redis Stream с таймстампом
и уровнем (INFO/WARN/ERROR/DEBUG)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440680"/>
            <a:ext cx="320040" cy="320040"/>
          </a:xfrm>
          <a:prstGeom prst="ellipse">
            <a:avLst/>
          </a:prstGeom>
          <a:solidFill>
            <a:srgbClr val="7B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49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4FBF"/>
                </a:solidFill>
                <a:latin typeface="Segoe UI"/>
              </a:rPr>
              <a:t>4. Интерактив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669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Segoe UI"/>
              </a:rPr>
              <a:t>Цикл чтения stdin — пользователь
вводит сообщения в реальном времени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508760"/>
            <a:ext cx="6217920" cy="4846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namespace om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constexpr auto key_ttl = std::chrono::hours(72);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void log_to_redis(redis::Redis&amp; client,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const std::string&amp; stream_key,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const std::string&amp; level,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const std::string&amp; message)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auto now = std::chrono::system_clock::now();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auto tm  = to_local_tm(now);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auto ms  = std::chrono::duration_cast&lt;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std::chrono::milliseconds&gt;(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now.time_since_epoch()) % 1000;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auto formatted = std::format(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"[{:02}:{:02}:{:02}.{:03}] {} {}",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tm.tm_hour, tm.tm_min, tm.tm_sec,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ms.count(), level, message);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client.xadd(stream_key, "*",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{std::make_pair("message", formatted)});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} // namespace 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Segoe UI"/>
              </a:rPr>
              <a:t>main.cxx — ключевая функция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Клиент: поток выполнения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От запуска до завершения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7315200" cy="4846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int main()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1. Читаем конфигурацию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std::ifstream config_file("log_client_config.txt");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std::getline(config_file, connection_string);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2. Подключаемся к Redis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redis::Redis redis_client(connection_string);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3. Генерируем уникальное имя лог-стрима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std::string log_file_name = om::generate_log_file_name();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"log_17_03_2026T14_30_45.txt"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std::string stream_key =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"log:" + device_name + ":" + log_file_name;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4. Регистрируем устройство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redis_client.hset("all_devices", device_name, platform);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redis_client.sadd("log_names:" + device_name, log_file_name);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5. Отправляем начальные логи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om::log_to_redis(client, stream_key, "INFO", "Started");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om::log_to_redis(client, stream_key, "DEBUG", "Init...");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om::log_to_redis(client, stream_key, "WARNING", "No cfg");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om::log_to_redis(client, stream_key, "ERROR", "DB fail!");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6. Интерактивный режим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while (std::getline(std::cin, user_input))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if (user_input == "quit") break;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om::log_to_redis(client, stream_key, "INFO", user_input);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474720" cy="1051560"/>
          </a:xfrm>
          <a:prstGeom prst="roundRect">
            <a:avLst>
              <a:gd name="adj" fmla="val 3000"/>
            </a:avLst>
          </a:prstGeom>
          <a:solidFill>
            <a:srgbClr val="EBF5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1A73E8"/>
                </a:solidFill>
                <a:latin typeface="Segoe UI"/>
              </a:rPr>
              <a:t>Конфигурация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Строка подключения из файла:
tcp://default:pass@host:6379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880360"/>
            <a:ext cx="3474720" cy="105156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009B8D"/>
                </a:solidFill>
                <a:latin typeface="Segoe UI"/>
              </a:rPr>
              <a:t>Имя стрима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Автогенерация по timestamp:
log_DD_MM_YYYYTHH_MM_SS.txt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114800"/>
            <a:ext cx="3474720" cy="105156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E8710A"/>
                </a:solidFill>
                <a:latin typeface="Segoe UI"/>
              </a:rPr>
              <a:t>Метаданные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HASH: реестр устройств
SET: список лог-файлов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5349240"/>
            <a:ext cx="3474720" cy="10515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DC362E"/>
                </a:solidFill>
                <a:latin typeface="Segoe UI"/>
              </a:rPr>
              <a:t>TTL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72 часа на все ключи
Автоматическая очистка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Сервер: notification_center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Подписка на Keyspace Notifications Redis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029200" cy="4754880"/>
          </a:xfrm>
          <a:prstGeom prst="roundRect">
            <a:avLst>
              <a:gd name="adj" fmla="val 3000"/>
            </a:avLst>
          </a:prstGeom>
          <a:solidFill>
            <a:srgbClr val="F3EEFC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/>
            <a:r>
              <a:rPr sz="1600" b="1">
                <a:solidFill>
                  <a:srgbClr val="7B4FBF"/>
                </a:solidFill>
                <a:latin typeface="Segoe UI"/>
              </a:rPr>
              <a:t>Как работает notification_center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Redis Keyspace Notifications (KEA) уведомляют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  об изменениях в ключах all_devices и log_names:*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Подписка через PSUBSCRIBE на паттерны: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  __keyspace@0__:all_devices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  __keyspace@0__:log_names:*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При изменении — обновляет version-счётчики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  и будит SSE-потоки через condition_variable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Работает в отдельном std::jthread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  с поддержкой std::stop_token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Автопереподключение при ошибках Redis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554480"/>
            <a:ext cx="5852160" cy="47548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class notification_center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std::mutex              mtx;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std::condition_variable cv_devices;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std::condition_variable cv_streams;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std::condition_variable cv_any;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std::atomic&lt;uint64_t&gt; devices_version{0};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std::atomic&lt;uint64_t&gt; any_version{0};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std::jthread worker_thread;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void start()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redis_client-&gt;command(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    "CONFIG", "SET",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"notify-keyspace-events", "KEA");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worker_thread = std::jthread(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[this](std::stop_token stoken)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auto sub = redis_client-&gt;subscriber();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    sub.on_pmessage([this](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  std::string pattern,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  std::string channel,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  std::string msg)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                // Обновляем версии, будим CV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        devices_version++;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  cv_devices.notify_all();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        sub.psubscribe("__keyspace@0__:*");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while (!stoken.stop_requested())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        sub.consume();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Сервер: SSE-стриминг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Единый эндпоинт /api/stream для всех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Segoe UI"/>
              </a:rPr>
              <a:t>unified_stream_provider — мультиплексирует devices, log_names и logs в одном SSE-соединении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103120"/>
            <a:ext cx="2743200" cy="1645920"/>
          </a:xfrm>
          <a:prstGeom prst="roundRect">
            <a:avLst>
              <a:gd name="adj" fmla="val 3000"/>
            </a:avLst>
          </a:prstGeom>
          <a:solidFill>
            <a:srgbClr val="EBF5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ctr"/>
            <a:r>
              <a:rPr sz="1300" b="1">
                <a:solidFill>
                  <a:srgbClr val="1A73E8"/>
                </a:solidFill>
                <a:latin typeface="Consolas"/>
              </a:rPr>
              <a:t>devices_init
devices_update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Список устройств
HGETALL all_devices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103120"/>
            <a:ext cx="2743200" cy="164592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ctr"/>
            <a:r>
              <a:rPr sz="1300" b="1">
                <a:solidFill>
                  <a:srgbClr val="009B8D"/>
                </a:solidFill>
                <a:latin typeface="Consolas"/>
              </a:rPr>
              <a:t>log_names_init
log_names_update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Имена логов устройства
SMEMBERS log_names:{dev}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2743200" cy="164592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ctr"/>
            <a:r>
              <a:rPr sz="1300" b="1">
                <a:solidFill>
                  <a:srgbClr val="E8710A"/>
                </a:solidFill>
                <a:latin typeface="Consolas"/>
              </a:rPr>
              <a:t>logs_init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Начальная загрузка логов
XRANGE пакетами по 1000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103120"/>
            <a:ext cx="2743200" cy="1645920"/>
          </a:xfrm>
          <a:prstGeom prst="roundRect">
            <a:avLst>
              <a:gd name="adj" fmla="val 3000"/>
            </a:avLst>
          </a:prstGeom>
          <a:solidFill>
            <a:srgbClr val="F3EEFC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ctr"/>
            <a:r>
              <a:rPr sz="1300" b="1">
                <a:solidFill>
                  <a:srgbClr val="7B4FBF"/>
                </a:solidFill>
                <a:latin typeface="Consolas"/>
              </a:rPr>
              <a:t>logs_new</a:t>
            </a:r>
          </a:p>
          <a:p>
            <a:pPr algn="l">
              <a:spcBef>
                <a:spcPts val="8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Новые записи в реальном времени
XREAD с блокирующим таймаутом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11155680" cy="2560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bool operator()(size_t offset, httplib::DataSink&amp; sink) const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1. Начальные данные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send_sse(sink, "devices_init", get_devices_json());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if (!device_.empty())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send_sse(sink, "log_names_init", get_log_names_json());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2. Пакетная загрузка существующих логов (XRANGE)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while (true)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std::vector&lt;stream_item&gt; batch;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redis_client_-&gt;xrange(stream_key_, start, "+",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            batch_size_, std::back_inserter(batch));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if (batch.empty()) break;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send_sse(sink, first ? "logs_init" : "logs_new",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     items_to_json(batch), last_log_id);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3. Real-time polling (XREAD + блокировка)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while (true)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redis_client_-&gt;xread(stream_key_, last_log_id,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             poll_interval_, std::back_inserter(data));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if (!data.empty())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    send_sse(sink, "logs_new", items_to_json(items), last_id);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    // + обновления devices и log_names через notification_center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Дизайн: единый SSE-эндпоинт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Почему один /api/stream вместо нескольких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22860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/>
            <a:r>
              <a:rPr sz="1600" b="1">
                <a:solidFill>
                  <a:srgbClr val="DC362E"/>
                </a:solidFill>
                <a:latin typeface="Segoe UI"/>
              </a:rPr>
              <a:t>Проблема: лимит браузера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Браузеры ограничивают ~6 TCP-соединений на домен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EventSource (SSE) держит соединение открытым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3 отдельных SSE = 3 из 6 слотов заняты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Остальные запросы (CSS, JS, API) блокируются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228600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/>
            <a:r>
              <a:rPr sz="1600" b="1">
                <a:solidFill>
                  <a:srgbClr val="009B8D"/>
                </a:solidFill>
                <a:latin typeface="Segoe UI"/>
              </a:rPr>
              <a:t>Решение: мультиплексирование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Один SSE-эндпоинт для всех типов данных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event: devices_init / log_names_init / logs_new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JS-клиент разделяет данные по типу события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Всего 1 TCP-соединение вместо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362E"/>
                </a:solidFill>
                <a:latin typeface="Segoe UI"/>
              </a:rPr>
              <a:t>БЕЗ мультиплексирования: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5029200" cy="4114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DC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DC362E"/>
                </a:solidFill>
                <a:latin typeface="Consolas"/>
              </a:rPr>
              <a:t>  TCP #1  →  GET /api/devices/stream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66359"/>
            <a:ext cx="5029200" cy="4114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DC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DC362E"/>
                </a:solidFill>
                <a:latin typeface="Consolas"/>
              </a:rPr>
              <a:t>  TCP #2  →  GET /api/log_names/stream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79"/>
            <a:ext cx="5029200" cy="4114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DC3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DC362E"/>
                </a:solidFill>
                <a:latin typeface="Consolas"/>
              </a:rPr>
              <a:t>  TCP #3  →  GET /api/logs/stream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206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B8D"/>
                </a:solidFill>
                <a:latin typeface="Segoe UI"/>
              </a:rPr>
              <a:t>С мультиплексированием: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663440"/>
            <a:ext cx="5303520" cy="141732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009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009B8D"/>
                </a:solidFill>
                <a:latin typeface="Consolas"/>
              </a:rPr>
              <a:t>  TCP #1  →  GET /api/stream?device=X&amp;log_name=Y</a:t>
            </a:r>
          </a:p>
          <a:p>
            <a:pPr algn="l">
              <a:spcBef>
                <a:spcPts val="600"/>
              </a:spcBef>
            </a:pPr>
            <a:r>
              <a:rPr sz="600" b="0">
                <a:solidFill>
                  <a:srgbClr val="1F2A37"/>
                </a:solidFill>
                <a:latin typeface="Segoe UI"/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Consolas"/>
              </a:rPr>
              <a:t>    event: devices_init  |  event: log_names_update</a:t>
            </a:r>
          </a:p>
          <a:p>
            <a:pPr algn="l">
              <a:spcBef>
                <a:spcPts val="600"/>
              </a:spcBef>
            </a:pPr>
            <a:r>
              <a:rPr sz="1100" b="0">
                <a:solidFill>
                  <a:srgbClr val="4B5563"/>
                </a:solidFill>
                <a:latin typeface="Consolas"/>
              </a:rPr>
              <a:t>    event: logs_init     |  event: logs_new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Web-интерфейс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Три панели: устройства, лог-файлы, содержимое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36192"/>
            <a:ext cx="11247120" cy="4425696"/>
          </a:xfrm>
          <a:prstGeom prst="roundRect">
            <a:avLst>
              <a:gd name="adj" fmla="val 1000"/>
            </a:avLst>
          </a:prstGeom>
          <a:solidFill>
            <a:srgbClr val="E8ECF1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155680" cy="4572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Device Logs Viewer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2286000" cy="393192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4444"/>
                </a:solidFill>
                <a:latin typeface="Segoe UI"/>
              </a:rPr>
              <a:t>Devices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68880"/>
            <a:ext cx="2103120" cy="32004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AAAAAA"/>
                </a:solidFill>
                <a:latin typeface="Segoe UI"/>
              </a:rPr>
              <a:t>  Search devices...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71800"/>
            <a:ext cx="219456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971800"/>
            <a:ext cx="4572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33333"/>
                </a:solidFill>
                <a:latin typeface="Segoe UI"/>
              </a:rPr>
              <a:t>anastasia_device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337560"/>
            <a:ext cx="2194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Segoe UI"/>
              </a:rPr>
              <a:t>ivan_device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703320"/>
            <a:ext cx="21945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Segoe UI"/>
              </a:rPr>
              <a:t>server_prod_01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2011680"/>
            <a:ext cx="2743200" cy="393192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44444"/>
                </a:solidFill>
                <a:latin typeface="Segoe UI"/>
              </a:rPr>
              <a:t>Log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514600"/>
            <a:ext cx="265176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2514600"/>
            <a:ext cx="45720" cy="3200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63240" y="2514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Segoe UI"/>
              </a:rPr>
              <a:t>log_17_03_2026T14_30_45.txt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71800" y="2880360"/>
            <a:ext cx="2651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Segoe UI"/>
              </a:rPr>
              <a:t>log_16_03_2026T09_15_22.txt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3246120"/>
            <a:ext cx="26517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40" y="3246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Segoe UI"/>
              </a:rPr>
              <a:t>log_15_03_2026T20_45_01.txt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2011680"/>
            <a:ext cx="5943600" cy="3931920"/>
          </a:xfrm>
          <a:prstGeom prst="roundRect">
            <a:avLst>
              <a:gd name="adj" fmla="val 1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2057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  <a:latin typeface="Segoe UI"/>
              </a:rPr>
              <a:t>Log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5146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C1FF"/>
                </a:solidFill>
                <a:latin typeface="Consolas"/>
              </a:rPr>
              <a:t>[14:30:45.123] INFO Application started successfully.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286207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58585"/>
                </a:solidFill>
                <a:latin typeface="Consolas"/>
              </a:rPr>
              <a:t>[14:30:45.135] DEBUG Initializing internal modules...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320954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A700"/>
                </a:solidFill>
                <a:latin typeface="Consolas"/>
              </a:rPr>
              <a:t>[14:30:45.150] WARNING Config file not found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3557016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48771"/>
                </a:solidFill>
                <a:latin typeface="Consolas"/>
              </a:rPr>
              <a:t>[14:30:45.170] ERROR Failed to connect to secondary DB!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390448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C1FF"/>
                </a:solidFill>
                <a:latin typeface="Consolas"/>
              </a:rPr>
              <a:t>[14:30:46.001] INFO User logged in from 192.168.1.42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42519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FC1FF"/>
                </a:solidFill>
                <a:latin typeface="Consolas"/>
              </a:rPr>
              <a:t>[14:30:46.050] INFO Processing batch #1247...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45994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58585"/>
                </a:solidFill>
                <a:latin typeface="Consolas"/>
              </a:rPr>
              <a:t>[14:30:46.200] DEBUG Memory usage: 142MB / 512MB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946904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A700"/>
                </a:solidFill>
                <a:latin typeface="Consolas"/>
              </a:rPr>
              <a:t>[14:30:47.010] WARNING Slow query detected (450ms)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Segoe UI"/>
              </a:rPr>
              <a:t>Поиск устройств  ·  Фильтр по платформе  ·  Auto-scroll  ·  Скачивание логов  ·  Подсветка уровней  ·  Анимация новых записей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Фронтенд: app.js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EventSource и обработка SSE-событий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858000" cy="484632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// Единое SSE-соединение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function connectToStream()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let url = '/api/stream';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const params = new URLSearchParams();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if (currentDevice) params.set('device', currentDevice);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if (currentStream) params.set('log_name', currentStream);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if (params.toString()) url += '?' + params;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eventSource = new EventSource(url);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Обработка устройств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eventSource.addEventListener('devices_init', (e)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allDevicesData = JSON.parse(e.data);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renderPlatformFilters(platforms);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filterAndRenderDevices();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Обработка списка лог-файлов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eventSource.addEventListener('log_names_init', (e)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const names = JSON.parse(e.data);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renderList(streamsList, names.sort().reverse());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Начальная загрузка логов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eventSource.addEventListener('logs_init', (e)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logsContainer.innerHTML = '';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JSON.parse(e.data).forEach(log =&gt;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logsContainer.appendChild(createLogElement(log)));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6A9955"/>
                </a:solidFill>
                <a:latin typeface="Consolas"/>
              </a:rPr>
              <a:t>    // Новые логи в реальном времени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eventSource.addEventListener('logs_new', (e) =&gt;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JSON.parse(e.data).forEach(log =&gt;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logsContainer.appendChild(createLogElement(log, true)));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if (autoscrollCb.checked) scrollToBottom();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508760"/>
            <a:ext cx="4023360" cy="1051560"/>
          </a:xfrm>
          <a:prstGeom prst="roundRect">
            <a:avLst>
              <a:gd name="adj" fmla="val 3000"/>
            </a:avLst>
          </a:prstGeom>
          <a:solidFill>
            <a:srgbClr val="EBF5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1A73E8"/>
                </a:solidFill>
                <a:latin typeface="Segoe UI"/>
              </a:rPr>
              <a:t>EventSource API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Встроенный браузерный API
Автопереподключение при обрыве
Поддержка Last-Event-Id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697480"/>
            <a:ext cx="4023360" cy="105156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009B8D"/>
                </a:solidFill>
                <a:latin typeface="Segoe UI"/>
              </a:rPr>
              <a:t>Фильтрация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Поиск устройств по имени
Чекбоксы фильтрации по платформе
Динамическое обновление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886200"/>
            <a:ext cx="4023360" cy="105156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E8710A"/>
                </a:solidFill>
                <a:latin typeface="Segoe UI"/>
              </a:rPr>
              <a:t>Визуализация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Цветовая подсветка уровней логов
Анимация новых записей (CSS)
Auto-scroll к последним записям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5074920"/>
            <a:ext cx="4023360" cy="10515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00" b="1">
                <a:solidFill>
                  <a:srgbClr val="DC362E"/>
                </a:solidFill>
                <a:latin typeface="Segoe UI"/>
              </a:rPr>
              <a:t>XSS-защита</a:t>
            </a:r>
          </a:p>
          <a:p>
            <a:pPr algn="l">
              <a:spcBef>
                <a:spcPts val="400"/>
              </a:spcBef>
            </a:pPr>
            <a:r>
              <a:rPr sz="1100" b="0">
                <a:solidFill>
                  <a:srgbClr val="4B5563"/>
                </a:solidFill>
                <a:latin typeface="Segoe UI"/>
              </a:rPr>
              <a:t>escapeHtml() для пользовательского
ввода — безопасное отображение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Скачивание логов и переподключение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Chunked transfer + Last-Event-Id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03520" cy="219456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/>
            <a:r>
              <a:rPr sz="1600" b="1">
                <a:solidFill>
                  <a:srgbClr val="E8710A"/>
                </a:solidFill>
                <a:latin typeface="Segoe UI"/>
              </a:rPr>
              <a:t>GET /api/logs/download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Chunked Transfer-Encoding для потоковой отдачи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XRANGE пакетами по 5000 записей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Content-Disposition: attachment для скачивания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Не держит все данные в памяти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2194560"/>
          </a:xfrm>
          <a:prstGeom prst="roundRect">
            <a:avLst>
              <a:gd name="adj" fmla="val 3000"/>
            </a:avLst>
          </a:prstGeom>
          <a:solidFill>
            <a:srgbClr val="F3EEFC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/>
            <a:r>
              <a:rPr sz="1600" b="1">
                <a:solidFill>
                  <a:srgbClr val="7B4FBF"/>
                </a:solidFill>
                <a:latin typeface="Segoe UI"/>
              </a:rPr>
              <a:t>SSE Reconnect: Last-Event-Id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При обрыве — EventSource автоматически переподключается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Передаёт заголовок Last-Event-Id (Redis stream ID)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Сервер продолжает с этого ID через XREAD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B5563"/>
                </a:solidFill>
                <a:latin typeface="Segoe UI"/>
              </a:rPr>
              <a:t>  Клиент не теряет ни одного сообщения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23360"/>
            <a:ext cx="5486400" cy="265176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class logs_download_provider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bool operator()(size_t offset, httplib::DataSink&amp; sink)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constexpr size_t batch_size = 5000;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std::vector&lt;stream_item&gt; stream_data;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redis_client_-&gt;xrange(stream_key_,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CE9178"/>
                </a:solidFill>
                <a:latin typeface="Consolas"/>
              </a:rPr>
              <a:t>            start_id, "+", batch_size,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std::back_inserter(stream_data));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if (stream_data.empty())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    sink.done();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return false;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std::string chunk;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for (const auto&amp; [id, fields] : stream_data)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for (const auto&amp; [key, value] : fields)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        if (key == "message") chunk += value;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    sink.write(chunk.c_str(), chunk.size());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7DCFFF"/>
                </a:solidFill>
                <a:latin typeface="Consolas"/>
              </a:rPr>
              <a:t>        return stream_data.size() &gt;= batch_size;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D4D4D4"/>
                </a:solidFill>
                <a:latin typeface="Consolas"/>
              </a:rPr>
              <a:t>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11480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114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Segoe UI"/>
              </a:rPr>
              <a:t>EventSource подключается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177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617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Segoe UI"/>
              </a:rPr>
              <a:t>Отправляет id: 1679064645123-0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1206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DC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Обрыв!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1206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Segoe UI"/>
              </a:rPr>
              <a:t>Соединение разорвано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6235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Browser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623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Segoe UI"/>
              </a:rPr>
              <a:t>Reconnect + Last-Event-Id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612648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6126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Segoe UI"/>
              </a:rPr>
              <a:t>XREAD с 1679064645123-0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Ключевые проектные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Архитектурные выборы и их обоснования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EBF5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1A73E8"/>
                </a:solidFill>
                <a:latin typeface="Segoe UI"/>
              </a:rPr>
              <a:t>Redis Streams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Упорядоченный лог с автогенерацией ID.
Встроенная поддержка XRANGE/XREAD.
Лучше подходит, чем LIST или PUBSUB.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5448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009B8D"/>
                </a:solidFill>
                <a:latin typeface="Segoe UI"/>
              </a:rPr>
              <a:t>Connection Pool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redis::ConnectionPoolOptions — до 128
соединений. Каждый SSE-поток может
читать Redis без блокировки других.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E8710A"/>
                </a:solidFill>
                <a:latin typeface="Segoe UI"/>
              </a:rPr>
              <a:t>Blocking XREAD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XREAD с таймаутом заменяет
busy-polling. Минимальная нагрузка
на CPU при ожидании новых записей.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02336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3EEFC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7B4FBF"/>
                </a:solidFill>
                <a:latin typeface="Segoe UI"/>
              </a:rPr>
              <a:t>condition_variable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Когда лог не выбран — поток спит
на CV вместо опроса Redis.
Мгновенное пробуждение при изменении.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02336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DC362E"/>
                </a:solidFill>
                <a:latin typeface="Segoe UI"/>
              </a:rPr>
              <a:t>Пакетная загрузка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XRANGE по 1000 записей за раз.
Не загружает весь стрим в память.
SSE отправляет пакеты по мере чтения.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02336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EBF5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1A73E8"/>
                </a:solidFill>
                <a:latin typeface="Segoe UI"/>
              </a:rPr>
              <a:t>TTL 72 часа</a:t>
            </a:r>
          </a:p>
          <a:p>
            <a:pPr algn="l">
              <a:spcBef>
                <a:spcPts val="10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Все ключи автоматически удаляются.
Не нужен фоновый сборщик мусора.
Redis управляет памятью сам.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37"/>
                </a:solidFill>
                <a:latin typeface="Segoe UI"/>
              </a:rPr>
              <a:t>Стек технологий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27432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Segoe UI"/>
              </a:rPr>
              <a:t>Библиотеки и стандарты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822960" cy="320040"/>
          </a:xfrm>
          <a:prstGeom prst="roundRect">
            <a:avLst>
              <a:gd name="adj" fmla="val 15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Язык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3566160" cy="1783080"/>
          </a:xfrm>
          <a:prstGeom prst="roundRect">
            <a:avLst>
              <a:gd name="adj" fmla="val 3000"/>
            </a:avLst>
          </a:prstGeom>
          <a:solidFill>
            <a:srgbClr val="EBF5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1A73E8"/>
                </a:solidFill>
                <a:latin typeface="Segoe UI"/>
              </a:rPr>
              <a:t>C++23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std::format, std::println, std::ranges,
std::jthread, std::stop_token,
std::chrono, ranges::to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822960" cy="320040"/>
          </a:xfrm>
          <a:prstGeom prst="roundRect">
            <a:avLst>
              <a:gd name="adj" fmla="val 15000"/>
            </a:avLst>
          </a:prstGeom>
          <a:solidFill>
            <a:srgbClr val="DC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Redis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65960"/>
            <a:ext cx="3566160" cy="178308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DC362E"/>
                </a:solidFill>
                <a:latin typeface="Segoe UI"/>
              </a:rPr>
              <a:t>redis-plus-plus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Клиент Redis для C++.
Поддержка Streams, Pub/Sub,
Connection Pool, pipeline.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822960" cy="320040"/>
          </a:xfrm>
          <a:prstGeom prst="roundRect">
            <a:avLst>
              <a:gd name="adj" fmla="val 15000"/>
            </a:avLst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HTTP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965960"/>
            <a:ext cx="3566160" cy="1783080"/>
          </a:xfrm>
          <a:prstGeom prst="roundRect">
            <a:avLst>
              <a:gd name="adj" fmla="val 3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E8710A"/>
                </a:solidFill>
                <a:latin typeface="Segoe UI"/>
              </a:rPr>
              <a:t>cpp-httplib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Header-only HTTP/HTTPS сервер.
Content provider для SSE.
Chunked transfer encoding.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822960" cy="320040"/>
          </a:xfrm>
          <a:prstGeom prst="roundRect">
            <a:avLst>
              <a:gd name="adj" fmla="val 15000"/>
            </a:avLst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434840"/>
            <a:ext cx="3566160" cy="1783080"/>
          </a:xfrm>
          <a:prstGeom prst="roundRect">
            <a:avLst>
              <a:gd name="adj" fmla="val 3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009B8D"/>
                </a:solidFill>
                <a:latin typeface="Segoe UI"/>
              </a:rPr>
              <a:t>nlohmann/json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JSON serialization/deserialization.
Используется для API ответов
и конфигурации.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4023360"/>
            <a:ext cx="822960" cy="320040"/>
          </a:xfrm>
          <a:prstGeom prst="roundRect">
            <a:avLst>
              <a:gd name="adj" fmla="val 15000"/>
            </a:avLst>
          </a:prstGeom>
          <a:solidFill>
            <a:srgbClr val="7B4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SSE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434840"/>
            <a:ext cx="3566160" cy="1783080"/>
          </a:xfrm>
          <a:prstGeom prst="roundRect">
            <a:avLst>
              <a:gd name="adj" fmla="val 3000"/>
            </a:avLst>
          </a:prstGeom>
          <a:solidFill>
            <a:srgbClr val="F3EEFC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7B4FBF"/>
                </a:solidFill>
                <a:latin typeface="Segoe UI"/>
              </a:rPr>
              <a:t>EventSource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Браузерный API для SSE.
Автоматическое переподключение.
Поддержка Last-Event-Id.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023360"/>
            <a:ext cx="822960" cy="320040"/>
          </a:xfrm>
          <a:prstGeom prst="roundRect">
            <a:avLst>
              <a:gd name="adj" fmla="val 15000"/>
            </a:avLst>
          </a:prstGeom>
          <a:solidFill>
            <a:srgbClr val="B48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434840"/>
            <a:ext cx="3566160" cy="1783080"/>
          </a:xfrm>
          <a:prstGeom prst="roundRect">
            <a:avLst>
              <a:gd name="adj" fmla="val 3000"/>
            </a:avLst>
          </a:prstGeom>
          <a:solidFill>
            <a:srgbClr val="FEF9E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37160"/>
          <a:lstStyle/>
          <a:p>
            <a:pPr algn="ctr"/>
            <a:r>
              <a:rPr sz="1500" b="1">
                <a:solidFill>
                  <a:srgbClr val="B48B20"/>
                </a:solidFill>
                <a:latin typeface="Segoe UI"/>
              </a:rPr>
              <a:t>HTML / CSS / JS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Без фреймворков — vanilla JS.
CSS custom properties, flexbox.
Адаптивный тёмный лог-просмотрщик.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9202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Segoe UI"/>
              </a:rPr>
              <a:t>Итоги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80160"/>
            <a:ext cx="2286000" cy="36576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651760" cy="3200400"/>
          </a:xfrm>
          <a:prstGeom prst="roundRect">
            <a:avLst>
              <a:gd name="adj" fmla="val 4000"/>
            </a:avLst>
          </a:prstGeom>
          <a:solidFill>
            <a:srgbClr val="EBF5FF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/>
            <a:r>
              <a:rPr sz="1800" b="1">
                <a:solidFill>
                  <a:srgbClr val="1A73E8"/>
                </a:solidFill>
                <a:latin typeface="Segoe UI"/>
              </a:rPr>
              <a:t>Клиент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Простой C++23 клиент, отправляющий
логи через XADD в Redis Streams.
Регистрация устройства + интерактивный режим.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265176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2286000"/>
            <a:ext cx="2651760" cy="32004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/>
            <a:r>
              <a:rPr sz="1800" b="1">
                <a:solidFill>
                  <a:srgbClr val="DC362E"/>
                </a:solidFill>
                <a:latin typeface="Segoe UI"/>
              </a:rPr>
              <a:t>Redis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Центральное хранилище:
HASH + SET + STREAM.
Keyspace Notifications + TTL.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286000"/>
            <a:ext cx="2651760" cy="54864"/>
          </a:xfrm>
          <a:prstGeom prst="rect">
            <a:avLst/>
          </a:prstGeom>
          <a:solidFill>
            <a:srgbClr val="DC3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59" y="2286000"/>
            <a:ext cx="2651760" cy="3200400"/>
          </a:xfrm>
          <a:prstGeom prst="roundRect">
            <a:avLst>
              <a:gd name="adj" fmla="val 4000"/>
            </a:avLst>
          </a:prstGeom>
          <a:solidFill>
            <a:srgbClr val="FFF4E6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/>
            <a:r>
              <a:rPr sz="1800" b="1">
                <a:solidFill>
                  <a:srgbClr val="E8710A"/>
                </a:solidFill>
                <a:latin typeface="Segoe UI"/>
              </a:rPr>
              <a:t>Сервер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HTTP-сервер с SSE-стримингом.
notification_center + connection pool.
Пакетная загрузка + блокирующий XREAD.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2286000"/>
            <a:ext cx="2651760" cy="54864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89719" y="2286000"/>
            <a:ext cx="2651760" cy="3200400"/>
          </a:xfrm>
          <a:prstGeom prst="roundRect">
            <a:avLst>
              <a:gd name="adj" fmla="val 4000"/>
            </a:avLst>
          </a:prstGeom>
          <a:solidFill>
            <a:srgbClr val="E6FAF5"/>
          </a:solidFill>
          <a:ln w="12700">
            <a:solidFill>
              <a:srgbClr val="E0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ctr"/>
            <a:r>
              <a:rPr sz="1800" b="1">
                <a:solidFill>
                  <a:srgbClr val="009B8D"/>
                </a:solidFill>
                <a:latin typeface="Segoe UI"/>
              </a:rPr>
              <a:t>Фронтенд</a:t>
            </a:r>
          </a:p>
          <a:p>
            <a:pPr algn="l">
              <a:spcBef>
                <a:spcPts val="1200"/>
              </a:spcBef>
            </a:pPr>
            <a:r>
              <a:rPr sz="1200" b="0">
                <a:solidFill>
                  <a:srgbClr val="4B5563"/>
                </a:solidFill>
                <a:latin typeface="Segoe UI"/>
              </a:rPr>
              <a:t>Vanilla JS + EventSource.
Три панели, фильтрация, поиск.
Цветовая подсветка + auto-scroll.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19" y="2286000"/>
            <a:ext cx="2651760" cy="54864"/>
          </a:xfrm>
          <a:prstGeom prst="rect">
            <a:avLst/>
          </a:prstGeom>
          <a:solidFill>
            <a:srgbClr val="009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Segoe UI"/>
              </a:rPr>
              <a:t>Полноценная система real-time логирования на C++23 без внешних веб-фреймворков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