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0689336" cy="15124176"/>
  <p:notesSz cx="6858000" cy="9144000"/>
  <p:sldIdLst>
    <p:sldId id="256" r:id="rId1"/>
  </p:sldIdLst>
  <p:defaultTextStyle>
    <a:defPPr>
      <a:defRPr lang="ru-RU">
        <a:latin typeface="JetBrains Mono"/>
        <a:ea typeface="JetBrains Mono"/>
        <a:cs typeface="JetBrains Mono"/>
      </a:defRPr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theme" Target="theme/them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</Relationships>
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48640" y="29260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2100" b="1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Как выбрать парадигму многопоточного программирования</a:t>
            </a:r>
            <a:endParaRPr lang="ru-RU" sz="2100" dirty="0"/>
          </a:p>
        </p:txBody>
      </p:sp>
      <p:sp>
        <p:nvSpPr>
          <p:cNvPr id="4" name="Text 4"/>
          <p:cNvSpPr txBox="1"/>
          <p:nvPr/>
        </p:nvSpPr>
        <p:spPr>
          <a:xfrm>
            <a:off x="777240" y="8229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 xml:space="preserve">Идем сверху вниз: тип приложения -&gt; форма работы -&gt; инструмент</a:t>
            </a:r>
            <a:endParaRPr lang="ru-RU" sz="1000" dirty="0"/>
          </a:p>
        </p:txBody>
      </p:sp>
      <p:sp>
        <p:nvSpPr>
          <p:cNvPr id="5" name="Shape 5"/>
          <p:cNvSpPr/>
          <p:nvPr/>
        </p:nvSpPr>
        <p:spPr>
          <a:xfrm>
            <a:off x="3794760" y="1417320"/>
            <a:ext cx="3108960" cy="960120"/>
          </a:xfrm>
          <a:prstGeom prst="diamond">
            <a:avLst/>
          </a:prstGeom>
          <a:solidFill>
            <a:srgbClr val="FFFFFF"/>
          </a:solidFill>
          <a:ln w="18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014216" y="1764792"/>
            <a:ext cx="2670048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300" b="1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Что пишем?</a:t>
            </a:r>
            <a:endParaRPr lang="ru-RU" sz="1300" dirty="0"/>
          </a:p>
        </p:txBody>
      </p:sp>
      <p:sp>
        <p:nvSpPr>
          <p:cNvPr id="7" name="Shape 7"/>
          <p:cNvSpPr/>
          <p:nvPr/>
        </p:nvSpPr>
        <p:spPr>
          <a:xfrm>
            <a:off x="594360" y="2743200"/>
            <a:ext cx="4069080" cy="1234440"/>
          </a:xfrm>
          <a:prstGeom prst="roundRect">
            <a:avLst/>
          </a:prstGeom>
          <a:solidFill>
            <a:srgbClr val="E0F2FE"/>
          </a:solidFill>
          <a:ln w="18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731520" y="2852928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500" b="1" dirty="0">
                <a:solidFill>
                  <a:srgbClr val="0369A1"/>
                </a:solidFill>
                <a:latin typeface="JetBrains Mono"/>
                <a:ea typeface="JetBrains Mono"/>
                <a:cs typeface="JetBrains Mono"/>
              </a:rPr>
              <a:t xml:space="preserve">Консольная утилита</a:t>
            </a:r>
            <a:endParaRPr lang="ru-RU" sz="1500" dirty="0"/>
          </a:p>
        </p:txBody>
      </p:sp>
      <p:sp>
        <p:nvSpPr>
          <p:cNvPr id="9" name="RichText 9"/>
          <p:cNvSpPr txBox="1"/>
          <p:nvPr/>
        </p:nvSpPr>
        <p:spPr>
          <a:xfrm>
            <a:off x="731520" y="3227832"/>
            <a:ext cx="3794760" cy="667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Можно грузить все ядра долгими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операциями. Пользователь в любой момент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остановит процесс через CTRL+C.</a:t>
            </a:r>
            <a:endParaRPr lang="ru-RU" sz="1200" dirty="0"/>
          </a:p>
        </p:txBody>
      </p:sp>
      <p:sp>
        <p:nvSpPr>
          <p:cNvPr id="10" name="Shape 10"/>
          <p:cNvSpPr/>
          <p:nvPr/>
        </p:nvSpPr>
        <p:spPr>
          <a:xfrm>
            <a:off x="5623560" y="2743200"/>
            <a:ext cx="4480560" cy="1234440"/>
          </a:xfrm>
          <a:prstGeom prst="roundRect">
            <a:avLst/>
          </a:prstGeom>
          <a:solidFill>
            <a:srgbClr val="FFE4E6"/>
          </a:solidFill>
          <a:ln w="18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760720" y="285292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500" b="1" dirty="0">
                <a:solidFill>
                  <a:srgbClr val="BE123C"/>
                </a:solidFill>
                <a:latin typeface="JetBrains Mono"/>
                <a:ea typeface="JetBrains Mono"/>
                <a:cs typeface="JetBrains Mono"/>
              </a:rPr>
              <a:t xml:space="preserve">Графическая программа / игра</a:t>
            </a:r>
            <a:endParaRPr lang="ru-RU" sz="1500" dirty="0"/>
          </a:p>
        </p:txBody>
      </p:sp>
      <p:sp>
        <p:nvSpPr>
          <p:cNvPr id="12" name="RichText 12"/>
          <p:cNvSpPr txBox="1"/>
          <p:nvPr/>
        </p:nvSpPr>
        <p:spPr>
          <a:xfrm>
            <a:off x="5760720" y="3227832"/>
            <a:ext cx="4206240" cy="667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Главный UI-поток не делает долгую работу.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60 Гц = 16 мс на кадр, следующий кадр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должен выходить всегда.</a:t>
            </a:r>
            <a:endParaRPr lang="ru-RU" sz="1200" dirty="0"/>
          </a:p>
        </p:txBody>
      </p:sp>
      <p:cxnSp>
        <p:nvCxnSpPr>
          <p:cNvPr id="13" name="Arrow 13"/>
          <p:cNvCxnSpPr/>
          <p:nvPr/>
        </p:nvCxnSpPr>
        <p:spPr>
          <a:xfrm flipH="1">
            <a:off x="2633472" y="2377440"/>
            <a:ext cx="2715768" cy="365760"/>
          </a:xfrm>
          <a:prstGeom prst="line">
            <a:avLst/>
          </a:prstGeom>
          <a:ln w="22000">
            <a:solidFill>
              <a:srgbClr val="38BDF8"/>
            </a:solidFill>
            <a:tailEnd type="triangle"/>
          </a:ln>
        </p:spPr>
      </p:cxnSp>
      <p:cxnSp>
        <p:nvCxnSpPr>
          <p:cNvPr id="14" name="Arrow 14"/>
          <p:cNvCxnSpPr/>
          <p:nvPr/>
        </p:nvCxnSpPr>
        <p:spPr>
          <a:xfrm>
            <a:off x="5349240" y="2377440"/>
            <a:ext cx="2514600" cy="365760"/>
          </a:xfrm>
          <a:prstGeom prst="line">
            <a:avLst/>
          </a:prstGeom>
          <a:ln w="22000">
            <a:solidFill>
              <a:srgbClr val="FB7185"/>
            </a:solidFill>
            <a:tailEnd type="triangle"/>
          </a:ln>
        </p:spPr>
      </p:cxnSp>
      <p:sp>
        <p:nvSpPr>
          <p:cNvPr id="15" name="Text 15"/>
          <p:cNvSpPr txBox="1"/>
          <p:nvPr/>
        </p:nvSpPr>
        <p:spPr>
          <a:xfrm>
            <a:off x="868680" y="4187952"/>
            <a:ext cx="3520440" cy="347472"/>
          </a:xfrm>
          <a:prstGeom prst="roundRect">
            <a:avLst/>
          </a:prstGeom>
          <a:solidFill>
            <a:srgbClr val="DBEAFE"/>
          </a:solidFill>
          <a:ln w="16000">
            <a:solidFill>
              <a:srgbClr val="38BDF8"/>
            </a:solidFill>
          </a:ln>
        </p:spPr>
        <p:txBody>
          <a:bodyPr wrap="square" lIns="65000" tIns="65000" rIns="65000" bIns="65000" anchor="mid"/>
          <a:lstStyle/>
          <a:p>
            <a:pPr algn="ctr"/>
            <a:r>
              <a:rPr lang="ru-RU" sz="1100" b="1" dirty="0">
                <a:solidFill>
                  <a:srgbClr val="0369A1"/>
                </a:solidFill>
                <a:latin typeface="JetBrains Mono"/>
                <a:ea typeface="JetBrains Mono"/>
                <a:cs typeface="JetBrains Mono"/>
              </a:rPr>
              <a:t xml:space="preserve">Парадигма: свободный parallel/batch</a:t>
            </a:r>
            <a:endParaRPr lang="ru-RU" sz="1100" dirty="0"/>
          </a:p>
        </p:txBody>
      </p:sp>
      <p:sp>
        <p:nvSpPr>
          <p:cNvPr id="16" name="Shape 16"/>
          <p:cNvSpPr/>
          <p:nvPr/>
        </p:nvSpPr>
        <p:spPr>
          <a:xfrm>
            <a:off x="3657600" y="4572000"/>
            <a:ext cx="3429000" cy="960120"/>
          </a:xfrm>
          <a:prstGeom prst="diamond">
            <a:avLst/>
          </a:prstGeom>
          <a:solidFill>
            <a:srgbClr val="FFFFFF"/>
          </a:solidFill>
          <a:ln w="18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3877056" y="4919472"/>
            <a:ext cx="2990088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300" b="1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Если UI/игра: какая</a:t>
            </a:r>
            <a:endParaRPr lang="ru-RU" sz="1300" dirty="0"/>
          </a:p>
          <a:p>
            <a:pPr algn="ctr"/>
            <a:r>
              <a:rPr lang="ru-RU" sz="1300" b="1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форма работы?</a:t>
            </a:r>
            <a:endParaRPr lang="ru-RU" sz="1300" dirty="0"/>
          </a:p>
        </p:txBody>
      </p:sp>
      <p:cxnSp>
        <p:nvCxnSpPr>
          <p:cNvPr id="18" name="Arrow 18"/>
          <p:cNvCxnSpPr/>
          <p:nvPr/>
        </p:nvCxnSpPr>
        <p:spPr>
          <a:xfrm flipH="1">
            <a:off x="5376672" y="3977639"/>
            <a:ext cx="2487168" cy="594361"/>
          </a:xfrm>
          <a:prstGeom prst="line">
            <a:avLst/>
          </a:prstGeom>
          <a:ln w="22000">
            <a:solidFill>
              <a:srgbClr val="FB7185"/>
            </a:solidFill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 flipH="1">
            <a:off x="1508760" y="5532120"/>
            <a:ext cx="3867912" cy="704088"/>
          </a:xfrm>
          <a:prstGeom prst="line">
            <a:avLst/>
          </a:prstGeom>
          <a:ln w="22000">
            <a:solidFill>
              <a:srgbClr val="38BDF8"/>
            </a:solidFill>
            <a:tailEnd type="triangle"/>
          </a:ln>
        </p:spPr>
      </p:cxnSp>
      <p:sp>
        <p:nvSpPr>
          <p:cNvPr id="20" name="Text 20"/>
          <p:cNvSpPr txBox="1"/>
          <p:nvPr/>
        </p:nvSpPr>
        <p:spPr>
          <a:xfrm>
            <a:off x="411480" y="585216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b="1" dirty="0">
                <a:solidFill>
                  <a:srgbClr val="0369A1"/>
                </a:solidFill>
                <a:latin typeface="JetBrains Mono"/>
                <a:ea typeface="JetBrains Mono"/>
                <a:cs typeface="JetBrains Mono"/>
              </a:rPr>
              <a:t xml:space="preserve">Поток данных</a:t>
            </a:r>
            <a:endParaRPr lang="ru-RU" sz="900" dirty="0"/>
          </a:p>
        </p:txBody>
      </p:sp>
      <p:sp>
        <p:nvSpPr>
          <p:cNvPr id="21" name="Shape 21"/>
          <p:cNvSpPr/>
          <p:nvPr/>
        </p:nvSpPr>
        <p:spPr>
          <a:xfrm>
            <a:off x="411480" y="6236208"/>
            <a:ext cx="2194560" cy="1417320"/>
          </a:xfrm>
          <a:prstGeom prst="roundRect">
            <a:avLst/>
          </a:prstGeom>
          <a:solidFill>
            <a:srgbClr val="E0F2FE"/>
          </a:solidFill>
          <a:ln w="18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48640" y="634593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0369A1"/>
                </a:solidFill>
                <a:latin typeface="JetBrains Mono"/>
                <a:ea typeface="JetBrains Mono"/>
                <a:cs typeface="JetBrains Mono"/>
              </a:rPr>
              <a:t xml:space="preserve">Продюсер-Консьюмер</a:t>
            </a:r>
            <a:endParaRPr lang="ru-RU" sz="1200" dirty="0"/>
          </a:p>
        </p:txBody>
      </p:sp>
      <p:sp>
        <p:nvSpPr>
          <p:cNvPr id="23" name="RichText 23"/>
          <p:cNvSpPr txBox="1"/>
          <p:nvPr/>
        </p:nvSpPr>
        <p:spPr>
          <a:xfrm>
            <a:off x="548640" y="6720840"/>
            <a:ext cx="1920240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Один поток производит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данные, другой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потребляет: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streaming, загрузка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чанков, очередь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событий.</a:t>
            </a:r>
            <a:endParaRPr lang="ru-RU" sz="1000" dirty="0"/>
          </a:p>
        </p:txBody>
      </p:sp>
      <p:cxnSp>
        <p:nvCxnSpPr>
          <p:cNvPr id="24" name="Arrow 24"/>
          <p:cNvCxnSpPr/>
          <p:nvPr/>
        </p:nvCxnSpPr>
        <p:spPr>
          <a:xfrm flipH="1">
            <a:off x="4069080" y="5532120"/>
            <a:ext cx="1307592" cy="704088"/>
          </a:xfrm>
          <a:prstGeom prst="line">
            <a:avLst/>
          </a:prstGeom>
          <a:ln w="22000">
            <a:solidFill>
              <a:srgbClr val="34D399"/>
            </a:solidFill>
            <a:tailEnd type="triangle"/>
          </a:ln>
        </p:spPr>
      </p:cxnSp>
      <p:sp>
        <p:nvSpPr>
          <p:cNvPr id="25" name="Text 25"/>
          <p:cNvSpPr txBox="1"/>
          <p:nvPr/>
        </p:nvSpPr>
        <p:spPr>
          <a:xfrm>
            <a:off x="2971800" y="585216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b="1" dirty="0">
                <a:solidFill>
                  <a:srgbClr val="15803D"/>
                </a:solidFill>
                <a:latin typeface="JetBrains Mono"/>
                <a:ea typeface="JetBrains Mono"/>
                <a:cs typeface="JetBrains Mono"/>
              </a:rPr>
              <a:t xml:space="preserve">Разделяемое состояние</a:t>
            </a:r>
            <a:endParaRPr lang="ru-RU" sz="900" dirty="0"/>
          </a:p>
        </p:txBody>
      </p:sp>
      <p:sp>
        <p:nvSpPr>
          <p:cNvPr id="26" name="Shape 26"/>
          <p:cNvSpPr/>
          <p:nvPr/>
        </p:nvSpPr>
        <p:spPr>
          <a:xfrm>
            <a:off x="2971800" y="6236208"/>
            <a:ext cx="2194560" cy="1417320"/>
          </a:xfrm>
          <a:prstGeom prst="roundRect">
            <a:avLst/>
          </a:prstGeom>
          <a:solidFill>
            <a:srgbClr val="DCFCE7"/>
          </a:solidFill>
          <a:ln w="18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3108960" y="634593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15803D"/>
                </a:solidFill>
                <a:latin typeface="JetBrains Mono"/>
                <a:ea typeface="JetBrains Mono"/>
                <a:cs typeface="JetBrains Mono"/>
              </a:rPr>
              <a:t xml:space="preserve">Много читателей, один писатель</a:t>
            </a:r>
            <a:endParaRPr lang="ru-RU" sz="1200" dirty="0"/>
          </a:p>
        </p:txBody>
      </p:sp>
      <p:sp>
        <p:nvSpPr>
          <p:cNvPr id="28" name="RichText 28"/>
          <p:cNvSpPr txBox="1"/>
          <p:nvPr/>
        </p:nvSpPr>
        <p:spPr>
          <a:xfrm>
            <a:off x="3108960" y="6720840"/>
            <a:ext cx="1920240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Данные часто читаются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и редко меняются: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конфиги, таблицы, кэш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метаданных.</a:t>
            </a:r>
            <a:endParaRPr lang="ru-RU" sz="1000" dirty="0"/>
          </a:p>
        </p:txBody>
      </p:sp>
      <p:cxnSp>
        <p:nvCxnSpPr>
          <p:cNvPr id="29" name="Arrow 29"/>
          <p:cNvCxnSpPr/>
          <p:nvPr/>
        </p:nvCxnSpPr>
        <p:spPr>
          <a:xfrm>
            <a:off x="5376672" y="5532120"/>
            <a:ext cx="1252728" cy="704088"/>
          </a:xfrm>
          <a:prstGeom prst="line">
            <a:avLst/>
          </a:prstGeom>
          <a:ln w="22000">
            <a:solidFill>
              <a:srgbClr val="FBBF24"/>
            </a:solidFill>
            <a:tail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5532120" y="585216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b="1" dirty="0">
                <a:solidFill>
                  <a:srgbClr val="B45309"/>
                </a:solidFill>
                <a:latin typeface="JetBrains Mono"/>
                <a:ea typeface="JetBrains Mono"/>
                <a:cs typeface="JetBrains Mono"/>
              </a:rPr>
              <a:t xml:space="preserve">Одна большая задача</a:t>
            </a:r>
            <a:endParaRPr lang="ru-RU" sz="900" dirty="0"/>
          </a:p>
        </p:txBody>
      </p:sp>
      <p:sp>
        <p:nvSpPr>
          <p:cNvPr id="31" name="Shape 31"/>
          <p:cNvSpPr/>
          <p:nvPr/>
        </p:nvSpPr>
        <p:spPr>
          <a:xfrm>
            <a:off x="5532120" y="6236208"/>
            <a:ext cx="2194560" cy="1417320"/>
          </a:xfrm>
          <a:prstGeom prst="roundRect">
            <a:avLst/>
          </a:prstGeom>
          <a:solidFill>
            <a:srgbClr val="FEF3C7"/>
          </a:solidFill>
          <a:ln w="18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5669280" y="634593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B45309"/>
                </a:solidFill>
                <a:latin typeface="JetBrains Mono"/>
                <a:ea typeface="JetBrains Mono"/>
                <a:cs typeface="JetBrains Mono"/>
              </a:rPr>
              <a:t xml:space="preserve">Долгая и отменяемая</a:t>
            </a:r>
            <a:endParaRPr lang="ru-RU" sz="1200" dirty="0"/>
          </a:p>
        </p:txBody>
      </p:sp>
      <p:sp>
        <p:nvSpPr>
          <p:cNvPr id="33" name="RichText 33"/>
          <p:cNvSpPr txBox="1"/>
          <p:nvPr/>
        </p:nvSpPr>
        <p:spPr>
          <a:xfrm>
            <a:off x="5669280" y="6720840"/>
            <a:ext cx="1920240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Загрузка уровня,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импорт, расчет,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который может быть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отменен или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завершиться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исключением.</a:t>
            </a:r>
            <a:endParaRPr lang="ru-RU" sz="1000" dirty="0"/>
          </a:p>
        </p:txBody>
      </p:sp>
      <p:cxnSp>
        <p:nvCxnSpPr>
          <p:cNvPr id="34" name="Arrow 34"/>
          <p:cNvCxnSpPr/>
          <p:nvPr/>
        </p:nvCxnSpPr>
        <p:spPr>
          <a:xfrm>
            <a:off x="5376672" y="5532120"/>
            <a:ext cx="3813047" cy="704088"/>
          </a:xfrm>
          <a:prstGeom prst="line">
            <a:avLst/>
          </a:prstGeom>
          <a:ln w="22000">
            <a:solidFill>
              <a:srgbClr val="A78BFA"/>
            </a:solidFill>
            <a:tailEnd type="triangle"/>
          </a:ln>
        </p:spPr>
      </p:cxnSp>
      <p:sp>
        <p:nvSpPr>
          <p:cNvPr id="35" name="Text 35"/>
          <p:cNvSpPr txBox="1"/>
          <p:nvPr/>
        </p:nvSpPr>
        <p:spPr>
          <a:xfrm>
            <a:off x="8092440" y="585216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b="1" dirty="0">
                <a:solidFill>
                  <a:srgbClr val="7E22CE"/>
                </a:solidFill>
                <a:latin typeface="JetBrains Mono"/>
                <a:ea typeface="JetBrains Mono"/>
                <a:cs typeface="JetBrains Mono"/>
              </a:rPr>
              <a:t xml:space="preserve">Много задач</a:t>
            </a:r>
            <a:endParaRPr lang="ru-RU" sz="900" dirty="0"/>
          </a:p>
        </p:txBody>
      </p:sp>
      <p:sp>
        <p:nvSpPr>
          <p:cNvPr id="36" name="Shape 36"/>
          <p:cNvSpPr/>
          <p:nvPr/>
        </p:nvSpPr>
        <p:spPr>
          <a:xfrm>
            <a:off x="8092440" y="6236208"/>
            <a:ext cx="2194560" cy="1417320"/>
          </a:xfrm>
          <a:prstGeom prst="roundRect">
            <a:avLst/>
          </a:prstGeom>
          <a:solidFill>
            <a:srgbClr val="F3E8FF"/>
          </a:solidFill>
          <a:ln w="18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229600" y="634593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7E22CE"/>
                </a:solidFill>
                <a:latin typeface="JetBrains Mono"/>
                <a:ea typeface="JetBrains Mono"/>
                <a:cs typeface="JetBrains Mono"/>
              </a:rPr>
              <a:t xml:space="preserve">Pool или граф задач</a:t>
            </a:r>
            <a:endParaRPr lang="ru-RU" sz="1200" dirty="0"/>
          </a:p>
        </p:txBody>
      </p:sp>
      <p:sp>
        <p:nvSpPr>
          <p:cNvPr id="38" name="RichText 38"/>
          <p:cNvSpPr txBox="1"/>
          <p:nvPr/>
        </p:nvSpPr>
        <p:spPr>
          <a:xfrm>
            <a:off x="8229600" y="6720840"/>
            <a:ext cx="1920240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Много коротких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независимых задач или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сложный граф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зависимостей между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задачами.</a:t>
            </a:r>
            <a:endParaRPr lang="ru-RU" sz="1000" dirty="0"/>
          </a:p>
        </p:txBody>
      </p:sp>
      <p:sp>
        <p:nvSpPr>
          <p:cNvPr id="39" name="Shape 39"/>
          <p:cNvSpPr/>
          <p:nvPr/>
        </p:nvSpPr>
        <p:spPr>
          <a:xfrm>
            <a:off x="411480" y="8092440"/>
            <a:ext cx="2194560" cy="15087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548640" y="8202167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0369A1"/>
                </a:solidFill>
                <a:latin typeface="JetBrains Mono"/>
                <a:ea typeface="JetBrains Mono"/>
                <a:cs typeface="JetBrains Mono"/>
              </a:rPr>
              <a:t xml:space="preserve">2 потока</a:t>
            </a:r>
            <a:endParaRPr lang="ru-RU" sz="1200" dirty="0"/>
          </a:p>
        </p:txBody>
      </p:sp>
      <p:sp>
        <p:nvSpPr>
          <p:cNvPr id="41" name="RichText 41"/>
          <p:cNvSpPr txBox="1"/>
          <p:nvPr/>
        </p:nvSpPr>
        <p:spPr>
          <a:xfrm>
            <a:off x="548640" y="8577072"/>
            <a:ext cx="1920240" cy="941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Достаточно одной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очереди, одного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std::mutex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и одного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std::condition_variable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.</a:t>
            </a:r>
            <a:endParaRPr lang="ru-RU" sz="1000" dirty="0"/>
          </a:p>
        </p:txBody>
      </p:sp>
      <p:sp>
        <p:nvSpPr>
          <p:cNvPr id="42" name="Shape 42"/>
          <p:cNvSpPr/>
          <p:nvPr/>
        </p:nvSpPr>
        <p:spPr>
          <a:xfrm>
            <a:off x="2971800" y="8092440"/>
            <a:ext cx="2194560" cy="15087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3108960" y="8202167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15803D"/>
                </a:solidFill>
                <a:latin typeface="JetBrains Mono"/>
                <a:ea typeface="JetBrains Mono"/>
                <a:cs typeface="JetBrains Mono"/>
              </a:rPr>
              <a:t xml:space="preserve">Readers / writer</a:t>
            </a:r>
            <a:endParaRPr lang="ru-RU" sz="1200" dirty="0"/>
          </a:p>
        </p:txBody>
      </p:sp>
      <p:sp>
        <p:nvSpPr>
          <p:cNvPr id="44" name="RichText 44"/>
          <p:cNvSpPr txBox="1"/>
          <p:nvPr/>
        </p:nvSpPr>
        <p:spPr>
          <a:xfrm>
            <a:off x="3108960" y="8577072"/>
            <a:ext cx="1920240" cy="941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Используем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std::shared_mutex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: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std::shared_lock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для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чтения,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std::unique_lock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для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записи.</a:t>
            </a:r>
            <a:endParaRPr lang="ru-RU" sz="1000" dirty="0"/>
          </a:p>
        </p:txBody>
      </p:sp>
      <p:sp>
        <p:nvSpPr>
          <p:cNvPr id="45" name="Shape 45"/>
          <p:cNvSpPr/>
          <p:nvPr/>
        </p:nvSpPr>
        <p:spPr>
          <a:xfrm>
            <a:off x="5532120" y="8092440"/>
            <a:ext cx="2194560" cy="15087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5669280" y="8202167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B45309"/>
                </a:solidFill>
                <a:latin typeface="JetBrains Mono"/>
                <a:ea typeface="JetBrains Mono"/>
                <a:cs typeface="JetBrains Mono"/>
              </a:rPr>
              <a:t xml:space="preserve">Cancellable task</a:t>
            </a:r>
            <a:endParaRPr lang="ru-RU" sz="1200" dirty="0"/>
          </a:p>
        </p:txBody>
      </p:sp>
      <p:sp>
        <p:nvSpPr>
          <p:cNvPr id="47" name="RichText 47"/>
          <p:cNvSpPr txBox="1"/>
          <p:nvPr/>
        </p:nvSpPr>
        <p:spPr>
          <a:xfrm>
            <a:off x="5669280" y="8577072"/>
            <a:ext cx="1920240" cy="941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std::jthread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+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std::stop_token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для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отмены.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std::packaged_task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+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std::future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для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результата.</a:t>
            </a:r>
            <a:endParaRPr lang="ru-RU" sz="1000" dirty="0"/>
          </a:p>
        </p:txBody>
      </p:sp>
      <p:sp>
        <p:nvSpPr>
          <p:cNvPr id="48" name="Shape 48"/>
          <p:cNvSpPr/>
          <p:nvPr/>
        </p:nvSpPr>
        <p:spPr>
          <a:xfrm>
            <a:off x="8092440" y="8092440"/>
            <a:ext cx="2194560" cy="15087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8229600" y="8202167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7E22CE"/>
                </a:solidFill>
                <a:latin typeface="JetBrains Mono"/>
                <a:ea typeface="JetBrains Mono"/>
                <a:cs typeface="JetBrains Mono"/>
              </a:rPr>
              <a:t xml:space="preserve">Независимые jobs</a:t>
            </a:r>
            <a:endParaRPr lang="ru-RU" sz="1200" dirty="0"/>
          </a:p>
        </p:txBody>
      </p:sp>
      <p:sp>
        <p:nvSpPr>
          <p:cNvPr id="50" name="RichText 50"/>
          <p:cNvSpPr txBox="1"/>
          <p:nvPr/>
        </p:nvSpPr>
        <p:spPr>
          <a:xfrm>
            <a:off x="8229600" y="8577072"/>
            <a:ext cx="1920240" cy="941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b="1" dirty="0">
                <a:solidFill>
                  <a:srgbClr val="15803D"/>
                </a:solidFill>
                <a:latin typeface="JetBrains Mono"/>
                <a:ea typeface="JetBrains Mono"/>
                <a:cs typeface="JetBrains Mono"/>
              </a:rPr>
              <a:t xml:space="preserve">job_pool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. Задачи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короткие, CPU-bound,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B45309"/>
                </a:solidFill>
                <a:latin typeface="JetBrains Mono"/>
                <a:ea typeface="JetBrains Mono"/>
                <a:cs typeface="JetBrains Mono"/>
              </a:rPr>
              <a:t xml:space="preserve">без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</a:t>
            </a:r>
            <a:r>
              <a:rPr lang="ru-RU" sz="1000" b="1" dirty="0">
                <a:solidFill>
                  <a:srgbClr val="B45309"/>
                </a:solidFill>
                <a:latin typeface="JetBrains Mono"/>
                <a:ea typeface="JetBrains Mono"/>
                <a:cs typeface="JetBrains Mono"/>
              </a:rPr>
              <a:t xml:space="preserve">wait/sleep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внутри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worker job.</a:t>
            </a:r>
            <a:endParaRPr lang="ru-RU" sz="1000" dirty="0"/>
          </a:p>
        </p:txBody>
      </p:sp>
      <p:cxnSp>
        <p:nvCxnSpPr>
          <p:cNvPr id="51" name="Arrow 51"/>
          <p:cNvCxnSpPr/>
          <p:nvPr/>
        </p:nvCxnSpPr>
        <p:spPr>
          <a:xfrm>
            <a:off x="1508760" y="7653527"/>
            <a:ext cx="0" cy="438913"/>
          </a:xfrm>
          <a:prstGeom prst="line">
            <a:avLst/>
          </a:prstGeom>
          <a:ln w="22000">
            <a:solidFill>
              <a:srgbClr val="38BDF8"/>
            </a:solidFill>
            <a:tailEnd type="triangle"/>
          </a:ln>
        </p:spPr>
      </p:cxnSp>
      <p:cxnSp>
        <p:nvCxnSpPr>
          <p:cNvPr id="52" name="Arrow 52"/>
          <p:cNvCxnSpPr/>
          <p:nvPr/>
        </p:nvCxnSpPr>
        <p:spPr>
          <a:xfrm>
            <a:off x="4069080" y="7653527"/>
            <a:ext cx="0" cy="438913"/>
          </a:xfrm>
          <a:prstGeom prst="line">
            <a:avLst/>
          </a:prstGeom>
          <a:ln w="22000">
            <a:solidFill>
              <a:srgbClr val="34D399"/>
            </a:solidFill>
            <a:tailEnd type="triangle"/>
          </a:ln>
        </p:spPr>
      </p:cxnSp>
      <p:cxnSp>
        <p:nvCxnSpPr>
          <p:cNvPr id="53" name="Arrow 53"/>
          <p:cNvCxnSpPr/>
          <p:nvPr/>
        </p:nvCxnSpPr>
        <p:spPr>
          <a:xfrm>
            <a:off x="6629400" y="7653527"/>
            <a:ext cx="0" cy="438913"/>
          </a:xfrm>
          <a:prstGeom prst="line">
            <a:avLst/>
          </a:prstGeom>
          <a:ln w="22000">
            <a:solidFill>
              <a:srgbClr val="FBBF24"/>
            </a:solidFill>
            <a:tailEnd type="triangle"/>
          </a:ln>
        </p:spPr>
      </p:cxnSp>
      <p:cxnSp>
        <p:nvCxnSpPr>
          <p:cNvPr id="54" name="Arrow 54"/>
          <p:cNvCxnSpPr/>
          <p:nvPr/>
        </p:nvCxnSpPr>
        <p:spPr>
          <a:xfrm>
            <a:off x="9189720" y="7653527"/>
            <a:ext cx="0" cy="438913"/>
          </a:xfrm>
          <a:prstGeom prst="line">
            <a:avLst/>
          </a:prstGeom>
          <a:ln w="22000">
            <a:solidFill>
              <a:srgbClr val="A78BFA"/>
            </a:solidFill>
            <a:tailEnd type="triangle"/>
          </a:ln>
        </p:spPr>
      </p:cxnSp>
      <p:sp>
        <p:nvSpPr>
          <p:cNvPr id="55" name="Shape 55"/>
          <p:cNvSpPr/>
          <p:nvPr/>
        </p:nvSpPr>
        <p:spPr>
          <a:xfrm>
            <a:off x="5532120" y="9966960"/>
            <a:ext cx="2194560" cy="1508760"/>
          </a:xfrm>
          <a:prstGeom prst="roundRect">
            <a:avLst/>
          </a:prstGeom>
          <a:solidFill>
            <a:srgbClr val="FFF7ED"/>
          </a:solidFill>
          <a:ln w="18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5669280" y="100766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B45309"/>
                </a:solidFill>
                <a:latin typeface="JetBrains Mono"/>
                <a:ea typeface="JetBrains Mono"/>
                <a:cs typeface="JetBrains Mono"/>
              </a:rPr>
              <a:t xml:space="preserve">Ошибки</a:t>
            </a:r>
            <a:endParaRPr lang="ru-RU" sz="1200" dirty="0"/>
          </a:p>
        </p:txBody>
      </p:sp>
      <p:sp>
        <p:nvSpPr>
          <p:cNvPr id="57" name="RichText 57"/>
          <p:cNvSpPr txBox="1"/>
          <p:nvPr/>
        </p:nvSpPr>
        <p:spPr>
          <a:xfrm>
            <a:off x="5669280" y="10451592"/>
            <a:ext cx="1920240" cy="941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Исключение из worker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не теряем: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15803D"/>
                </a:solidFill>
                <a:latin typeface="JetBrains Mono"/>
                <a:ea typeface="JetBrains Mono"/>
                <a:cs typeface="JetBrains Mono"/>
              </a:rPr>
              <a:t xml:space="preserve">std::future::get()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перебросит его в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точке получения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результата.</a:t>
            </a:r>
            <a:endParaRPr lang="ru-RU" sz="1000" dirty="0"/>
          </a:p>
        </p:txBody>
      </p:sp>
      <p:sp>
        <p:nvSpPr>
          <p:cNvPr id="58" name="Shape 58"/>
          <p:cNvSpPr/>
          <p:nvPr/>
        </p:nvSpPr>
        <p:spPr>
          <a:xfrm>
            <a:off x="8092440" y="9966960"/>
            <a:ext cx="2194560" cy="15087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8229600" y="100766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200" b="1" dirty="0">
                <a:solidFill>
                  <a:srgbClr val="7E22CE"/>
                </a:solidFill>
                <a:latin typeface="JetBrains Mono"/>
                <a:ea typeface="JetBrains Mono"/>
                <a:cs typeface="JetBrains Mono"/>
              </a:rPr>
              <a:t xml:space="preserve">Сложный граф</a:t>
            </a:r>
            <a:endParaRPr lang="ru-RU" sz="1200" dirty="0"/>
          </a:p>
        </p:txBody>
      </p:sp>
      <p:sp>
        <p:nvSpPr>
          <p:cNvPr id="60" name="RichText 60"/>
          <p:cNvSpPr txBox="1"/>
          <p:nvPr/>
        </p:nvSpPr>
        <p:spPr>
          <a:xfrm>
            <a:off x="8229600" y="10451592"/>
            <a:ext cx="1920240" cy="941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Если задач много и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они зависят друг от</a:t>
            </a:r>
            <a:endParaRPr lang="ru-RU" sz="1000" dirty="0"/>
          </a:p>
          <a:p>
            <a:pPr algn="l"/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друга: </a:t>
            </a:r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oneTBB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</a:t>
            </a:r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Task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Scheduler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 / </a:t>
            </a:r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Flow</a:t>
            </a:r>
            <a:endParaRPr lang="ru-RU" sz="1000" dirty="0"/>
          </a:p>
          <a:p>
            <a:pPr algn="l"/>
            <a:r>
              <a:rPr lang="ru-RU" sz="1000" b="1" dirty="0">
                <a:solidFill>
                  <a:srgbClr val="7C3AED"/>
                </a:solidFill>
                <a:latin typeface="JetBrains Mono"/>
                <a:ea typeface="JetBrains Mono"/>
                <a:cs typeface="JetBrains Mono"/>
              </a:rPr>
              <a:t xml:space="preserve">Graph</a:t>
            </a:r>
            <a:r>
              <a:rPr lang="ru-RU" sz="1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.</a:t>
            </a:r>
            <a:endParaRPr lang="ru-RU" sz="1000" dirty="0"/>
          </a:p>
        </p:txBody>
      </p:sp>
      <p:cxnSp>
        <p:nvCxnSpPr>
          <p:cNvPr id="61" name="Arrow 61"/>
          <p:cNvCxnSpPr/>
          <p:nvPr/>
        </p:nvCxnSpPr>
        <p:spPr>
          <a:xfrm>
            <a:off x="6629400" y="9601200"/>
            <a:ext cx="0" cy="365760"/>
          </a:xfrm>
          <a:prstGeom prst="line">
            <a:avLst/>
          </a:prstGeom>
          <a:ln w="22000">
            <a:solidFill>
              <a:srgbClr val="FBBF24"/>
            </a:solidFill>
            <a:tailEnd type="triangle"/>
          </a:ln>
        </p:spPr>
      </p:cxnSp>
      <p:cxnSp>
        <p:nvCxnSpPr>
          <p:cNvPr id="62" name="Arrow 62"/>
          <p:cNvCxnSpPr/>
          <p:nvPr/>
        </p:nvCxnSpPr>
        <p:spPr>
          <a:xfrm>
            <a:off x="9189720" y="9601200"/>
            <a:ext cx="0" cy="365760"/>
          </a:xfrm>
          <a:prstGeom prst="line">
            <a:avLst/>
          </a:prstGeom>
          <a:ln w="22000">
            <a:solidFill>
              <a:srgbClr val="A78BFA"/>
            </a:solidFill>
            <a:tailEnd type="triangle"/>
          </a:ln>
        </p:spPr>
      </p:cxnSp>
      <p:sp>
        <p:nvSpPr>
          <p:cNvPr id="63" name="Shape 63"/>
          <p:cNvSpPr/>
          <p:nvPr/>
        </p:nvSpPr>
        <p:spPr>
          <a:xfrm>
            <a:off x="594360" y="11841480"/>
            <a:ext cx="9509760" cy="178308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868680" y="11996928"/>
            <a:ext cx="8961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400" b="1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 xml:space="preserve">Финальная проверка перед выбором</a:t>
            </a:r>
            <a:endParaRPr lang="ru-RU" sz="1400" dirty="0"/>
          </a:p>
        </p:txBody>
      </p:sp>
      <p:sp>
        <p:nvSpPr>
          <p:cNvPr id="65" name="Text 65"/>
          <p:cNvSpPr txBox="1"/>
          <p:nvPr/>
        </p:nvSpPr>
        <p:spPr>
          <a:xfrm>
            <a:off x="868680" y="12435840"/>
            <a:ext cx="89611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900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 xml:space="preserve">UI/main поток никогда не блокируется на долгий wait/sleep/join.</a:t>
            </a:r>
            <a:endParaRPr lang="ru-RU" sz="900" dirty="0"/>
          </a:p>
          <a:p>
            <a:pPr algn="l"/>
            <a:r>
              <a:rPr lang="ru-RU" sz="900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 xml:space="preserve">Отмена кооперативная: request_stop()/interrupt() + регулярные safe points.</a:t>
            </a:r>
            <a:endParaRPr lang="ru-RU" sz="900" dirty="0"/>
          </a:p>
          <a:p>
            <a:pPr algn="l"/>
            <a:r>
              <a:rPr lang="ru-RU" sz="900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 xml:space="preserve">Результат типизирован: success / failure / cancelled, никаких pointer+size.</a:t>
            </a:r>
            <a:endParaRPr lang="ru-RU" sz="900" dirty="0"/>
          </a:p>
          <a:p>
            <a:pPr algn="l"/>
            <a:r>
              <a:rPr lang="ru-RU" sz="900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 xml:space="preserve">Мелкие зависимости не гоняются через main queue, иначе скорость ограничится FPS.</a:t>
            </a:r>
            <a:endParaRPr lang="ru-RU" sz="900" dirty="0"/>
          </a:p>
        </p:txBody>
      </p:sp>
      <p:sp>
        <p:nvSpPr>
          <p:cNvPr id="66" name="Text 66"/>
          <p:cNvSpPr txBox="1"/>
          <p:nvPr/>
        </p:nvSpPr>
        <p:spPr>
          <a:xfrm>
            <a:off x="731520" y="14218920"/>
            <a:ext cx="9235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 xml:space="preserve">Правило плаката: сначала форма работы и ограничения UI, потом конкретный примитив синхронизации.</a:t>
            </a:r>
            <a:endParaRPr lang="ru-RU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adingPoster">
  <a:themeElements>
    <a:clrScheme name="ThreadingPoster">
      <a:dk1>
        <a:srgbClr val="0F172A"/>
      </a:dk1>
      <a:lt1>
        <a:srgbClr val="FFFFFF"/>
      </a:lt1>
      <a:dk2>
        <a:srgbClr val="475569"/>
      </a:dk2>
      <a:lt2>
        <a:srgbClr val="F8FAFC"/>
      </a:lt2>
      <a:accent1>
        <a:srgbClr val="38BDF8"/>
      </a:accent1>
      <a:accent2>
        <a:srgbClr val="A78BFA"/>
      </a:accent2>
      <a:accent3>
        <a:srgbClr val="34D399"/>
      </a:accent3>
      <a:accent4>
        <a:srgbClr val="FBBF24"/>
      </a:accent4>
      <a:accent5>
        <a:srgbClr val="FB7185"/>
      </a:accent5>
      <a:accent6>
        <a:srgbClr val="64748B"/>
      </a:accent6>
      <a:hlink>
        <a:srgbClr val="0369A1"/>
      </a:hlink>
      <a:folHlink>
        <a:srgbClr val="7E22CE"/>
      </a:folHlink>
    </a:clrScheme>
    <a:fontScheme name="JetBrainsMono">
      <a:majorFont>
        <a:latin typeface="JetBrains Mono"/>
        <a:ea typeface="JetBrains Mono"/>
        <a:cs typeface="JetBrains Mono"/>
      </a:majorFont>
      <a:minorFont>
        <a:latin typeface="JetBrains Mono"/>
        <a:ea typeface="JetBrains Mono"/>
        <a:cs typeface="JetBrains Mono"/>
      </a:minorFont>
    </a:fontScheme>
    <a:fmtScheme name="ThreadingPoste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 generated poster</Application>
  <PresentationFormat>A3 portrait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парадигмы многопоточного программирования</dc:title>
  <dc:creator>Cursor</dc:creator>
  <cp:lastModifiedBy>Cursor</cp:lastModifiedBy>
  <dcterms:created xsi:type="dcterms:W3CDTF">2026-05-15T00:00:00Z</dcterms:created>
  <dcterms:modified xsi:type="dcterms:W3CDTF">2026-05-15T00:00:00Z</dcterms:modified>
</cp:coreProperties>
</file>