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Sz cx="12192000" cy="6858000" type="wide"/>
  <p:notesSz cx="6858000" cy="9144000"/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91" r:id="rId36"/>
  </p:sldIdLst>
  <p:defaultTextStyle>
    <a:defPPr>
      <a:defRPr lang="ru-RU">
        <a:latin typeface="JetBrains Mono"/>
        <a:ea typeface="JetBrains Mono"/>
        <a:cs typeface="JetBrains Mono"/>
      </a:defRPr>
    </a:defPPr>
  </p:defaultTextStyle>
</p:presentation>
</file>

<file path=ppt/presProps.xml><?xml version="1.0" encoding="utf-8"?>
<p:presentationPr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/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" Target="slides/slide1.xml"/>
<Relationship Id="rId2" Type="http://schemas.openxmlformats.org/officeDocument/2006/relationships/slide" Target="slides/slide2.xml"/>
<Relationship Id="rId3" Type="http://schemas.openxmlformats.org/officeDocument/2006/relationships/slide" Target="slides/slide3.xml"/>
<Relationship Id="rId4" Type="http://schemas.openxmlformats.org/officeDocument/2006/relationships/slide" Target="slides/slide4.xml"/>
<Relationship Id="rId5" Type="http://schemas.openxmlformats.org/officeDocument/2006/relationships/slide" Target="slides/slide5.xml"/>
<Relationship Id="rId6" Type="http://schemas.openxmlformats.org/officeDocument/2006/relationships/slide" Target="slides/slide6.xml"/>
<Relationship Id="rId7" Type="http://schemas.openxmlformats.org/officeDocument/2006/relationships/slide" Target="slides/slide7.xml"/>
<Relationship Id="rId8" Type="http://schemas.openxmlformats.org/officeDocument/2006/relationships/slide" Target="slides/slide8.xml"/>
<Relationship Id="rId9" Type="http://schemas.openxmlformats.org/officeDocument/2006/relationships/slide" Target="slides/slide9.xml"/>
<Relationship Id="rId10" Type="http://schemas.openxmlformats.org/officeDocument/2006/relationships/slide" Target="slides/slide10.xml"/>
<Relationship Id="rId11" Type="http://schemas.openxmlformats.org/officeDocument/2006/relationships/slide" Target="slides/slide11.xml"/>
<Relationship Id="rId12" Type="http://schemas.openxmlformats.org/officeDocument/2006/relationships/slide" Target="slides/slide12.xml"/>
<Relationship Id="rId13" Type="http://schemas.openxmlformats.org/officeDocument/2006/relationships/slide" Target="slides/slide13.xml"/>
<Relationship Id="rId14" Type="http://schemas.openxmlformats.org/officeDocument/2006/relationships/slide" Target="slides/slide14.xml"/>
<Relationship Id="rId15" Type="http://schemas.openxmlformats.org/officeDocument/2006/relationships/slide" Target="slides/slide15.xml"/>
<Relationship Id="rId16" Type="http://schemas.openxmlformats.org/officeDocument/2006/relationships/slide" Target="slides/slide16.xml"/>
<Relationship Id="rId17" Type="http://schemas.openxmlformats.org/officeDocument/2006/relationships/slide" Target="slides/slide17.xml"/>
<Relationship Id="rId18" Type="http://schemas.openxmlformats.org/officeDocument/2006/relationships/slide" Target="slides/slide18.xml"/>
<Relationship Id="rId19" Type="http://schemas.openxmlformats.org/officeDocument/2006/relationships/slide" Target="slides/slide19.xml"/>
<Relationship Id="rId20" Type="http://schemas.openxmlformats.org/officeDocument/2006/relationships/slide" Target="slides/slide20.xml"/>
<Relationship Id="rId21" Type="http://schemas.openxmlformats.org/officeDocument/2006/relationships/slide" Target="slides/slide21.xml"/>
<Relationship Id="rId22" Type="http://schemas.openxmlformats.org/officeDocument/2006/relationships/slide" Target="slides/slide22.xml"/>
<Relationship Id="rId23" Type="http://schemas.openxmlformats.org/officeDocument/2006/relationships/slide" Target="slides/slide23.xml"/>
<Relationship Id="rId24" Type="http://schemas.openxmlformats.org/officeDocument/2006/relationships/slide" Target="slides/slide24.xml"/>
<Relationship Id="rId25" Type="http://schemas.openxmlformats.org/officeDocument/2006/relationships/slide" Target="slides/slide25.xml"/>
<Relationship Id="rId26" Type="http://schemas.openxmlformats.org/officeDocument/2006/relationships/slide" Target="slides/slide26.xml"/>
<Relationship Id="rId27" Type="http://schemas.openxmlformats.org/officeDocument/2006/relationships/slide" Target="slides/slide27.xml"/>
<Relationship Id="rId28" Type="http://schemas.openxmlformats.org/officeDocument/2006/relationships/slide" Target="slides/slide28.xml"/>
<Relationship Id="rId29" Type="http://schemas.openxmlformats.org/officeDocument/2006/relationships/slide" Target="slides/slide29.xml"/>
<Relationship Id="rId30" Type="http://schemas.openxmlformats.org/officeDocument/2006/relationships/slide" Target="slides/slide30.xml"/>
<Relationship Id="rId31" Type="http://schemas.openxmlformats.org/officeDocument/2006/relationships/slide" Target="slides/slide31.xml"/>
<Relationship Id="rId32" Type="http://schemas.openxmlformats.org/officeDocument/2006/relationships/slide" Target="slides/slide32.xml"/>
<Relationship Id="rId33" Type="http://schemas.openxmlformats.org/officeDocument/2006/relationships/slide" Target="slides/slide33.xml"/>
<Relationship Id="rId34" Type="http://schemas.openxmlformats.org/officeDocument/2006/relationships/slide" Target="slides/slide34.xml"/>
<Relationship Id="rId35" Type="http://schemas.openxmlformats.org/officeDocument/2006/relationships/slide" Target="slides/slide35.xml"/>
<Relationship Id="rId36" Type="http://schemas.openxmlformats.org/officeDocument/2006/relationships/slide" Target="slides/slide36.xml"/>
  <Relationship Id="rId37" Type="http://schemas.openxmlformats.org/officeDocument/2006/relationships/theme" Target="theme/theme1.xml"/>
  <Relationship Id="rId38" Type="http://schemas.openxmlformats.org/officeDocument/2006/relationships/presProps" Target="presProps.xml"/>
  <Relationship Id="rId39" Type="http://schemas.openxmlformats.org/officeDocument/2006/relationships/viewProps" Target="viewProps.xml"/>
  <Relationship Id="rId40" Type="http://schemas.openxmlformats.org/officeDocument/2006/relationships/tableStyles" Target="tableStyles.xml"/>
</Relationships>

</file>

<file path=ppt/slides/_rels/slide1.xml.rels><?xml version="1.0" encoding="UTF-8" standalone="yes"?><Relationships xmlns="http://schemas.openxmlformats.org/package/2006/relationships"/>
</file>

<file path=ppt/slides/_rels/slide2.xml.rels><?xml version="1.0" encoding="UTF-8" standalone="yes"?><Relationships xmlns="http://schemas.openxmlformats.org/package/2006/relationships"/>
</file>

<file path=ppt/slides/_rels/slide3.xml.rels><?xml version="1.0" encoding="UTF-8" standalone="yes"?><Relationships xmlns="http://schemas.openxmlformats.org/package/2006/relationships"/>
</file>

<file path=ppt/slides/_rels/slide4.xml.rels><?xml version="1.0" encoding="UTF-8" standalone="yes"?><Relationships xmlns="http://schemas.openxmlformats.org/package/2006/relationships"/>
</file>

<file path=ppt/slides/_rels/slide5.xml.rels><?xml version="1.0" encoding="UTF-8" standalone="yes"?><Relationships xmlns="http://schemas.openxmlformats.org/package/2006/relationships"/>
</file>

<file path=ppt/slides/_rels/slide6.xml.rels><?xml version="1.0" encoding="UTF-8" standalone="yes"?><Relationships xmlns="http://schemas.openxmlformats.org/package/2006/relationships"/>
</file>

<file path=ppt/slides/_rels/slide7.xml.rels><?xml version="1.0" encoding="UTF-8" standalone="yes"?><Relationships xmlns="http://schemas.openxmlformats.org/package/2006/relationships"/>
</file>

<file path=ppt/slides/_rels/slide8.xml.rels><?xml version="1.0" encoding="UTF-8" standalone="yes"?><Relationships xmlns="http://schemas.openxmlformats.org/package/2006/relationships"/>
</file>

<file path=ppt/slides/_rels/slide9.xml.rels><?xml version="1.0" encoding="UTF-8" standalone="yes"?><Relationships xmlns="http://schemas.openxmlformats.org/package/2006/relationships"/>
</file>

<file path=ppt/slides/_rels/slide10.xml.rels><?xml version="1.0" encoding="UTF-8" standalone="yes"?><Relationships xmlns="http://schemas.openxmlformats.org/package/2006/relationships"/>
</file>

<file path=ppt/slides/_rels/slide11.xml.rels><?xml version="1.0" encoding="UTF-8" standalone="yes"?><Relationships xmlns="http://schemas.openxmlformats.org/package/2006/relationships"/>
</file>

<file path=ppt/slides/_rels/slide12.xml.rels><?xml version="1.0" encoding="UTF-8" standalone="yes"?><Relationships xmlns="http://schemas.openxmlformats.org/package/2006/relationships"/>
</file>

<file path=ppt/slides/_rels/slide13.xml.rels><?xml version="1.0" encoding="UTF-8" standalone="yes"?><Relationships xmlns="http://schemas.openxmlformats.org/package/2006/relationships"/>
</file>

<file path=ppt/slides/_rels/slide14.xml.rels><?xml version="1.0" encoding="UTF-8" standalone="yes"?><Relationships xmlns="http://schemas.openxmlformats.org/package/2006/relationships"/>
</file>

<file path=ppt/slides/_rels/slide15.xml.rels><?xml version="1.0" encoding="UTF-8" standalone="yes"?><Relationships xmlns="http://schemas.openxmlformats.org/package/2006/relationships"/>
</file>

<file path=ppt/slides/_rels/slide16.xml.rels><?xml version="1.0" encoding="UTF-8" standalone="yes"?><Relationships xmlns="http://schemas.openxmlformats.org/package/2006/relationships"/>
</file>

<file path=ppt/slides/_rels/slide17.xml.rels><?xml version="1.0" encoding="UTF-8" standalone="yes"?><Relationships xmlns="http://schemas.openxmlformats.org/package/2006/relationships"/>
</file>

<file path=ppt/slides/_rels/slide18.xml.rels><?xml version="1.0" encoding="UTF-8" standalone="yes"?><Relationships xmlns="http://schemas.openxmlformats.org/package/2006/relationships"/>
</file>

<file path=ppt/slides/_rels/slide19.xml.rels><?xml version="1.0" encoding="UTF-8" standalone="yes"?><Relationships xmlns="http://schemas.openxmlformats.org/package/2006/relationships"/>
</file>

<file path=ppt/slides/_rels/slide20.xml.rels><?xml version="1.0" encoding="UTF-8" standalone="yes"?><Relationships xmlns="http://schemas.openxmlformats.org/package/2006/relationships"/>
</file>

<file path=ppt/slides/_rels/slide21.xml.rels><?xml version="1.0" encoding="UTF-8" standalone="yes"?><Relationships xmlns="http://schemas.openxmlformats.org/package/2006/relationships"/>
</file>

<file path=ppt/slides/_rels/slide22.xml.rels><?xml version="1.0" encoding="UTF-8" standalone="yes"?><Relationships xmlns="http://schemas.openxmlformats.org/package/2006/relationships"/>
</file>

<file path=ppt/slides/_rels/slide23.xml.rels><?xml version="1.0" encoding="UTF-8" standalone="yes"?><Relationships xmlns="http://schemas.openxmlformats.org/package/2006/relationships"/>
</file>

<file path=ppt/slides/_rels/slide24.xml.rels><?xml version="1.0" encoding="UTF-8" standalone="yes"?><Relationships xmlns="http://schemas.openxmlformats.org/package/2006/relationships"/>
</file>

<file path=ppt/slides/_rels/slide25.xml.rels><?xml version="1.0" encoding="UTF-8" standalone="yes"?><Relationships xmlns="http://schemas.openxmlformats.org/package/2006/relationships"/>
</file>

<file path=ppt/slides/_rels/slide26.xml.rels><?xml version="1.0" encoding="UTF-8" standalone="yes"?><Relationships xmlns="http://schemas.openxmlformats.org/package/2006/relationships"/>
</file>

<file path=ppt/slides/_rels/slide27.xml.rels><?xml version="1.0" encoding="UTF-8" standalone="yes"?><Relationships xmlns="http://schemas.openxmlformats.org/package/2006/relationships"/>
</file>

<file path=ppt/slides/_rels/slide28.xml.rels><?xml version="1.0" encoding="UTF-8" standalone="yes"?><Relationships xmlns="http://schemas.openxmlformats.org/package/2006/relationships"/>
</file>

<file path=ppt/slides/_rels/slide29.xml.rels><?xml version="1.0" encoding="UTF-8" standalone="yes"?><Relationships xmlns="http://schemas.openxmlformats.org/package/2006/relationships"/>
</file>

<file path=ppt/slides/_rels/slide30.xml.rels><?xml version="1.0" encoding="UTF-8" standalone="yes"?><Relationships xmlns="http://schemas.openxmlformats.org/package/2006/relationships"/>
</file>

<file path=ppt/slides/_rels/slide31.xml.rels><?xml version="1.0" encoding="UTF-8" standalone="yes"?><Relationships xmlns="http://schemas.openxmlformats.org/package/2006/relationships"/>
</file>

<file path=ppt/slides/_rels/slide32.xml.rels><?xml version="1.0" encoding="UTF-8" standalone="yes"?><Relationships xmlns="http://schemas.openxmlformats.org/package/2006/relationships"/>
</file>

<file path=ppt/slides/_rels/slide33.xml.rels><?xml version="1.0" encoding="UTF-8" standalone="yes"?><Relationships xmlns="http://schemas.openxmlformats.org/package/2006/relationships"/>
</file>

<file path=ppt/slides/_rels/slide34.xml.rels><?xml version="1.0" encoding="UTF-8" standalone="yes"?><Relationships xmlns="http://schemas.openxmlformats.org/package/2006/relationships"/>
</file>

<file path=ppt/slides/_rels/slide35.xml.rels><?xml version="1.0" encoding="UTF-8" standalone="yes"?><Relationships xmlns="http://schemas.openxmlformats.org/package/2006/relationships"/>
</file>

<file path=ppt/slides/_rels/slide36.xml.rels><?xml version="1.0" encoding="UTF-8" standalone="yes"?><Relationships xmlns="http://schemas.openxmlformats.org/package/2006/relationships"/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 4"/>
          <p:cNvSpPr txBox="1"/>
          <p:nvPr/>
        </p:nvSpPr>
        <p:spPr>
          <a:xfrm>
            <a:off x="502920" y="201168"/>
            <a:ext cx="1065276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2400" b="1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Асинхронная загрузка без зависаний</a:t>
            </a:r>
            <a:endParaRPr lang="ru-RU" sz="2400" dirty="0"/>
          </a:p>
        </p:txBody>
      </p:sp>
      <p:sp>
        <p:nvSpPr>
          <p:cNvPr id="5" name="Subtitle 5"/>
          <p:cNvSpPr txBox="1"/>
          <p:nvPr/>
        </p:nvSpPr>
        <p:spPr>
          <a:xfrm>
            <a:off x="530352" y="749808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100" dirty="0">
                <a:solidFill>
                  <a:srgbClr val="475569"/>
                </a:solidFill>
                <a:latin typeface="JetBrains Mono"/>
                <a:ea typeface="JetBrains Mono"/>
                <a:cs typeface="JetBrains Mono"/>
              </a:rPr>
              <a:t xml:space="preserve">Главный поток, отмена, исключения, job_pool и FPS</a:t>
            </a:r>
            <a:endParaRPr lang="ru-RU" sz="1100" dirty="0"/>
          </a:p>
        </p:txBody>
      </p:sp>
      <p:sp>
        <p:nvSpPr>
          <p:cNvPr id="6" name="Circle 6"/>
          <p:cNvSpPr/>
          <p:nvPr/>
        </p:nvSpPr>
        <p:spPr>
          <a:xfrm>
            <a:off x="7040880" y="1143000"/>
            <a:ext cx="2377440" cy="2377440"/>
          </a:xfrm>
          <a:prstGeom prst="ellipse">
            <a:avLst/>
          </a:prstGeom>
          <a:solidFill>
            <a:srgbClr val="DBEAFE"/>
          </a:solidFill>
          <a:ln w="16000">
            <a:solidFill>
              <a:srgbClr val="38BDF8"/>
            </a:solidFill>
          </a:ln>
        </p:spPr>
        <p:txBody>
          <a:bodyPr/>
          <a:lstStyle/>
          <a:p/>
        </p:txBody>
      </p:sp>
      <p:sp>
        <p:nvSpPr>
          <p:cNvPr id="7" name="Circle 7"/>
          <p:cNvSpPr/>
          <p:nvPr/>
        </p:nvSpPr>
        <p:spPr>
          <a:xfrm>
            <a:off x="7909560" y="2011680"/>
            <a:ext cx="2377440" cy="2377440"/>
          </a:xfrm>
          <a:prstGeom prst="ellipse">
            <a:avLst/>
          </a:prstGeom>
          <a:solidFill>
            <a:srgbClr val="F3E8FF"/>
          </a:solidFill>
          <a:ln w="16000">
            <a:solidFill>
              <a:srgbClr val="C084FC"/>
            </a:solidFill>
          </a:ln>
        </p:spPr>
        <p:txBody>
          <a:bodyPr/>
          <a:lstStyle/>
          <a:p/>
        </p:txBody>
      </p:sp>
      <p:sp>
        <p:nvSpPr>
          <p:cNvPr id="8" name="Text 8"/>
          <p:cNvSpPr txBox="1"/>
          <p:nvPr/>
        </p:nvSpPr>
        <p:spPr>
          <a:xfrm>
            <a:off x="777240" y="1828800"/>
            <a:ext cx="6400800" cy="12344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2500" b="1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400 МБ ресурсов</a:t>
            </a:r>
            <a:endParaRPr lang="ru-RU" sz="2500" dirty="0"/>
          </a:p>
          <a:p>
            <a:pPr algn="l"/>
            <a:r>
              <a:rPr lang="ru-RU" sz="2500" b="1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не должны остановить игру</a:t>
            </a:r>
            <a:endParaRPr lang="ru-RU" sz="2500" dirty="0"/>
          </a:p>
        </p:txBody>
      </p:sp>
      <p:sp>
        <p:nvSpPr>
          <p:cNvPr id="9" name="Text 9"/>
          <p:cNvSpPr txBox="1"/>
          <p:nvPr/>
        </p:nvSpPr>
        <p:spPr>
          <a:xfrm>
            <a:off x="822960" y="3703320"/>
            <a:ext cx="5715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500" dirty="0">
                <a:solidFill>
                  <a:srgbClr val="475569"/>
                </a:solidFill>
                <a:latin typeface="JetBrains Mono"/>
                <a:ea typeface="JetBrains Mono"/>
                <a:cs typeface="JetBrains Mono"/>
              </a:rPr>
              <a:t xml:space="preserve">Цель: загрузить в фоне, уметь отменить, не потерять инварианты.</a:t>
            </a:r>
            <a:endParaRPr lang="ru-RU" sz="1500" dirty="0"/>
          </a:p>
        </p:txBody>
      </p:sp>
      <p:sp>
        <p:nvSpPr>
          <p:cNvPr id="10" name="Page 10"/>
          <p:cNvSpPr txBox="1"/>
          <p:nvPr/>
        </p:nvSpPr>
        <p:spPr>
          <a:xfrm>
            <a:off x="10287000" y="6510528"/>
            <a:ext cx="6400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r"/>
            <a:r>
              <a:rPr lang="ru-RU" sz="900" dirty="0">
                <a:solidFill>
                  <a:srgbClr val="64748B"/>
                </a:solidFill>
                <a:latin typeface="JetBrains Mono"/>
                <a:ea typeface="JetBrains Mono"/>
                <a:cs typeface="JetBrains Mono"/>
              </a:rPr>
              <a:t xml:space="preserve">01</a:t>
            </a:r>
            <a:endParaRPr lang="ru-RU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 4"/>
          <p:cNvSpPr txBox="1"/>
          <p:nvPr/>
        </p:nvSpPr>
        <p:spPr>
          <a:xfrm>
            <a:off x="502920" y="201168"/>
            <a:ext cx="1065276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2400" b="1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Какие вопросы закрываем</a:t>
            </a:r>
            <a:endParaRPr lang="ru-RU" sz="2400" dirty="0"/>
          </a:p>
        </p:txBody>
      </p:sp>
      <p:sp>
        <p:nvSpPr>
          <p:cNvPr id="5" name="Subtitle 5"/>
          <p:cNvSpPr txBox="1"/>
          <p:nvPr/>
        </p:nvSpPr>
        <p:spPr>
          <a:xfrm>
            <a:off x="530352" y="749808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100" dirty="0">
                <a:solidFill>
                  <a:srgbClr val="475569"/>
                </a:solidFill>
                <a:latin typeface="JetBrains Mono"/>
                <a:ea typeface="JetBrains Mono"/>
                <a:cs typeface="JetBrains Mono"/>
              </a:rPr>
              <a:t xml:space="preserve">После презентации должна сложиться полная картина</a:t>
            </a:r>
            <a:endParaRPr lang="ru-RU" sz="1100" dirty="0"/>
          </a:p>
        </p:txBody>
      </p:sp>
      <p:sp>
        <p:nvSpPr>
          <p:cNvPr id="6" name="Shape 6"/>
          <p:cNvSpPr/>
          <p:nvPr/>
        </p:nvSpPr>
        <p:spPr>
          <a:xfrm>
            <a:off x="685800" y="1234440"/>
            <a:ext cx="2971800" cy="960120"/>
          </a:xfrm>
          <a:prstGeom prst="roundRect">
            <a:avLst/>
          </a:prstGeom>
          <a:solidFill>
            <a:srgbClr val="E0F2FE"/>
          </a:solidFill>
          <a:ln w="16000">
            <a:solidFill>
              <a:srgbClr val="38BDF8"/>
            </a:solidFill>
          </a:ln>
        </p:spPr>
        <p:txBody>
          <a:bodyPr/>
          <a:lstStyle/>
          <a:p/>
        </p:txBody>
      </p:sp>
      <p:sp>
        <p:nvSpPr>
          <p:cNvPr id="7" name="Text 7"/>
          <p:cNvSpPr txBox="1"/>
          <p:nvPr/>
        </p:nvSpPr>
        <p:spPr>
          <a:xfrm>
            <a:off x="813816" y="1335024"/>
            <a:ext cx="271576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b="1" dirty="0">
                <a:solidFill>
                  <a:srgbClr val="38BDF8"/>
                </a:solidFill>
                <a:latin typeface="JetBrains Mono"/>
                <a:ea typeface="JetBrains Mono"/>
                <a:cs typeface="JetBrains Mono"/>
              </a:rPr>
              <a:t xml:space="preserve">Главный поток</a:t>
            </a:r>
            <a:endParaRPr lang="ru-RU" sz="1200" dirty="0"/>
          </a:p>
        </p:txBody>
      </p:sp>
      <p:sp>
        <p:nvSpPr>
          <p:cNvPr id="8" name="Text 8"/>
          <p:cNvSpPr txBox="1"/>
          <p:nvPr/>
        </p:nvSpPr>
        <p:spPr>
          <a:xfrm>
            <a:off x="813816" y="1645920"/>
            <a:ext cx="2715768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почему нельзя долго</a:t>
            </a:r>
            <a:endParaRPr lang="ru-RU" sz="1200" dirty="0"/>
          </a:p>
          <a:p>
            <a:pPr algn="l"/>
            <a:r>
              <a:rPr lang="ru-RU" sz="12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работать</a:t>
            </a:r>
            <a:endParaRPr lang="ru-RU" sz="1200" dirty="0"/>
          </a:p>
        </p:txBody>
      </p:sp>
      <p:sp>
        <p:nvSpPr>
          <p:cNvPr id="9" name="Shape 9"/>
          <p:cNvSpPr/>
          <p:nvPr/>
        </p:nvSpPr>
        <p:spPr>
          <a:xfrm>
            <a:off x="4114800" y="1234440"/>
            <a:ext cx="2971800" cy="960120"/>
          </a:xfrm>
          <a:prstGeom prst="roundRect">
            <a:avLst/>
          </a:prstGeom>
          <a:solidFill>
            <a:srgbClr val="F3E8FF"/>
          </a:solidFill>
          <a:ln w="16000">
            <a:solidFill>
              <a:srgbClr val="A78BFA"/>
            </a:solidFill>
          </a:ln>
        </p:spPr>
        <p:txBody>
          <a:bodyPr/>
          <a:lstStyle/>
          <a:p/>
        </p:txBody>
      </p:sp>
      <p:sp>
        <p:nvSpPr>
          <p:cNvPr id="10" name="Text 10"/>
          <p:cNvSpPr txBox="1"/>
          <p:nvPr/>
        </p:nvSpPr>
        <p:spPr>
          <a:xfrm>
            <a:off x="4242816" y="1335024"/>
            <a:ext cx="271576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b="1" dirty="0">
                <a:solidFill>
                  <a:srgbClr val="A78BFA"/>
                </a:solidFill>
                <a:latin typeface="JetBrains Mono"/>
                <a:ea typeface="JetBrains Mono"/>
                <a:cs typeface="JetBrains Mono"/>
              </a:rPr>
              <a:t xml:space="preserve">tb::job_pool</a:t>
            </a:r>
            <a:endParaRPr lang="ru-RU" sz="1200" dirty="0"/>
          </a:p>
        </p:txBody>
      </p:sp>
      <p:sp>
        <p:nvSpPr>
          <p:cNvPr id="11" name="Text 11"/>
          <p:cNvSpPr txBox="1"/>
          <p:nvPr/>
        </p:nvSpPr>
        <p:spPr>
          <a:xfrm>
            <a:off x="4242816" y="1645920"/>
            <a:ext cx="2715768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почему не каждая очередь</a:t>
            </a:r>
            <a:endParaRPr lang="ru-RU" sz="1200" dirty="0"/>
          </a:p>
          <a:p>
            <a:pPr algn="l"/>
            <a:r>
              <a:rPr lang="ru-RU" sz="12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задач подходит</a:t>
            </a:r>
            <a:endParaRPr lang="ru-RU" sz="1200" dirty="0"/>
          </a:p>
        </p:txBody>
      </p:sp>
      <p:sp>
        <p:nvSpPr>
          <p:cNvPr id="12" name="Shape 12"/>
          <p:cNvSpPr/>
          <p:nvPr/>
        </p:nvSpPr>
        <p:spPr>
          <a:xfrm>
            <a:off x="7543800" y="1234440"/>
            <a:ext cx="2971800" cy="960120"/>
          </a:xfrm>
          <a:prstGeom prst="roundRect">
            <a:avLst/>
          </a:prstGeom>
          <a:solidFill>
            <a:srgbClr val="DCFCE7"/>
          </a:solidFill>
          <a:ln w="16000">
            <a:solidFill>
              <a:srgbClr val="34D399"/>
            </a:solidFill>
          </a:ln>
        </p:spPr>
        <p:txBody>
          <a:bodyPr/>
          <a:lstStyle/>
          <a:p/>
        </p:txBody>
      </p:sp>
      <p:sp>
        <p:nvSpPr>
          <p:cNvPr id="13" name="Text 13"/>
          <p:cNvSpPr txBox="1"/>
          <p:nvPr/>
        </p:nvSpPr>
        <p:spPr>
          <a:xfrm>
            <a:off x="7671816" y="1335024"/>
            <a:ext cx="271576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b="1" dirty="0">
                <a:solidFill>
                  <a:srgbClr val="34D399"/>
                </a:solidFill>
                <a:latin typeface="JetBrains Mono"/>
                <a:ea typeface="JetBrains Mono"/>
                <a:cs typeface="JetBrains Mono"/>
              </a:rPr>
              <a:t xml:space="preserve">Отмена</a:t>
            </a:r>
            <a:endParaRPr lang="ru-RU" sz="1200" dirty="0"/>
          </a:p>
        </p:txBody>
      </p:sp>
      <p:sp>
        <p:nvSpPr>
          <p:cNvPr id="14" name="Text 14"/>
          <p:cNvSpPr txBox="1"/>
          <p:nvPr/>
        </p:nvSpPr>
        <p:spPr>
          <a:xfrm>
            <a:off x="7671816" y="1645920"/>
            <a:ext cx="2715768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как остановить загрузку</a:t>
            </a:r>
            <a:endParaRPr lang="ru-RU" sz="1200" dirty="0"/>
          </a:p>
          <a:p>
            <a:pPr algn="l"/>
            <a:r>
              <a:rPr lang="ru-RU" sz="12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культурно</a:t>
            </a:r>
            <a:endParaRPr lang="ru-RU" sz="1200" dirty="0"/>
          </a:p>
        </p:txBody>
      </p:sp>
      <p:sp>
        <p:nvSpPr>
          <p:cNvPr id="15" name="Shape 15"/>
          <p:cNvSpPr/>
          <p:nvPr/>
        </p:nvSpPr>
        <p:spPr>
          <a:xfrm>
            <a:off x="685800" y="2651760"/>
            <a:ext cx="2971800" cy="960120"/>
          </a:xfrm>
          <a:prstGeom prst="roundRect">
            <a:avLst/>
          </a:prstGeom>
          <a:solidFill>
            <a:srgbClr val="E0F2FE"/>
          </a:solidFill>
          <a:ln w="16000">
            <a:solidFill>
              <a:srgbClr val="38BDF8"/>
            </a:solidFill>
          </a:ln>
        </p:spPr>
        <p:txBody>
          <a:bodyPr/>
          <a:lstStyle/>
          <a:p/>
        </p:txBody>
      </p:sp>
      <p:sp>
        <p:nvSpPr>
          <p:cNvPr id="16" name="Text 16"/>
          <p:cNvSpPr txBox="1"/>
          <p:nvPr/>
        </p:nvSpPr>
        <p:spPr>
          <a:xfrm>
            <a:off x="813816" y="2752344"/>
            <a:ext cx="271576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b="1" dirty="0">
                <a:solidFill>
                  <a:srgbClr val="38BDF8"/>
                </a:solidFill>
                <a:latin typeface="JetBrains Mono"/>
                <a:ea typeface="JetBrains Mono"/>
                <a:cs typeface="JetBrains Mono"/>
              </a:rPr>
              <a:t xml:space="preserve">Тайминги</a:t>
            </a:r>
            <a:endParaRPr lang="ru-RU" sz="1200" dirty="0"/>
          </a:p>
        </p:txBody>
      </p:sp>
      <p:sp>
        <p:nvSpPr>
          <p:cNvPr id="17" name="Text 17"/>
          <p:cNvSpPr txBox="1"/>
          <p:nvPr/>
        </p:nvSpPr>
        <p:spPr>
          <a:xfrm>
            <a:off x="813816" y="3063240"/>
            <a:ext cx="2715768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16 мс, 0.8 с, 2 с, 5 с ANR</a:t>
            </a:r>
            <a:endParaRPr lang="ru-RU" sz="1200" dirty="0"/>
          </a:p>
        </p:txBody>
      </p:sp>
      <p:sp>
        <p:nvSpPr>
          <p:cNvPr id="18" name="Shape 18"/>
          <p:cNvSpPr/>
          <p:nvPr/>
        </p:nvSpPr>
        <p:spPr>
          <a:xfrm>
            <a:off x="4114800" y="2651760"/>
            <a:ext cx="2971800" cy="960120"/>
          </a:xfrm>
          <a:prstGeom prst="roundRect">
            <a:avLst/>
          </a:prstGeom>
          <a:solidFill>
            <a:srgbClr val="F3E8FF"/>
          </a:solidFill>
          <a:ln w="16000">
            <a:solidFill>
              <a:srgbClr val="A78BFA"/>
            </a:solidFill>
          </a:ln>
        </p:spPr>
        <p:txBody>
          <a:bodyPr/>
          <a:lstStyle/>
          <a:p/>
        </p:txBody>
      </p:sp>
      <p:sp>
        <p:nvSpPr>
          <p:cNvPr id="19" name="Text 19"/>
          <p:cNvSpPr txBox="1"/>
          <p:nvPr/>
        </p:nvSpPr>
        <p:spPr>
          <a:xfrm>
            <a:off x="4242816" y="2752344"/>
            <a:ext cx="271576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b="1" dirty="0">
                <a:solidFill>
                  <a:srgbClr val="A78BFA"/>
                </a:solidFill>
                <a:latin typeface="JetBrains Mono"/>
                <a:ea typeface="JetBrains Mono"/>
                <a:cs typeface="JetBrains Mono"/>
              </a:rPr>
              <a:t xml:space="preserve">Потоки</a:t>
            </a:r>
            <a:endParaRPr lang="ru-RU" sz="1200" dirty="0"/>
          </a:p>
        </p:txBody>
      </p:sp>
      <p:sp>
        <p:nvSpPr>
          <p:cNvPr id="20" name="Text 20"/>
          <p:cNvSpPr txBox="1"/>
          <p:nvPr/>
        </p:nvSpPr>
        <p:spPr>
          <a:xfrm>
            <a:off x="4242816" y="3063240"/>
            <a:ext cx="2715768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почему нельзя просто убить</a:t>
            </a:r>
            <a:endParaRPr lang="ru-RU" sz="1200" dirty="0"/>
          </a:p>
          <a:p>
            <a:pPr algn="l"/>
            <a:r>
              <a:rPr lang="ru-RU" sz="12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thread</a:t>
            </a:r>
            <a:endParaRPr lang="ru-RU" sz="1200" dirty="0"/>
          </a:p>
        </p:txBody>
      </p:sp>
      <p:sp>
        <p:nvSpPr>
          <p:cNvPr id="21" name="Shape 21"/>
          <p:cNvSpPr/>
          <p:nvPr/>
        </p:nvSpPr>
        <p:spPr>
          <a:xfrm>
            <a:off x="7543800" y="2651760"/>
            <a:ext cx="2971800" cy="960120"/>
          </a:xfrm>
          <a:prstGeom prst="roundRect">
            <a:avLst/>
          </a:prstGeom>
          <a:solidFill>
            <a:srgbClr val="DCFCE7"/>
          </a:solidFill>
          <a:ln w="16000">
            <a:solidFill>
              <a:srgbClr val="34D399"/>
            </a:solidFill>
          </a:ln>
        </p:spPr>
        <p:txBody>
          <a:bodyPr/>
          <a:lstStyle/>
          <a:p/>
        </p:txBody>
      </p:sp>
      <p:sp>
        <p:nvSpPr>
          <p:cNvPr id="22" name="Text 22"/>
          <p:cNvSpPr txBox="1"/>
          <p:nvPr/>
        </p:nvSpPr>
        <p:spPr>
          <a:xfrm>
            <a:off x="7671816" y="2752344"/>
            <a:ext cx="271576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b="1" dirty="0">
                <a:solidFill>
                  <a:srgbClr val="34D399"/>
                </a:solidFill>
                <a:latin typeface="JetBrains Mono"/>
                <a:ea typeface="JetBrains Mono"/>
                <a:cs typeface="JetBrains Mono"/>
              </a:rPr>
              <a:t xml:space="preserve">Callbacks</a:t>
            </a:r>
            <a:endParaRPr lang="ru-RU" sz="1200" dirty="0"/>
          </a:p>
        </p:txBody>
      </p:sp>
      <p:sp>
        <p:nvSpPr>
          <p:cNvPr id="23" name="Text 23"/>
          <p:cNvSpPr txBox="1"/>
          <p:nvPr/>
        </p:nvSpPr>
        <p:spPr>
          <a:xfrm>
            <a:off x="7671816" y="3063240"/>
            <a:ext cx="2715768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почему try/catch</a:t>
            </a:r>
            <a:endParaRPr lang="ru-RU" sz="1200" dirty="0"/>
          </a:p>
          <a:p>
            <a:pPr algn="l"/>
            <a:r>
              <a:rPr lang="ru-RU" sz="12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обязателен</a:t>
            </a:r>
            <a:endParaRPr lang="ru-RU" sz="1200" dirty="0"/>
          </a:p>
        </p:txBody>
      </p:sp>
      <p:sp>
        <p:nvSpPr>
          <p:cNvPr id="24" name="Shape 24"/>
          <p:cNvSpPr/>
          <p:nvPr/>
        </p:nvSpPr>
        <p:spPr>
          <a:xfrm>
            <a:off x="685800" y="4069080"/>
            <a:ext cx="2971800" cy="960120"/>
          </a:xfrm>
          <a:prstGeom prst="roundRect">
            <a:avLst/>
          </a:prstGeom>
          <a:solidFill>
            <a:srgbClr val="E0F2FE"/>
          </a:solidFill>
          <a:ln w="16000">
            <a:solidFill>
              <a:srgbClr val="38BDF8"/>
            </a:solidFill>
          </a:ln>
        </p:spPr>
        <p:txBody>
          <a:bodyPr/>
          <a:lstStyle/>
          <a:p/>
        </p:txBody>
      </p:sp>
      <p:sp>
        <p:nvSpPr>
          <p:cNvPr id="25" name="Text 25"/>
          <p:cNvSpPr txBox="1"/>
          <p:nvPr/>
        </p:nvSpPr>
        <p:spPr>
          <a:xfrm>
            <a:off x="813816" y="4169664"/>
            <a:ext cx="271576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b="1" dirty="0">
                <a:solidFill>
                  <a:srgbClr val="38BDF8"/>
                </a:solidFill>
                <a:latin typeface="JetBrains Mono"/>
                <a:ea typeface="JetBrains Mono"/>
                <a:cs typeface="JetBrains Mono"/>
              </a:rPr>
              <a:t xml:space="preserve">FPS</a:t>
            </a:r>
            <a:endParaRPr lang="ru-RU" sz="1200" dirty="0"/>
          </a:p>
        </p:txBody>
      </p:sp>
      <p:sp>
        <p:nvSpPr>
          <p:cNvPr id="26" name="Text 26"/>
          <p:cNvSpPr txBox="1"/>
          <p:nvPr/>
        </p:nvSpPr>
        <p:spPr>
          <a:xfrm>
            <a:off x="813816" y="4480560"/>
            <a:ext cx="2715768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как зависимости задач</a:t>
            </a:r>
            <a:endParaRPr lang="ru-RU" sz="1200" dirty="0"/>
          </a:p>
          <a:p>
            <a:pPr algn="l"/>
            <a:r>
              <a:rPr lang="ru-RU" sz="12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упираются в кадры</a:t>
            </a:r>
            <a:endParaRPr lang="ru-RU" sz="1200" dirty="0"/>
          </a:p>
        </p:txBody>
      </p:sp>
      <p:sp>
        <p:nvSpPr>
          <p:cNvPr id="27" name="Shape 27"/>
          <p:cNvSpPr/>
          <p:nvPr/>
        </p:nvSpPr>
        <p:spPr>
          <a:xfrm>
            <a:off x="4114800" y="4069080"/>
            <a:ext cx="2971800" cy="960120"/>
          </a:xfrm>
          <a:prstGeom prst="roundRect">
            <a:avLst/>
          </a:prstGeom>
          <a:solidFill>
            <a:srgbClr val="F3E8FF"/>
          </a:solidFill>
          <a:ln w="16000">
            <a:solidFill>
              <a:srgbClr val="A78BFA"/>
            </a:solidFill>
          </a:ln>
        </p:spPr>
        <p:txBody>
          <a:bodyPr/>
          <a:lstStyle/>
          <a:p/>
        </p:txBody>
      </p:sp>
      <p:sp>
        <p:nvSpPr>
          <p:cNvPr id="28" name="Text 28"/>
          <p:cNvSpPr txBox="1"/>
          <p:nvPr/>
        </p:nvSpPr>
        <p:spPr>
          <a:xfrm>
            <a:off x="4242816" y="4169664"/>
            <a:ext cx="271576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b="1" dirty="0">
                <a:solidFill>
                  <a:srgbClr val="A78BFA"/>
                </a:solidFill>
                <a:latin typeface="JetBrains Mono"/>
                <a:ea typeface="JetBrains Mono"/>
                <a:cs typeface="JetBrains Mono"/>
              </a:rPr>
              <a:t xml:space="preserve">Result</a:t>
            </a:r>
            <a:endParaRPr lang="ru-RU" sz="1200" dirty="0"/>
          </a:p>
        </p:txBody>
      </p:sp>
      <p:sp>
        <p:nvSpPr>
          <p:cNvPr id="29" name="Text 29"/>
          <p:cNvSpPr txBox="1"/>
          <p:nvPr/>
        </p:nvSpPr>
        <p:spPr>
          <a:xfrm>
            <a:off x="4242816" y="4480560"/>
            <a:ext cx="2715768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как вернуть данные и</a:t>
            </a:r>
            <a:endParaRPr lang="ru-RU" sz="1200" dirty="0"/>
          </a:p>
          <a:p>
            <a:pPr algn="l"/>
            <a:r>
              <a:rPr lang="ru-RU" sz="12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ошибки</a:t>
            </a:r>
            <a:endParaRPr lang="ru-RU" sz="1200" dirty="0"/>
          </a:p>
        </p:txBody>
      </p:sp>
      <p:sp>
        <p:nvSpPr>
          <p:cNvPr id="30" name="Page 30"/>
          <p:cNvSpPr txBox="1"/>
          <p:nvPr/>
        </p:nvSpPr>
        <p:spPr>
          <a:xfrm>
            <a:off x="10287000" y="6510528"/>
            <a:ext cx="6400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r"/>
            <a:r>
              <a:rPr lang="ru-RU" sz="900" dirty="0">
                <a:solidFill>
                  <a:srgbClr val="64748B"/>
                </a:solidFill>
                <a:latin typeface="JetBrains Mono"/>
                <a:ea typeface="JetBrains Mono"/>
                <a:cs typeface="JetBrains Mono"/>
              </a:rPr>
              <a:t xml:space="preserve">02</a:t>
            </a:r>
            <a:endParaRPr lang="ru-RU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 4"/>
          <p:cNvSpPr txBox="1"/>
          <p:nvPr/>
        </p:nvSpPr>
        <p:spPr>
          <a:xfrm>
            <a:off x="502920" y="201168"/>
            <a:ext cx="1065276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2400" b="1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Главный поток: сердце приложения</a:t>
            </a:r>
            <a:endParaRPr lang="ru-RU" sz="2400" dirty="0"/>
          </a:p>
        </p:txBody>
      </p:sp>
      <p:sp>
        <p:nvSpPr>
          <p:cNvPr id="5" name="Subtitle 5"/>
          <p:cNvSpPr txBox="1"/>
          <p:nvPr/>
        </p:nvSpPr>
        <p:spPr>
          <a:xfrm>
            <a:off x="530352" y="749808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100" dirty="0">
                <a:solidFill>
                  <a:srgbClr val="475569"/>
                </a:solidFill>
                <a:latin typeface="JetBrains Mono"/>
                <a:ea typeface="JetBrains Mono"/>
                <a:cs typeface="JetBrains Mono"/>
              </a:rPr>
              <a:t xml:space="preserve">Он качает события, обновление и рендер</a:t>
            </a:r>
            <a:endParaRPr lang="ru-RU" sz="1100" dirty="0"/>
          </a:p>
        </p:txBody>
      </p:sp>
      <p:sp>
        <p:nvSpPr>
          <p:cNvPr id="6" name="Shape 6"/>
          <p:cNvSpPr/>
          <p:nvPr/>
        </p:nvSpPr>
        <p:spPr>
          <a:xfrm>
            <a:off x="914400" y="1874519"/>
            <a:ext cx="2423160" cy="1143000"/>
          </a:xfrm>
          <a:prstGeom prst="roundRect">
            <a:avLst/>
          </a:prstGeom>
          <a:solidFill>
            <a:srgbClr val="E0F2FE"/>
          </a:solidFill>
          <a:ln w="16000">
            <a:solidFill>
              <a:srgbClr val="38BDF8"/>
            </a:solidFill>
          </a:ln>
        </p:spPr>
        <p:txBody>
          <a:bodyPr/>
          <a:lstStyle/>
          <a:p/>
        </p:txBody>
      </p:sp>
      <p:sp>
        <p:nvSpPr>
          <p:cNvPr id="7" name="Text 7"/>
          <p:cNvSpPr txBox="1"/>
          <p:nvPr/>
        </p:nvSpPr>
        <p:spPr>
          <a:xfrm>
            <a:off x="1042416" y="1975103"/>
            <a:ext cx="216712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b="1" dirty="0">
                <a:solidFill>
                  <a:srgbClr val="38BDF8"/>
                </a:solidFill>
                <a:latin typeface="JetBrains Mono"/>
                <a:ea typeface="JetBrains Mono"/>
                <a:cs typeface="JetBrains Mono"/>
              </a:rPr>
              <a:t xml:space="preserve">events</a:t>
            </a:r>
            <a:endParaRPr lang="ru-RU" sz="1200" dirty="0"/>
          </a:p>
        </p:txBody>
      </p:sp>
      <p:sp>
        <p:nvSpPr>
          <p:cNvPr id="8" name="Text 8"/>
          <p:cNvSpPr txBox="1"/>
          <p:nvPr/>
        </p:nvSpPr>
        <p:spPr>
          <a:xfrm>
            <a:off x="1042416" y="2286000"/>
            <a:ext cx="2167128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обработка ввода</a:t>
            </a:r>
            <a:endParaRPr lang="ru-RU" sz="1200" dirty="0"/>
          </a:p>
        </p:txBody>
      </p:sp>
      <p:cxnSp>
        <p:nvCxnSpPr>
          <p:cNvPr id="9" name="Arrow 9"/>
          <p:cNvCxnSpPr/>
          <p:nvPr/>
        </p:nvCxnSpPr>
        <p:spPr>
          <a:xfrm>
            <a:off x="3401568" y="2441448"/>
            <a:ext cx="512063" cy="0"/>
          </a:xfrm>
          <a:prstGeom prst="line">
            <a:avLst/>
          </a:prstGeom>
          <a:ln w="24000">
            <a:solidFill>
              <a:srgbClr val="7DD3FC"/>
            </a:solidFill>
            <a:headEnd type="triangle"/>
          </a:ln>
        </p:spPr>
      </p:cxnSp>
      <p:sp>
        <p:nvSpPr>
          <p:cNvPr id="10" name="Shape 10"/>
          <p:cNvSpPr/>
          <p:nvPr/>
        </p:nvSpPr>
        <p:spPr>
          <a:xfrm>
            <a:off x="4114800" y="1874519"/>
            <a:ext cx="2423160" cy="1143000"/>
          </a:xfrm>
          <a:prstGeom prst="roundRect">
            <a:avLst/>
          </a:prstGeom>
          <a:solidFill>
            <a:srgbClr val="E0F2FE"/>
          </a:solidFill>
          <a:ln w="16000">
            <a:solidFill>
              <a:srgbClr val="38BDF8"/>
            </a:solidFill>
          </a:ln>
        </p:spPr>
        <p:txBody>
          <a:bodyPr/>
          <a:lstStyle/>
          <a:p/>
        </p:txBody>
      </p:sp>
      <p:sp>
        <p:nvSpPr>
          <p:cNvPr id="11" name="Text 11"/>
          <p:cNvSpPr txBox="1"/>
          <p:nvPr/>
        </p:nvSpPr>
        <p:spPr>
          <a:xfrm>
            <a:off x="4242816" y="1975103"/>
            <a:ext cx="216712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b="1" dirty="0">
                <a:solidFill>
                  <a:srgbClr val="38BDF8"/>
                </a:solidFill>
                <a:latin typeface="JetBrains Mono"/>
                <a:ea typeface="JetBrains Mono"/>
                <a:cs typeface="JetBrains Mono"/>
              </a:rPr>
              <a:t xml:space="preserve">update</a:t>
            </a:r>
            <a:endParaRPr lang="ru-RU" sz="1200" dirty="0"/>
          </a:p>
        </p:txBody>
      </p:sp>
      <p:sp>
        <p:nvSpPr>
          <p:cNvPr id="12" name="Text 12"/>
          <p:cNvSpPr txBox="1"/>
          <p:nvPr/>
        </p:nvSpPr>
        <p:spPr>
          <a:xfrm>
            <a:off x="4242816" y="2286000"/>
            <a:ext cx="2167128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логика игры</a:t>
            </a:r>
            <a:endParaRPr lang="ru-RU" sz="1200" dirty="0"/>
          </a:p>
        </p:txBody>
      </p:sp>
      <p:cxnSp>
        <p:nvCxnSpPr>
          <p:cNvPr id="13" name="Arrow 13"/>
          <p:cNvCxnSpPr/>
          <p:nvPr/>
        </p:nvCxnSpPr>
        <p:spPr>
          <a:xfrm>
            <a:off x="6601968" y="2441448"/>
            <a:ext cx="512063" cy="0"/>
          </a:xfrm>
          <a:prstGeom prst="line">
            <a:avLst/>
          </a:prstGeom>
          <a:ln w="24000">
            <a:solidFill>
              <a:srgbClr val="7DD3FC"/>
            </a:solidFill>
            <a:headEnd type="triangle"/>
          </a:ln>
        </p:spPr>
      </p:cxnSp>
      <p:sp>
        <p:nvSpPr>
          <p:cNvPr id="14" name="Shape 14"/>
          <p:cNvSpPr/>
          <p:nvPr/>
        </p:nvSpPr>
        <p:spPr>
          <a:xfrm>
            <a:off x="7315200" y="1874519"/>
            <a:ext cx="2423160" cy="1143000"/>
          </a:xfrm>
          <a:prstGeom prst="roundRect">
            <a:avLst/>
          </a:prstGeom>
          <a:solidFill>
            <a:srgbClr val="E0F2FE"/>
          </a:solidFill>
          <a:ln w="16000">
            <a:solidFill>
              <a:srgbClr val="38BDF8"/>
            </a:solidFill>
          </a:ln>
        </p:spPr>
        <p:txBody>
          <a:bodyPr/>
          <a:lstStyle/>
          <a:p/>
        </p:txBody>
      </p:sp>
      <p:sp>
        <p:nvSpPr>
          <p:cNvPr id="15" name="Text 15"/>
          <p:cNvSpPr txBox="1"/>
          <p:nvPr/>
        </p:nvSpPr>
        <p:spPr>
          <a:xfrm>
            <a:off x="7443216" y="1975103"/>
            <a:ext cx="216712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b="1" dirty="0">
                <a:solidFill>
                  <a:srgbClr val="38BDF8"/>
                </a:solidFill>
                <a:latin typeface="JetBrains Mono"/>
                <a:ea typeface="JetBrains Mono"/>
                <a:cs typeface="JetBrains Mono"/>
              </a:rPr>
              <a:t xml:space="preserve">render</a:t>
            </a:r>
            <a:endParaRPr lang="ru-RU" sz="1200" dirty="0"/>
          </a:p>
        </p:txBody>
      </p:sp>
      <p:sp>
        <p:nvSpPr>
          <p:cNvPr id="16" name="Text 16"/>
          <p:cNvSpPr txBox="1"/>
          <p:nvPr/>
        </p:nvSpPr>
        <p:spPr>
          <a:xfrm>
            <a:off x="7443216" y="2286000"/>
            <a:ext cx="2167128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кадр на экран</a:t>
            </a:r>
            <a:endParaRPr lang="ru-RU" sz="1200" dirty="0"/>
          </a:p>
        </p:txBody>
      </p:sp>
      <p:cxnSp>
        <p:nvCxnSpPr>
          <p:cNvPr id="17" name="Arrow 17"/>
          <p:cNvCxnSpPr/>
          <p:nvPr/>
        </p:nvCxnSpPr>
        <p:spPr>
          <a:xfrm>
            <a:off x="8183879" y="3154680"/>
            <a:ext cx="-7223759" cy="0"/>
          </a:xfrm>
          <a:prstGeom prst="line">
            <a:avLst/>
          </a:prstGeom>
          <a:ln w="24000">
            <a:solidFill>
              <a:srgbClr val="64748B"/>
            </a:solidFill>
            <a:headEnd type="triangle"/>
          </a:ln>
        </p:spPr>
      </p:cxnSp>
      <p:cxnSp>
        <p:nvCxnSpPr>
          <p:cNvPr id="18" name="Arrow 18"/>
          <p:cNvCxnSpPr/>
          <p:nvPr/>
        </p:nvCxnSpPr>
        <p:spPr>
          <a:xfrm>
            <a:off x="960120" y="3154680"/>
            <a:ext cx="0" cy="-1280161"/>
          </a:xfrm>
          <a:prstGeom prst="line">
            <a:avLst/>
          </a:prstGeom>
          <a:ln w="24000">
            <a:solidFill>
              <a:srgbClr val="64748B"/>
            </a:solidFill>
            <a:headEnd type="triangle"/>
          </a:ln>
        </p:spPr>
      </p:cxnSp>
      <p:sp>
        <p:nvSpPr>
          <p:cNvPr id="19" name="Text 19"/>
          <p:cNvSpPr txBox="1"/>
          <p:nvPr/>
        </p:nvSpPr>
        <p:spPr>
          <a:xfrm>
            <a:off x="1508760" y="3950208"/>
            <a:ext cx="8046720" cy="7498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ctr"/>
            <a:r>
              <a:rPr lang="ru-RU" sz="1700" b="1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Если один блок завис, игрок видит не «работу», а мертвое окно.</a:t>
            </a:r>
            <a:endParaRPr lang="ru-RU" sz="1700" dirty="0"/>
          </a:p>
        </p:txBody>
      </p:sp>
      <p:sp>
        <p:nvSpPr>
          <p:cNvPr id="20" name="Page 20"/>
          <p:cNvSpPr txBox="1"/>
          <p:nvPr/>
        </p:nvSpPr>
        <p:spPr>
          <a:xfrm>
            <a:off x="10287000" y="6510528"/>
            <a:ext cx="6400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r"/>
            <a:r>
              <a:rPr lang="ru-RU" sz="900" dirty="0">
                <a:solidFill>
                  <a:srgbClr val="64748B"/>
                </a:solidFill>
                <a:latin typeface="JetBrains Mono"/>
                <a:ea typeface="JetBrains Mono"/>
                <a:cs typeface="JetBrains Mono"/>
              </a:rPr>
              <a:t xml:space="preserve">03</a:t>
            </a:r>
            <a:endParaRPr lang="ru-RU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 4"/>
          <p:cNvSpPr txBox="1"/>
          <p:nvPr/>
        </p:nvSpPr>
        <p:spPr>
          <a:xfrm>
            <a:off x="502920" y="201168"/>
            <a:ext cx="1065276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2400" b="1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Бюджет кадра: всего 16 мс</a:t>
            </a:r>
            <a:endParaRPr lang="ru-RU" sz="2400" dirty="0"/>
          </a:p>
        </p:txBody>
      </p:sp>
      <p:sp>
        <p:nvSpPr>
          <p:cNvPr id="5" name="Subtitle 5"/>
          <p:cNvSpPr txBox="1"/>
          <p:nvPr/>
        </p:nvSpPr>
        <p:spPr>
          <a:xfrm>
            <a:off x="530352" y="749808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100" dirty="0">
                <a:solidFill>
                  <a:srgbClr val="475569"/>
                </a:solidFill>
                <a:latin typeface="JetBrains Mono"/>
                <a:ea typeface="JetBrains Mono"/>
                <a:cs typeface="JetBrains Mono"/>
              </a:rPr>
              <a:t xml:space="preserve">60 FPS = 1 / 60 секунды</a:t>
            </a:r>
            <a:endParaRPr lang="ru-RU" sz="1100" dirty="0"/>
          </a:p>
        </p:txBody>
      </p:sp>
      <p:sp>
        <p:nvSpPr>
          <p:cNvPr id="6" name="Shape 6"/>
          <p:cNvSpPr/>
          <p:nvPr/>
        </p:nvSpPr>
        <p:spPr>
          <a:xfrm>
            <a:off x="914400" y="2286000"/>
            <a:ext cx="1143000" cy="777240"/>
          </a:xfrm>
          <a:prstGeom prst="roundRect">
            <a:avLst/>
          </a:prstGeom>
          <a:solidFill>
            <a:srgbClr val="38BDF8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Text 7"/>
          <p:cNvSpPr txBox="1"/>
          <p:nvPr/>
        </p:nvSpPr>
        <p:spPr>
          <a:xfrm>
            <a:off x="914400" y="2395728"/>
            <a:ext cx="114300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ctr"/>
            <a:r>
              <a:rPr lang="ru-RU" sz="1000" b="1" dirty="0">
                <a:solidFill>
                  <a:srgbClr val="0B1020"/>
                </a:solidFill>
                <a:latin typeface="JetBrains Mono"/>
                <a:ea typeface="JetBrains Mono"/>
                <a:cs typeface="JetBrains Mono"/>
              </a:rPr>
              <a:t xml:space="preserve">events</a:t>
            </a:r>
            <a:endParaRPr lang="ru-RU" sz="1000" dirty="0"/>
          </a:p>
          <a:p>
            <a:pPr algn="ctr"/>
            <a:r>
              <a:rPr lang="ru-RU" sz="1000" b="1" dirty="0">
                <a:solidFill>
                  <a:srgbClr val="0B1020"/>
                </a:solidFill>
                <a:latin typeface="JetBrains Mono"/>
                <a:ea typeface="JetBrains Mono"/>
                <a:cs typeface="JetBrains Mono"/>
              </a:rPr>
              <a:t xml:space="preserve">2 мс</a:t>
            </a:r>
            <a:endParaRPr lang="ru-RU" sz="1000" dirty="0"/>
          </a:p>
        </p:txBody>
      </p:sp>
      <p:sp>
        <p:nvSpPr>
          <p:cNvPr id="8" name="Shape 8"/>
          <p:cNvSpPr/>
          <p:nvPr/>
        </p:nvSpPr>
        <p:spPr>
          <a:xfrm>
            <a:off x="2057400" y="2286000"/>
            <a:ext cx="2286000" cy="777240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txBody>
          <a:bodyPr/>
          <a:lstStyle/>
          <a:p/>
        </p:txBody>
      </p:sp>
      <p:sp>
        <p:nvSpPr>
          <p:cNvPr id="9" name="Text 9"/>
          <p:cNvSpPr txBox="1"/>
          <p:nvPr/>
        </p:nvSpPr>
        <p:spPr>
          <a:xfrm>
            <a:off x="2057400" y="2395728"/>
            <a:ext cx="228600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ctr"/>
            <a:r>
              <a:rPr lang="ru-RU" sz="1000" b="1" dirty="0">
                <a:solidFill>
                  <a:srgbClr val="0B1020"/>
                </a:solidFill>
                <a:latin typeface="JetBrains Mono"/>
                <a:ea typeface="JetBrains Mono"/>
                <a:cs typeface="JetBrains Mono"/>
              </a:rPr>
              <a:t xml:space="preserve">physics</a:t>
            </a:r>
            <a:endParaRPr lang="ru-RU" sz="1000" dirty="0"/>
          </a:p>
          <a:p>
            <a:pPr algn="ctr"/>
            <a:r>
              <a:rPr lang="ru-RU" sz="1000" b="1" dirty="0">
                <a:solidFill>
                  <a:srgbClr val="0B1020"/>
                </a:solidFill>
                <a:latin typeface="JetBrains Mono"/>
                <a:ea typeface="JetBrains Mono"/>
                <a:cs typeface="JetBrains Mono"/>
              </a:rPr>
              <a:t xml:space="preserve">4 мс</a:t>
            </a:r>
            <a:endParaRPr lang="ru-RU" sz="1000" dirty="0"/>
          </a:p>
        </p:txBody>
      </p:sp>
      <p:sp>
        <p:nvSpPr>
          <p:cNvPr id="10" name="Shape 10"/>
          <p:cNvSpPr/>
          <p:nvPr/>
        </p:nvSpPr>
        <p:spPr>
          <a:xfrm>
            <a:off x="4343400" y="2286000"/>
            <a:ext cx="4572000" cy="777240"/>
          </a:xfrm>
          <a:prstGeom prst="roundRect">
            <a:avLst/>
          </a:prstGeom>
          <a:solidFill>
            <a:srgbClr val="34D399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Text 11"/>
          <p:cNvSpPr txBox="1"/>
          <p:nvPr/>
        </p:nvSpPr>
        <p:spPr>
          <a:xfrm>
            <a:off x="4343400" y="2395728"/>
            <a:ext cx="457200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ctr"/>
            <a:r>
              <a:rPr lang="ru-RU" sz="1000" b="1" dirty="0">
                <a:solidFill>
                  <a:srgbClr val="0B1020"/>
                </a:solidFill>
                <a:latin typeface="JetBrains Mono"/>
                <a:ea typeface="JetBrains Mono"/>
                <a:cs typeface="JetBrains Mono"/>
              </a:rPr>
              <a:t xml:space="preserve">render</a:t>
            </a:r>
            <a:endParaRPr lang="ru-RU" sz="1000" dirty="0"/>
          </a:p>
          <a:p>
            <a:pPr algn="ctr"/>
            <a:r>
              <a:rPr lang="ru-RU" sz="1000" b="1" dirty="0">
                <a:solidFill>
                  <a:srgbClr val="0B1020"/>
                </a:solidFill>
                <a:latin typeface="JetBrains Mono"/>
                <a:ea typeface="JetBrains Mono"/>
                <a:cs typeface="JetBrains Mono"/>
              </a:rPr>
              <a:t xml:space="preserve">8 мс</a:t>
            </a:r>
            <a:endParaRPr lang="ru-RU" sz="1000" dirty="0"/>
          </a:p>
        </p:txBody>
      </p:sp>
      <p:sp>
        <p:nvSpPr>
          <p:cNvPr id="12" name="Shape 12"/>
          <p:cNvSpPr/>
          <p:nvPr/>
        </p:nvSpPr>
        <p:spPr>
          <a:xfrm>
            <a:off x="8915400" y="2286000"/>
            <a:ext cx="1143000" cy="777240"/>
          </a:xfrm>
          <a:prstGeom prst="roundRect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ext 13"/>
          <p:cNvSpPr txBox="1"/>
          <p:nvPr/>
        </p:nvSpPr>
        <p:spPr>
          <a:xfrm>
            <a:off x="8915400" y="2395728"/>
            <a:ext cx="114300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ctr"/>
            <a:r>
              <a:rPr lang="ru-RU" sz="1000" b="1" dirty="0">
                <a:solidFill>
                  <a:srgbClr val="0B1020"/>
                </a:solidFill>
                <a:latin typeface="JetBrains Mono"/>
                <a:ea typeface="JetBrains Mono"/>
                <a:cs typeface="JetBrains Mono"/>
              </a:rPr>
              <a:t xml:space="preserve">logic</a:t>
            </a:r>
            <a:endParaRPr lang="ru-RU" sz="1000" dirty="0"/>
          </a:p>
          <a:p>
            <a:pPr algn="ctr"/>
            <a:r>
              <a:rPr lang="ru-RU" sz="1000" b="1" dirty="0">
                <a:solidFill>
                  <a:srgbClr val="0B1020"/>
                </a:solidFill>
                <a:latin typeface="JetBrains Mono"/>
                <a:ea typeface="JetBrains Mono"/>
                <a:cs typeface="JetBrains Mono"/>
              </a:rPr>
              <a:t xml:space="preserve">2 мс</a:t>
            </a:r>
            <a:endParaRPr lang="ru-RU" sz="1000" dirty="0"/>
          </a:p>
        </p:txBody>
      </p:sp>
      <p:sp>
        <p:nvSpPr>
          <p:cNvPr id="14" name="Text 14"/>
          <p:cNvSpPr txBox="1"/>
          <p:nvPr/>
        </p:nvSpPr>
        <p:spPr>
          <a:xfrm>
            <a:off x="777240" y="3429000"/>
            <a:ext cx="9418320" cy="7498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ctr"/>
            <a:r>
              <a:rPr lang="ru-RU" sz="17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Любой wait(), sleep(), join() или синхронный I/O крадет этот бюджет.</a:t>
            </a:r>
            <a:endParaRPr lang="ru-RU" sz="1700" dirty="0"/>
          </a:p>
        </p:txBody>
      </p:sp>
      <p:sp>
        <p:nvSpPr>
          <p:cNvPr id="15" name="Page 15"/>
          <p:cNvSpPr txBox="1"/>
          <p:nvPr/>
        </p:nvSpPr>
        <p:spPr>
          <a:xfrm>
            <a:off x="10287000" y="6510528"/>
            <a:ext cx="6400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r"/>
            <a:r>
              <a:rPr lang="ru-RU" sz="900" dirty="0">
                <a:solidFill>
                  <a:srgbClr val="64748B"/>
                </a:solidFill>
                <a:latin typeface="JetBrains Mono"/>
                <a:ea typeface="JetBrains Mono"/>
                <a:cs typeface="JetBrains Mono"/>
              </a:rPr>
              <a:t xml:space="preserve">04</a:t>
            </a:r>
            <a:endParaRPr lang="ru-RU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 4"/>
          <p:cNvSpPr txBox="1"/>
          <p:nvPr/>
        </p:nvSpPr>
        <p:spPr>
          <a:xfrm>
            <a:off x="502920" y="201168"/>
            <a:ext cx="1065276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2400" b="1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Загрузка уровня: 400 МБ</a:t>
            </a:r>
            <a:endParaRPr lang="ru-RU" sz="2400" dirty="0"/>
          </a:p>
        </p:txBody>
      </p:sp>
      <p:sp>
        <p:nvSpPr>
          <p:cNvPr id="5" name="Subtitle 5"/>
          <p:cNvSpPr txBox="1"/>
          <p:nvPr/>
        </p:nvSpPr>
        <p:spPr>
          <a:xfrm>
            <a:off x="530352" y="749808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100" dirty="0">
                <a:solidFill>
                  <a:srgbClr val="475569"/>
                </a:solidFill>
                <a:latin typeface="JetBrains Mono"/>
                <a:ea typeface="JetBrains Mono"/>
                <a:cs typeface="JetBrains Mono"/>
              </a:rPr>
              <a:t xml:space="preserve">На диске это данные, для игрока это ожидание</a:t>
            </a:r>
            <a:endParaRPr lang="ru-RU" sz="1100" dirty="0"/>
          </a:p>
        </p:txBody>
      </p:sp>
      <p:sp>
        <p:nvSpPr>
          <p:cNvPr id="6" name="Shape 6"/>
          <p:cNvSpPr/>
          <p:nvPr/>
        </p:nvSpPr>
        <p:spPr>
          <a:xfrm>
            <a:off x="1005840" y="1828800"/>
            <a:ext cx="4297680" cy="2468880"/>
          </a:xfrm>
          <a:prstGeom prst="roundRect">
            <a:avLst/>
          </a:prstGeom>
          <a:solidFill>
            <a:srgbClr val="FEF3C7"/>
          </a:solidFill>
          <a:ln w="16000">
            <a:solidFill>
              <a:srgbClr val="FBBF24"/>
            </a:solidFill>
          </a:ln>
        </p:spPr>
        <p:txBody>
          <a:bodyPr/>
          <a:lstStyle/>
          <a:p/>
        </p:txBody>
      </p:sp>
      <p:sp>
        <p:nvSpPr>
          <p:cNvPr id="7" name="Text 7"/>
          <p:cNvSpPr txBox="1"/>
          <p:nvPr/>
        </p:nvSpPr>
        <p:spPr>
          <a:xfrm>
            <a:off x="1005840" y="2249424"/>
            <a:ext cx="429768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ctr"/>
            <a:r>
              <a:rPr lang="ru-RU" sz="3400" b="1" dirty="0">
                <a:solidFill>
                  <a:srgbClr val="92400E"/>
                </a:solidFill>
                <a:latin typeface="JetBrains Mono"/>
                <a:ea typeface="JetBrains Mono"/>
                <a:cs typeface="JetBrains Mono"/>
              </a:rPr>
              <a:t xml:space="preserve">400 МБ</a:t>
            </a:r>
            <a:endParaRPr lang="ru-RU" sz="3400" dirty="0"/>
          </a:p>
        </p:txBody>
      </p:sp>
      <p:sp>
        <p:nvSpPr>
          <p:cNvPr id="8" name="Text 8"/>
          <p:cNvSpPr txBox="1"/>
          <p:nvPr/>
        </p:nvSpPr>
        <p:spPr>
          <a:xfrm>
            <a:off x="5989320" y="1353312"/>
            <a:ext cx="4160520" cy="3246120"/>
          </a:xfrm>
          <a:prstGeom prst="roundRect">
            <a:avLst/>
          </a:prstGeom>
          <a:solidFill>
            <a:srgbClr val="FFFFFF"/>
          </a:solidFill>
          <a:ln w="14000">
            <a:solidFill>
              <a:srgbClr val="334155"/>
            </a:solidFill>
          </a:ln>
        </p:spPr>
        <p:txBody>
          <a:bodyPr wrap="square" lIns="90000" tIns="90000" rIns="90000" bIns="90000" anchor="mid"/>
          <a:lstStyle/>
          <a:p>
            <a:pPr algn="l"/>
            <a:r>
              <a:rPr lang="ru-RU" sz="18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прочитать файлы</a:t>
            </a:r>
            <a:endParaRPr lang="ru-RU" sz="1800" dirty="0"/>
          </a:p>
          <a:p>
            <a:pPr algn="l"/>
            <a:r>
              <a:rPr lang="ru-RU" sz="18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распаковать</a:t>
            </a:r>
            <a:endParaRPr lang="ru-RU" sz="1800" dirty="0"/>
          </a:p>
          <a:p>
            <a:pPr algn="l"/>
            <a:r>
              <a:rPr lang="ru-RU" sz="18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распарсить</a:t>
            </a:r>
            <a:endParaRPr lang="ru-RU" sz="1800" dirty="0"/>
          </a:p>
          <a:p>
            <a:pPr algn="l"/>
            <a:r>
              <a:rPr lang="ru-RU" sz="18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создать GPU-ресурсы</a:t>
            </a:r>
            <a:endParaRPr lang="ru-RU" sz="1800" dirty="0"/>
          </a:p>
          <a:p>
            <a:pPr algn="l"/>
            <a:r>
              <a:rPr lang="ru-RU" sz="18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сообщить игре</a:t>
            </a:r>
            <a:endParaRPr lang="ru-RU" sz="1800" dirty="0"/>
          </a:p>
        </p:txBody>
      </p:sp>
      <p:cxnSp>
        <p:nvCxnSpPr>
          <p:cNvPr id="9" name="Arrow 9"/>
          <p:cNvCxnSpPr/>
          <p:nvPr/>
        </p:nvCxnSpPr>
        <p:spPr>
          <a:xfrm>
            <a:off x="5394960" y="3063240"/>
            <a:ext cx="594360" cy="0"/>
          </a:xfrm>
          <a:prstGeom prst="line">
            <a:avLst/>
          </a:prstGeom>
          <a:ln w="24000">
            <a:solidFill>
              <a:srgbClr val="FBBF24"/>
            </a:solidFill>
            <a:headEnd type="triangle"/>
          </a:ln>
        </p:spPr>
      </p:cxnSp>
      <p:sp>
        <p:nvSpPr>
          <p:cNvPr id="10" name="Page 10"/>
          <p:cNvSpPr txBox="1"/>
          <p:nvPr/>
        </p:nvSpPr>
        <p:spPr>
          <a:xfrm>
            <a:off x="10287000" y="6510528"/>
            <a:ext cx="6400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r"/>
            <a:r>
              <a:rPr lang="ru-RU" sz="900" dirty="0">
                <a:solidFill>
                  <a:srgbClr val="64748B"/>
                </a:solidFill>
                <a:latin typeface="JetBrains Mono"/>
                <a:ea typeface="JetBrains Mono"/>
                <a:cs typeface="JetBrains Mono"/>
              </a:rPr>
              <a:t xml:space="preserve">05</a:t>
            </a:r>
            <a:endParaRPr lang="ru-RU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 4"/>
          <p:cNvSpPr txBox="1"/>
          <p:nvPr/>
        </p:nvSpPr>
        <p:spPr>
          <a:xfrm>
            <a:off x="502920" y="201168"/>
            <a:ext cx="1065276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2400" b="1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Почему нельзя долго работать на main</a:t>
            </a:r>
            <a:endParaRPr lang="ru-RU" sz="2400" dirty="0"/>
          </a:p>
        </p:txBody>
      </p:sp>
      <p:sp>
        <p:nvSpPr>
          <p:cNvPr id="5" name="Subtitle 5"/>
          <p:cNvSpPr txBox="1"/>
          <p:nvPr/>
        </p:nvSpPr>
        <p:spPr>
          <a:xfrm>
            <a:off x="530352" y="749808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100" dirty="0">
                <a:solidFill>
                  <a:srgbClr val="475569"/>
                </a:solidFill>
                <a:latin typeface="JetBrains Mono"/>
                <a:ea typeface="JetBrains Mono"/>
                <a:cs typeface="JetBrains Mono"/>
              </a:rPr>
              <a:t xml:space="preserve">Потому что main отвечает за ощущение жизни</a:t>
            </a:r>
            <a:endParaRPr lang="ru-RU" sz="1100" dirty="0"/>
          </a:p>
        </p:txBody>
      </p:sp>
      <p:sp>
        <p:nvSpPr>
          <p:cNvPr id="6" name="Shape 6"/>
          <p:cNvSpPr/>
          <p:nvPr/>
        </p:nvSpPr>
        <p:spPr>
          <a:xfrm>
            <a:off x="822960" y="1554480"/>
            <a:ext cx="4297680" cy="1234440"/>
          </a:xfrm>
          <a:prstGeom prst="roundRect">
            <a:avLst/>
          </a:prstGeom>
          <a:solidFill>
            <a:srgbClr val="FFE4E6"/>
          </a:solidFill>
          <a:ln w="16000">
            <a:solidFill>
              <a:srgbClr val="FB7185"/>
            </a:solidFill>
          </a:ln>
        </p:spPr>
        <p:txBody>
          <a:bodyPr/>
          <a:lstStyle/>
          <a:p/>
        </p:txBody>
      </p:sp>
      <p:sp>
        <p:nvSpPr>
          <p:cNvPr id="7" name="Text 7"/>
          <p:cNvSpPr txBox="1"/>
          <p:nvPr/>
        </p:nvSpPr>
        <p:spPr>
          <a:xfrm>
            <a:off x="950976" y="1655064"/>
            <a:ext cx="404164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b="1" dirty="0">
                <a:solidFill>
                  <a:srgbClr val="FB7185"/>
                </a:solidFill>
                <a:latin typeface="JetBrains Mono"/>
                <a:ea typeface="JetBrains Mono"/>
                <a:cs typeface="JetBrains Mono"/>
              </a:rPr>
              <a:t xml:space="preserve">События не читаются</a:t>
            </a:r>
            <a:endParaRPr lang="ru-RU" sz="1200" dirty="0"/>
          </a:p>
        </p:txBody>
      </p:sp>
      <p:sp>
        <p:nvSpPr>
          <p:cNvPr id="8" name="Text 8"/>
          <p:cNvSpPr txBox="1"/>
          <p:nvPr/>
        </p:nvSpPr>
        <p:spPr>
          <a:xfrm>
            <a:off x="950976" y="1965960"/>
            <a:ext cx="4041648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ОС считает окно зависшим</a:t>
            </a:r>
            <a:endParaRPr lang="ru-RU" sz="1200" dirty="0"/>
          </a:p>
        </p:txBody>
      </p:sp>
      <p:sp>
        <p:nvSpPr>
          <p:cNvPr id="9" name="Shape 9"/>
          <p:cNvSpPr/>
          <p:nvPr/>
        </p:nvSpPr>
        <p:spPr>
          <a:xfrm>
            <a:off x="5760720" y="1554480"/>
            <a:ext cx="4297680" cy="1234440"/>
          </a:xfrm>
          <a:prstGeom prst="roundRect">
            <a:avLst/>
          </a:prstGeom>
          <a:solidFill>
            <a:srgbClr val="FFE4E6"/>
          </a:solidFill>
          <a:ln w="16000">
            <a:solidFill>
              <a:srgbClr val="FB7185"/>
            </a:solidFill>
          </a:ln>
        </p:spPr>
        <p:txBody>
          <a:bodyPr/>
          <a:lstStyle/>
          <a:p/>
        </p:txBody>
      </p:sp>
      <p:sp>
        <p:nvSpPr>
          <p:cNvPr id="10" name="Text 10"/>
          <p:cNvSpPr txBox="1"/>
          <p:nvPr/>
        </p:nvSpPr>
        <p:spPr>
          <a:xfrm>
            <a:off x="5888736" y="1655064"/>
            <a:ext cx="404164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b="1" dirty="0">
                <a:solidFill>
                  <a:srgbClr val="FB7185"/>
                </a:solidFill>
                <a:latin typeface="JetBrains Mono"/>
                <a:ea typeface="JetBrains Mono"/>
                <a:cs typeface="JetBrains Mono"/>
              </a:rPr>
              <a:t xml:space="preserve">Кадры не рисуются</a:t>
            </a:r>
            <a:endParaRPr lang="ru-RU" sz="1200" dirty="0"/>
          </a:p>
        </p:txBody>
      </p:sp>
      <p:sp>
        <p:nvSpPr>
          <p:cNvPr id="11" name="Text 11"/>
          <p:cNvSpPr txBox="1"/>
          <p:nvPr/>
        </p:nvSpPr>
        <p:spPr>
          <a:xfrm>
            <a:off x="5888736" y="1965960"/>
            <a:ext cx="4041648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игрок видит фриз</a:t>
            </a:r>
            <a:endParaRPr lang="ru-RU" sz="1200" dirty="0"/>
          </a:p>
        </p:txBody>
      </p:sp>
      <p:sp>
        <p:nvSpPr>
          <p:cNvPr id="12" name="Shape 12"/>
          <p:cNvSpPr/>
          <p:nvPr/>
        </p:nvSpPr>
        <p:spPr>
          <a:xfrm>
            <a:off x="822960" y="3383280"/>
            <a:ext cx="4297680" cy="1234440"/>
          </a:xfrm>
          <a:prstGeom prst="roundRect">
            <a:avLst/>
          </a:prstGeom>
          <a:solidFill>
            <a:srgbClr val="FFE4E6"/>
          </a:solidFill>
          <a:ln w="16000">
            <a:solidFill>
              <a:srgbClr val="FB7185"/>
            </a:solidFill>
          </a:ln>
        </p:spPr>
        <p:txBody>
          <a:bodyPr/>
          <a:lstStyle/>
          <a:p/>
        </p:txBody>
      </p:sp>
      <p:sp>
        <p:nvSpPr>
          <p:cNvPr id="13" name="Text 13"/>
          <p:cNvSpPr txBox="1"/>
          <p:nvPr/>
        </p:nvSpPr>
        <p:spPr>
          <a:xfrm>
            <a:off x="950976" y="3483864"/>
            <a:ext cx="404164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b="1" dirty="0">
                <a:solidFill>
                  <a:srgbClr val="FB7185"/>
                </a:solidFill>
                <a:latin typeface="JetBrains Mono"/>
                <a:ea typeface="JetBrains Mono"/>
                <a:cs typeface="JetBrains Mono"/>
              </a:rPr>
              <a:t xml:space="preserve">Ввод не работает</a:t>
            </a:r>
            <a:endParaRPr lang="ru-RU" sz="1200" dirty="0"/>
          </a:p>
        </p:txBody>
      </p:sp>
      <p:sp>
        <p:nvSpPr>
          <p:cNvPr id="14" name="Text 14"/>
          <p:cNvSpPr txBox="1"/>
          <p:nvPr/>
        </p:nvSpPr>
        <p:spPr>
          <a:xfrm>
            <a:off x="950976" y="3794760"/>
            <a:ext cx="4041648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кнопка «назад» бесполезна</a:t>
            </a:r>
            <a:endParaRPr lang="ru-RU" sz="1200" dirty="0"/>
          </a:p>
        </p:txBody>
      </p:sp>
      <p:sp>
        <p:nvSpPr>
          <p:cNvPr id="15" name="Shape 15"/>
          <p:cNvSpPr/>
          <p:nvPr/>
        </p:nvSpPr>
        <p:spPr>
          <a:xfrm>
            <a:off x="5760720" y="3383280"/>
            <a:ext cx="4297680" cy="1234440"/>
          </a:xfrm>
          <a:prstGeom prst="roundRect">
            <a:avLst/>
          </a:prstGeom>
          <a:solidFill>
            <a:srgbClr val="FFE4E6"/>
          </a:solidFill>
          <a:ln w="16000">
            <a:solidFill>
              <a:srgbClr val="FB7185"/>
            </a:solidFill>
          </a:ln>
        </p:spPr>
        <p:txBody>
          <a:bodyPr/>
          <a:lstStyle/>
          <a:p/>
        </p:txBody>
      </p:sp>
      <p:sp>
        <p:nvSpPr>
          <p:cNvPr id="16" name="Text 16"/>
          <p:cNvSpPr txBox="1"/>
          <p:nvPr/>
        </p:nvSpPr>
        <p:spPr>
          <a:xfrm>
            <a:off x="5888736" y="3483864"/>
            <a:ext cx="404164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b="1" dirty="0">
                <a:solidFill>
                  <a:srgbClr val="FB7185"/>
                </a:solidFill>
                <a:latin typeface="JetBrains Mono"/>
                <a:ea typeface="JetBrains Mono"/>
                <a:cs typeface="JetBrains Mono"/>
              </a:rPr>
              <a:t xml:space="preserve">Закрытие тормозит</a:t>
            </a:r>
            <a:endParaRPr lang="ru-RU" sz="1200" dirty="0"/>
          </a:p>
        </p:txBody>
      </p:sp>
      <p:sp>
        <p:nvSpPr>
          <p:cNvPr id="17" name="Text 17"/>
          <p:cNvSpPr txBox="1"/>
          <p:nvPr/>
        </p:nvSpPr>
        <p:spPr>
          <a:xfrm>
            <a:off x="5888736" y="3794760"/>
            <a:ext cx="4041648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можно получить ANR</a:t>
            </a:r>
            <a:endParaRPr lang="ru-RU" sz="1200" dirty="0"/>
          </a:p>
        </p:txBody>
      </p:sp>
      <p:sp>
        <p:nvSpPr>
          <p:cNvPr id="18" name="Page 18"/>
          <p:cNvSpPr txBox="1"/>
          <p:nvPr/>
        </p:nvSpPr>
        <p:spPr>
          <a:xfrm>
            <a:off x="10287000" y="6510528"/>
            <a:ext cx="6400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r"/>
            <a:r>
              <a:rPr lang="ru-RU" sz="900" dirty="0">
                <a:solidFill>
                  <a:srgbClr val="64748B"/>
                </a:solidFill>
                <a:latin typeface="JetBrains Mono"/>
                <a:ea typeface="JetBrains Mono"/>
                <a:cs typeface="JetBrains Mono"/>
              </a:rPr>
              <a:t xml:space="preserve">06</a:t>
            </a:r>
            <a:endParaRPr lang="ru-RU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 4"/>
          <p:cNvSpPr txBox="1"/>
          <p:nvPr/>
        </p:nvSpPr>
        <p:spPr>
          <a:xfrm>
            <a:off x="502920" y="201168"/>
            <a:ext cx="1065276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2400" b="1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Тайминги, которые держим в голове</a:t>
            </a:r>
            <a:endParaRPr lang="ru-RU" sz="2400" dirty="0"/>
          </a:p>
        </p:txBody>
      </p:sp>
      <p:sp>
        <p:nvSpPr>
          <p:cNvPr id="5" name="Subtitle 5"/>
          <p:cNvSpPr txBox="1"/>
          <p:nvPr/>
        </p:nvSpPr>
        <p:spPr>
          <a:xfrm>
            <a:off x="530352" y="749808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100" dirty="0">
                <a:solidFill>
                  <a:srgbClr val="475569"/>
                </a:solidFill>
                <a:latin typeface="JetBrains Mono"/>
                <a:ea typeface="JetBrains Mono"/>
                <a:cs typeface="JetBrains Mono"/>
              </a:rPr>
              <a:t xml:space="preserve">Не точные законы природы, а инженерные ориентиры</a:t>
            </a:r>
            <a:endParaRPr lang="ru-RU" sz="1100" dirty="0"/>
          </a:p>
        </p:txBody>
      </p:sp>
      <p:sp>
        <p:nvSpPr>
          <p:cNvPr id="6" name="Circle 6"/>
          <p:cNvSpPr/>
          <p:nvPr/>
        </p:nvSpPr>
        <p:spPr>
          <a:xfrm>
            <a:off x="777240" y="1828800"/>
            <a:ext cx="1481328" cy="1481328"/>
          </a:xfrm>
          <a:prstGeom prst="ellipse">
            <a:avLst/>
          </a:prstGeom>
          <a:solidFill>
            <a:srgbClr val="38BDF8"/>
          </a:solidFill>
          <a:ln w="16000">
            <a:solidFill>
              <a:srgbClr val="FFFFFF"/>
            </a:solidFill>
          </a:ln>
        </p:spPr>
        <p:txBody>
          <a:bodyPr/>
          <a:lstStyle/>
          <a:p/>
        </p:txBody>
      </p:sp>
      <p:sp>
        <p:nvSpPr>
          <p:cNvPr id="7" name="Text 7"/>
          <p:cNvSpPr txBox="1"/>
          <p:nvPr/>
        </p:nvSpPr>
        <p:spPr>
          <a:xfrm>
            <a:off x="777240" y="2103120"/>
            <a:ext cx="1481328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ctr"/>
            <a:r>
              <a:rPr lang="ru-RU" sz="1900" b="1" dirty="0">
                <a:solidFill>
                  <a:srgbClr val="0B1020"/>
                </a:solidFill>
                <a:latin typeface="JetBrains Mono"/>
                <a:ea typeface="JetBrains Mono"/>
                <a:cs typeface="JetBrains Mono"/>
              </a:rPr>
              <a:t xml:space="preserve">16мс</a:t>
            </a:r>
            <a:endParaRPr lang="ru-RU" sz="1900" dirty="0"/>
          </a:p>
        </p:txBody>
      </p:sp>
      <p:sp>
        <p:nvSpPr>
          <p:cNvPr id="8" name="Text 8"/>
          <p:cNvSpPr txBox="1"/>
          <p:nvPr/>
        </p:nvSpPr>
        <p:spPr>
          <a:xfrm>
            <a:off x="466344" y="3438144"/>
            <a:ext cx="210312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ctr"/>
            <a:r>
              <a:rPr lang="ru-RU" sz="1100" dirty="0">
                <a:solidFill>
                  <a:srgbClr val="475569"/>
                </a:solidFill>
                <a:latin typeface="JetBrains Mono"/>
                <a:ea typeface="JetBrains Mono"/>
                <a:cs typeface="JetBrains Mono"/>
              </a:rPr>
              <a:t xml:space="preserve">кадр при 60 FPS</a:t>
            </a:r>
            <a:endParaRPr lang="ru-RU" sz="1100" dirty="0"/>
          </a:p>
        </p:txBody>
      </p:sp>
      <p:sp>
        <p:nvSpPr>
          <p:cNvPr id="9" name="Circle 9"/>
          <p:cNvSpPr/>
          <p:nvPr/>
        </p:nvSpPr>
        <p:spPr>
          <a:xfrm>
            <a:off x="3063240" y="1828800"/>
            <a:ext cx="1481328" cy="1481328"/>
          </a:xfrm>
          <a:prstGeom prst="ellipse">
            <a:avLst/>
          </a:prstGeom>
          <a:solidFill>
            <a:srgbClr val="34D399"/>
          </a:solidFill>
          <a:ln w="16000">
            <a:solidFill>
              <a:srgbClr val="FFFFFF"/>
            </a:solidFill>
          </a:ln>
        </p:spPr>
        <p:txBody>
          <a:bodyPr/>
          <a:lstStyle/>
          <a:p/>
        </p:txBody>
      </p:sp>
      <p:sp>
        <p:nvSpPr>
          <p:cNvPr id="10" name="Text 10"/>
          <p:cNvSpPr txBox="1"/>
          <p:nvPr/>
        </p:nvSpPr>
        <p:spPr>
          <a:xfrm>
            <a:off x="3063240" y="2103120"/>
            <a:ext cx="1481328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ctr"/>
            <a:r>
              <a:rPr lang="ru-RU" sz="1900" b="1" dirty="0">
                <a:solidFill>
                  <a:srgbClr val="0B1020"/>
                </a:solidFill>
                <a:latin typeface="JetBrains Mono"/>
                <a:ea typeface="JetBrains Mono"/>
                <a:cs typeface="JetBrains Mono"/>
              </a:rPr>
              <a:t xml:space="preserve">0.8с</a:t>
            </a:r>
            <a:endParaRPr lang="ru-RU" sz="1900" dirty="0"/>
          </a:p>
        </p:txBody>
      </p:sp>
      <p:sp>
        <p:nvSpPr>
          <p:cNvPr id="11" name="Text 11"/>
          <p:cNvSpPr txBox="1"/>
          <p:nvPr/>
        </p:nvSpPr>
        <p:spPr>
          <a:xfrm>
            <a:off x="2752344" y="3438144"/>
            <a:ext cx="210312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ctr"/>
            <a:r>
              <a:rPr lang="ru-RU" sz="1100" dirty="0">
                <a:solidFill>
                  <a:srgbClr val="475569"/>
                </a:solidFill>
                <a:latin typeface="JetBrains Mono"/>
                <a:ea typeface="JetBrains Mono"/>
                <a:cs typeface="JetBrains Mono"/>
              </a:rPr>
              <a:t xml:space="preserve">заметная</a:t>
            </a:r>
            <a:endParaRPr lang="ru-RU" sz="1100" dirty="0"/>
          </a:p>
          <a:p>
            <a:pPr algn="ctr"/>
            <a:r>
              <a:rPr lang="ru-RU" sz="1100" dirty="0">
                <a:solidFill>
                  <a:srgbClr val="475569"/>
                </a:solidFill>
                <a:latin typeface="JetBrains Mono"/>
                <a:ea typeface="JetBrains Mono"/>
                <a:cs typeface="JetBrains Mono"/>
              </a:rPr>
              <a:t xml:space="preserve">реакция</a:t>
            </a:r>
            <a:endParaRPr lang="ru-RU" sz="1100" dirty="0"/>
          </a:p>
        </p:txBody>
      </p:sp>
      <p:sp>
        <p:nvSpPr>
          <p:cNvPr id="12" name="Circle 12"/>
          <p:cNvSpPr/>
          <p:nvPr/>
        </p:nvSpPr>
        <p:spPr>
          <a:xfrm>
            <a:off x="5349240" y="1828800"/>
            <a:ext cx="1481328" cy="1481328"/>
          </a:xfrm>
          <a:prstGeom prst="ellipse">
            <a:avLst/>
          </a:prstGeom>
          <a:solidFill>
            <a:srgbClr val="FBBF24"/>
          </a:solidFill>
          <a:ln w="16000">
            <a:solidFill>
              <a:srgbClr val="FFFFFF"/>
            </a:solidFill>
          </a:ln>
        </p:spPr>
        <p:txBody>
          <a:bodyPr/>
          <a:lstStyle/>
          <a:p/>
        </p:txBody>
      </p:sp>
      <p:sp>
        <p:nvSpPr>
          <p:cNvPr id="13" name="Text 13"/>
          <p:cNvSpPr txBox="1"/>
          <p:nvPr/>
        </p:nvSpPr>
        <p:spPr>
          <a:xfrm>
            <a:off x="5349240" y="2103120"/>
            <a:ext cx="1481328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ctr"/>
            <a:r>
              <a:rPr lang="ru-RU" sz="1900" b="1" dirty="0">
                <a:solidFill>
                  <a:srgbClr val="0B1020"/>
                </a:solidFill>
                <a:latin typeface="JetBrains Mono"/>
                <a:ea typeface="JetBrains Mono"/>
                <a:cs typeface="JetBrains Mono"/>
              </a:rPr>
              <a:t xml:space="preserve">2с</a:t>
            </a:r>
            <a:endParaRPr lang="ru-RU" sz="1900" dirty="0"/>
          </a:p>
        </p:txBody>
      </p:sp>
      <p:sp>
        <p:nvSpPr>
          <p:cNvPr id="14" name="Text 14"/>
          <p:cNvSpPr txBox="1"/>
          <p:nvPr/>
        </p:nvSpPr>
        <p:spPr>
          <a:xfrm>
            <a:off x="5038344" y="3438144"/>
            <a:ext cx="210312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ctr"/>
            <a:r>
              <a:rPr lang="ru-RU" sz="1100" dirty="0">
                <a:solidFill>
                  <a:srgbClr val="475569"/>
                </a:solidFill>
                <a:latin typeface="JetBrains Mono"/>
                <a:ea typeface="JetBrains Mono"/>
                <a:cs typeface="JetBrains Mono"/>
              </a:rPr>
              <a:t xml:space="preserve">ожидание</a:t>
            </a:r>
            <a:endParaRPr lang="ru-RU" sz="1100" dirty="0"/>
          </a:p>
          <a:p>
            <a:pPr algn="ctr"/>
            <a:r>
              <a:rPr lang="ru-RU" sz="1100" dirty="0">
                <a:solidFill>
                  <a:srgbClr val="475569"/>
                </a:solidFill>
                <a:latin typeface="JetBrains Mono"/>
                <a:ea typeface="JetBrains Mono"/>
                <a:cs typeface="JetBrains Mono"/>
              </a:rPr>
              <a:t xml:space="preserve">нервирует</a:t>
            </a:r>
            <a:endParaRPr lang="ru-RU" sz="1100" dirty="0"/>
          </a:p>
        </p:txBody>
      </p:sp>
      <p:sp>
        <p:nvSpPr>
          <p:cNvPr id="15" name="Circle 15"/>
          <p:cNvSpPr/>
          <p:nvPr/>
        </p:nvSpPr>
        <p:spPr>
          <a:xfrm>
            <a:off x="7635240" y="1828800"/>
            <a:ext cx="1481328" cy="1481328"/>
          </a:xfrm>
          <a:prstGeom prst="ellipse">
            <a:avLst/>
          </a:prstGeom>
          <a:solidFill>
            <a:srgbClr val="FB7185"/>
          </a:solidFill>
          <a:ln w="16000">
            <a:solidFill>
              <a:srgbClr val="FFFFFF"/>
            </a:solidFill>
          </a:ln>
        </p:spPr>
        <p:txBody>
          <a:bodyPr/>
          <a:lstStyle/>
          <a:p/>
        </p:txBody>
      </p:sp>
      <p:sp>
        <p:nvSpPr>
          <p:cNvPr id="16" name="Text 16"/>
          <p:cNvSpPr txBox="1"/>
          <p:nvPr/>
        </p:nvSpPr>
        <p:spPr>
          <a:xfrm>
            <a:off x="7635240" y="2103120"/>
            <a:ext cx="1481328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ctr"/>
            <a:r>
              <a:rPr lang="ru-RU" sz="1900" b="1" dirty="0">
                <a:solidFill>
                  <a:srgbClr val="0B1020"/>
                </a:solidFill>
                <a:latin typeface="JetBrains Mono"/>
                <a:ea typeface="JetBrains Mono"/>
                <a:cs typeface="JetBrains Mono"/>
              </a:rPr>
              <a:t xml:space="preserve">5с</a:t>
            </a:r>
            <a:endParaRPr lang="ru-RU" sz="1900" dirty="0"/>
          </a:p>
        </p:txBody>
      </p:sp>
      <p:sp>
        <p:nvSpPr>
          <p:cNvPr id="17" name="Text 17"/>
          <p:cNvSpPr txBox="1"/>
          <p:nvPr/>
        </p:nvSpPr>
        <p:spPr>
          <a:xfrm>
            <a:off x="7324344" y="3438144"/>
            <a:ext cx="210312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ctr"/>
            <a:r>
              <a:rPr lang="ru-RU" sz="1100" dirty="0">
                <a:solidFill>
                  <a:srgbClr val="475569"/>
                </a:solidFill>
                <a:latin typeface="JetBrains Mono"/>
                <a:ea typeface="JetBrains Mono"/>
                <a:cs typeface="JetBrains Mono"/>
              </a:rPr>
              <a:t xml:space="preserve">верхняя зона</a:t>
            </a:r>
            <a:endParaRPr lang="ru-RU" sz="1100" dirty="0"/>
          </a:p>
          <a:p>
            <a:pPr algn="ctr"/>
            <a:r>
              <a:rPr lang="ru-RU" sz="1100" dirty="0">
                <a:solidFill>
                  <a:srgbClr val="475569"/>
                </a:solidFill>
                <a:latin typeface="JetBrains Mono"/>
                <a:ea typeface="JetBrains Mono"/>
                <a:cs typeface="JetBrains Mono"/>
              </a:rPr>
              <a:t xml:space="preserve">ANR</a:t>
            </a:r>
            <a:endParaRPr lang="ru-RU" sz="1100" dirty="0"/>
          </a:p>
        </p:txBody>
      </p:sp>
      <p:sp>
        <p:nvSpPr>
          <p:cNvPr id="18" name="Text 18"/>
          <p:cNvSpPr txBox="1"/>
          <p:nvPr/>
        </p:nvSpPr>
        <p:spPr>
          <a:xfrm>
            <a:off x="914400" y="4572000"/>
            <a:ext cx="914400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ctr"/>
            <a:r>
              <a:rPr lang="ru-RU" sz="1700" b="1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Практическое правило: целевой лимит делим на 2 и проверяем отмену чаще.</a:t>
            </a:r>
            <a:endParaRPr lang="ru-RU" sz="1700" dirty="0"/>
          </a:p>
        </p:txBody>
      </p:sp>
      <p:sp>
        <p:nvSpPr>
          <p:cNvPr id="19" name="Page 19"/>
          <p:cNvSpPr txBox="1"/>
          <p:nvPr/>
        </p:nvSpPr>
        <p:spPr>
          <a:xfrm>
            <a:off x="10287000" y="6510528"/>
            <a:ext cx="6400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r"/>
            <a:r>
              <a:rPr lang="ru-RU" sz="900" dirty="0">
                <a:solidFill>
                  <a:srgbClr val="64748B"/>
                </a:solidFill>
                <a:latin typeface="JetBrains Mono"/>
                <a:ea typeface="JetBrains Mono"/>
                <a:cs typeface="JetBrains Mono"/>
              </a:rPr>
              <a:t xml:space="preserve">07</a:t>
            </a:r>
            <a:endParaRPr lang="ru-RU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 4"/>
          <p:cNvSpPr txBox="1"/>
          <p:nvPr/>
        </p:nvSpPr>
        <p:spPr>
          <a:xfrm>
            <a:off x="502920" y="201168"/>
            <a:ext cx="1065276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2400" b="1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Старый способ: кооперативная многозадачность</a:t>
            </a:r>
            <a:endParaRPr lang="ru-RU" sz="2400" dirty="0"/>
          </a:p>
        </p:txBody>
      </p:sp>
      <p:sp>
        <p:nvSpPr>
          <p:cNvPr id="5" name="Subtitle 5"/>
          <p:cNvSpPr txBox="1"/>
          <p:nvPr/>
        </p:nvSpPr>
        <p:spPr>
          <a:xfrm>
            <a:off x="530352" y="749808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100" dirty="0">
                <a:solidFill>
                  <a:srgbClr val="475569"/>
                </a:solidFill>
                <a:latin typeface="JetBrains Mono"/>
                <a:ea typeface="JetBrains Mono"/>
                <a:cs typeface="JetBrains Mono"/>
              </a:rPr>
              <a:t xml:space="preserve">Одно ядро, один поток, много добровольных уступок</a:t>
            </a:r>
            <a:endParaRPr lang="ru-RU" sz="1100" dirty="0"/>
          </a:p>
        </p:txBody>
      </p:sp>
      <p:sp>
        <p:nvSpPr>
          <p:cNvPr id="6" name="Shape 6"/>
          <p:cNvSpPr/>
          <p:nvPr/>
        </p:nvSpPr>
        <p:spPr>
          <a:xfrm>
            <a:off x="685800" y="2011680"/>
            <a:ext cx="2057400" cy="1143000"/>
          </a:xfrm>
          <a:prstGeom prst="roundRect">
            <a:avLst/>
          </a:prstGeom>
          <a:solidFill>
            <a:srgbClr val="F3E8FF"/>
          </a:solidFill>
          <a:ln w="16000">
            <a:solidFill>
              <a:srgbClr val="A78BFA"/>
            </a:solidFill>
          </a:ln>
        </p:spPr>
        <p:txBody>
          <a:bodyPr/>
          <a:lstStyle/>
          <a:p/>
        </p:txBody>
      </p:sp>
      <p:sp>
        <p:nvSpPr>
          <p:cNvPr id="7" name="Text 7"/>
          <p:cNvSpPr txBox="1"/>
          <p:nvPr/>
        </p:nvSpPr>
        <p:spPr>
          <a:xfrm>
            <a:off x="813816" y="2112264"/>
            <a:ext cx="180136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b="1" dirty="0">
                <a:solidFill>
                  <a:srgbClr val="A78BFA"/>
                </a:solidFill>
                <a:latin typeface="JetBrains Mono"/>
                <a:ea typeface="JetBrains Mono"/>
                <a:cs typeface="JetBrains Mono"/>
              </a:rPr>
              <a:t xml:space="preserve">рисуем экран</a:t>
            </a:r>
            <a:endParaRPr lang="ru-RU" sz="1200" dirty="0"/>
          </a:p>
        </p:txBody>
      </p:sp>
      <p:sp>
        <p:nvSpPr>
          <p:cNvPr id="8" name="Text 8"/>
          <p:cNvSpPr txBox="1"/>
          <p:nvPr/>
        </p:nvSpPr>
        <p:spPr>
          <a:xfrm>
            <a:off x="813816" y="2423160"/>
            <a:ext cx="1801368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loading...</a:t>
            </a:r>
            <a:endParaRPr lang="ru-RU" sz="1200" dirty="0"/>
          </a:p>
        </p:txBody>
      </p:sp>
      <p:cxnSp>
        <p:nvCxnSpPr>
          <p:cNvPr id="9" name="Arrow 9"/>
          <p:cNvCxnSpPr/>
          <p:nvPr/>
        </p:nvCxnSpPr>
        <p:spPr>
          <a:xfrm>
            <a:off x="2834640" y="2587752"/>
            <a:ext cx="365760" cy="0"/>
          </a:xfrm>
          <a:prstGeom prst="line">
            <a:avLst/>
          </a:prstGeom>
          <a:ln w="24000">
            <a:solidFill>
              <a:srgbClr val="C084FC"/>
            </a:solidFill>
            <a:headEnd type="triangle"/>
          </a:ln>
        </p:spPr>
      </p:cxnSp>
      <p:sp>
        <p:nvSpPr>
          <p:cNvPr id="10" name="Shape 10"/>
          <p:cNvSpPr/>
          <p:nvPr/>
        </p:nvSpPr>
        <p:spPr>
          <a:xfrm>
            <a:off x="3291840" y="2011680"/>
            <a:ext cx="2057400" cy="1143000"/>
          </a:xfrm>
          <a:prstGeom prst="roundRect">
            <a:avLst/>
          </a:prstGeom>
          <a:solidFill>
            <a:srgbClr val="F3E8FF"/>
          </a:solidFill>
          <a:ln w="16000">
            <a:solidFill>
              <a:srgbClr val="A78BFA"/>
            </a:solidFill>
          </a:ln>
        </p:spPr>
        <p:txBody>
          <a:bodyPr/>
          <a:lstStyle/>
          <a:p/>
        </p:txBody>
      </p:sp>
      <p:sp>
        <p:nvSpPr>
          <p:cNvPr id="11" name="Text 11"/>
          <p:cNvSpPr txBox="1"/>
          <p:nvPr/>
        </p:nvSpPr>
        <p:spPr>
          <a:xfrm>
            <a:off x="3419856" y="2112264"/>
            <a:ext cx="180136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b="1" dirty="0">
                <a:solidFill>
                  <a:srgbClr val="A78BFA"/>
                </a:solidFill>
                <a:latin typeface="JetBrains Mono"/>
                <a:ea typeface="JetBrains Mono"/>
                <a:cs typeface="JetBrains Mono"/>
              </a:rPr>
              <a:t xml:space="preserve">грузим пачку</a:t>
            </a:r>
            <a:endParaRPr lang="ru-RU" sz="1200" dirty="0"/>
          </a:p>
        </p:txBody>
      </p:sp>
      <p:sp>
        <p:nvSpPr>
          <p:cNvPr id="12" name="Text 12"/>
          <p:cNvSpPr txBox="1"/>
          <p:nvPr/>
        </p:nvSpPr>
        <p:spPr>
          <a:xfrm>
            <a:off x="3419856" y="2423160"/>
            <a:ext cx="1801368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N текстур</a:t>
            </a:r>
            <a:endParaRPr lang="ru-RU" sz="1200" dirty="0"/>
          </a:p>
        </p:txBody>
      </p:sp>
      <p:cxnSp>
        <p:nvCxnSpPr>
          <p:cNvPr id="13" name="Arrow 13"/>
          <p:cNvCxnSpPr/>
          <p:nvPr/>
        </p:nvCxnSpPr>
        <p:spPr>
          <a:xfrm>
            <a:off x="5440680" y="2587752"/>
            <a:ext cx="365760" cy="0"/>
          </a:xfrm>
          <a:prstGeom prst="line">
            <a:avLst/>
          </a:prstGeom>
          <a:ln w="24000">
            <a:solidFill>
              <a:srgbClr val="C084FC"/>
            </a:solidFill>
            <a:headEnd type="triangle"/>
          </a:ln>
        </p:spPr>
      </p:cxnSp>
      <p:sp>
        <p:nvSpPr>
          <p:cNvPr id="14" name="Shape 14"/>
          <p:cNvSpPr/>
          <p:nvPr/>
        </p:nvSpPr>
        <p:spPr>
          <a:xfrm>
            <a:off x="5897880" y="2011680"/>
            <a:ext cx="2057400" cy="1143000"/>
          </a:xfrm>
          <a:prstGeom prst="roundRect">
            <a:avLst/>
          </a:prstGeom>
          <a:solidFill>
            <a:srgbClr val="F3E8FF"/>
          </a:solidFill>
          <a:ln w="16000">
            <a:solidFill>
              <a:srgbClr val="A78BFA"/>
            </a:solidFill>
          </a:ln>
        </p:spPr>
        <p:txBody>
          <a:bodyPr/>
          <a:lstStyle/>
          <a:p/>
        </p:txBody>
      </p:sp>
      <p:sp>
        <p:nvSpPr>
          <p:cNvPr id="15" name="Text 15"/>
          <p:cNvSpPr txBox="1"/>
          <p:nvPr/>
        </p:nvSpPr>
        <p:spPr>
          <a:xfrm>
            <a:off x="6025896" y="2112264"/>
            <a:ext cx="180136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b="1" dirty="0">
                <a:solidFill>
                  <a:srgbClr val="A78BFA"/>
                </a:solidFill>
                <a:latin typeface="JetBrains Mono"/>
                <a:ea typeface="JetBrains Mono"/>
                <a:cs typeface="JetBrains Mono"/>
              </a:rPr>
              <a:t xml:space="preserve">обрабатываем ввод</a:t>
            </a:r>
            <a:endParaRPr lang="ru-RU" sz="1200" dirty="0"/>
          </a:p>
        </p:txBody>
      </p:sp>
      <p:sp>
        <p:nvSpPr>
          <p:cNvPr id="16" name="Text 16"/>
          <p:cNvSpPr txBox="1"/>
          <p:nvPr/>
        </p:nvSpPr>
        <p:spPr>
          <a:xfrm>
            <a:off x="6025896" y="2423160"/>
            <a:ext cx="1801368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не зависаем</a:t>
            </a:r>
            <a:endParaRPr lang="ru-RU" sz="1200" dirty="0"/>
          </a:p>
        </p:txBody>
      </p:sp>
      <p:cxnSp>
        <p:nvCxnSpPr>
          <p:cNvPr id="17" name="Arrow 17"/>
          <p:cNvCxnSpPr/>
          <p:nvPr/>
        </p:nvCxnSpPr>
        <p:spPr>
          <a:xfrm>
            <a:off x="8046720" y="2587752"/>
            <a:ext cx="365760" cy="0"/>
          </a:xfrm>
          <a:prstGeom prst="line">
            <a:avLst/>
          </a:prstGeom>
          <a:ln w="24000">
            <a:solidFill>
              <a:srgbClr val="C084FC"/>
            </a:solidFill>
            <a:headEnd type="triangle"/>
          </a:ln>
        </p:spPr>
      </p:cxnSp>
      <p:sp>
        <p:nvSpPr>
          <p:cNvPr id="18" name="Shape 18"/>
          <p:cNvSpPr/>
          <p:nvPr/>
        </p:nvSpPr>
        <p:spPr>
          <a:xfrm>
            <a:off x="8503920" y="2011680"/>
            <a:ext cx="2057400" cy="1143000"/>
          </a:xfrm>
          <a:prstGeom prst="roundRect">
            <a:avLst/>
          </a:prstGeom>
          <a:solidFill>
            <a:srgbClr val="F3E8FF"/>
          </a:solidFill>
          <a:ln w="16000">
            <a:solidFill>
              <a:srgbClr val="A78BFA"/>
            </a:solidFill>
          </a:ln>
        </p:spPr>
        <p:txBody>
          <a:bodyPr/>
          <a:lstStyle/>
          <a:p/>
        </p:txBody>
      </p:sp>
      <p:sp>
        <p:nvSpPr>
          <p:cNvPr id="19" name="Text 19"/>
          <p:cNvSpPr txBox="1"/>
          <p:nvPr/>
        </p:nvSpPr>
        <p:spPr>
          <a:xfrm>
            <a:off x="8631936" y="2112264"/>
            <a:ext cx="180136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b="1" dirty="0">
                <a:solidFill>
                  <a:srgbClr val="A78BFA"/>
                </a:solidFill>
                <a:latin typeface="JetBrains Mono"/>
                <a:ea typeface="JetBrains Mono"/>
                <a:cs typeface="JetBrains Mono"/>
              </a:rPr>
              <a:t xml:space="preserve">повторяем</a:t>
            </a:r>
            <a:endParaRPr lang="ru-RU" sz="1200" dirty="0"/>
          </a:p>
        </p:txBody>
      </p:sp>
      <p:sp>
        <p:nvSpPr>
          <p:cNvPr id="20" name="Text 20"/>
          <p:cNvSpPr txBox="1"/>
          <p:nvPr/>
        </p:nvSpPr>
        <p:spPr>
          <a:xfrm>
            <a:off x="8631936" y="2423160"/>
            <a:ext cx="1801368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пока готово</a:t>
            </a:r>
            <a:endParaRPr lang="ru-RU" sz="1200" dirty="0"/>
          </a:p>
        </p:txBody>
      </p:sp>
      <p:sp>
        <p:nvSpPr>
          <p:cNvPr id="21" name="Text 21"/>
          <p:cNvSpPr txBox="1"/>
          <p:nvPr/>
        </p:nvSpPr>
        <p:spPr>
          <a:xfrm>
            <a:off x="868680" y="4206240"/>
            <a:ext cx="9235440" cy="7498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ctr"/>
            <a:r>
              <a:rPr lang="ru-RU" sz="1700" dirty="0">
                <a:solidFill>
                  <a:srgbClr val="6B21A8"/>
                </a:solidFill>
                <a:latin typeface="JetBrains Mono"/>
                <a:ea typeface="JetBrains Mono"/>
                <a:cs typeface="JetBrains Mono"/>
              </a:rPr>
              <a:t xml:space="preserve">Современная отмена устроена похоже: поток сам регулярно проверяет «продолжать?»</a:t>
            </a:r>
            <a:endParaRPr lang="ru-RU" sz="1700" dirty="0"/>
          </a:p>
        </p:txBody>
      </p:sp>
      <p:sp>
        <p:nvSpPr>
          <p:cNvPr id="22" name="Page 22"/>
          <p:cNvSpPr txBox="1"/>
          <p:nvPr/>
        </p:nvSpPr>
        <p:spPr>
          <a:xfrm>
            <a:off x="10287000" y="6510528"/>
            <a:ext cx="6400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r"/>
            <a:r>
              <a:rPr lang="ru-RU" sz="900" dirty="0">
                <a:solidFill>
                  <a:srgbClr val="64748B"/>
                </a:solidFill>
                <a:latin typeface="JetBrains Mono"/>
                <a:ea typeface="JetBrains Mono"/>
                <a:cs typeface="JetBrains Mono"/>
              </a:rPr>
              <a:t xml:space="preserve">08</a:t>
            </a:r>
            <a:endParaRPr lang="ru-RU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 4"/>
          <p:cNvSpPr txBox="1"/>
          <p:nvPr/>
        </p:nvSpPr>
        <p:spPr>
          <a:xfrm>
            <a:off x="502920" y="201168"/>
            <a:ext cx="1065276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2400" b="1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Современный путь: отдельный поток</a:t>
            </a:r>
            <a:endParaRPr lang="ru-RU" sz="2400" dirty="0"/>
          </a:p>
        </p:txBody>
      </p:sp>
      <p:sp>
        <p:nvSpPr>
          <p:cNvPr id="5" name="Subtitle 5"/>
          <p:cNvSpPr txBox="1"/>
          <p:nvPr/>
        </p:nvSpPr>
        <p:spPr>
          <a:xfrm>
            <a:off x="530352" y="749808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100" dirty="0">
                <a:solidFill>
                  <a:srgbClr val="475569"/>
                </a:solidFill>
                <a:latin typeface="JetBrains Mono"/>
                <a:ea typeface="JetBrains Mono"/>
                <a:cs typeface="JetBrains Mono"/>
              </a:rPr>
              <a:t xml:space="preserve">Main остается отзывчивым, worker делает долгую работу</a:t>
            </a:r>
            <a:endParaRPr lang="ru-RU" sz="1100" dirty="0"/>
          </a:p>
        </p:txBody>
      </p:sp>
      <p:sp>
        <p:nvSpPr>
          <p:cNvPr id="6" name="Shape 6"/>
          <p:cNvSpPr/>
          <p:nvPr/>
        </p:nvSpPr>
        <p:spPr>
          <a:xfrm>
            <a:off x="868680" y="2011680"/>
            <a:ext cx="2788920" cy="1234440"/>
          </a:xfrm>
          <a:prstGeom prst="roundRect">
            <a:avLst/>
          </a:prstGeom>
          <a:solidFill>
            <a:srgbClr val="E0F2FE"/>
          </a:solidFill>
          <a:ln w="16000">
            <a:solidFill>
              <a:srgbClr val="38BDF8"/>
            </a:solidFill>
          </a:ln>
        </p:spPr>
        <p:txBody>
          <a:bodyPr/>
          <a:lstStyle/>
          <a:p/>
        </p:txBody>
      </p:sp>
      <p:sp>
        <p:nvSpPr>
          <p:cNvPr id="7" name="Text 7"/>
          <p:cNvSpPr txBox="1"/>
          <p:nvPr/>
        </p:nvSpPr>
        <p:spPr>
          <a:xfrm>
            <a:off x="996695" y="2112264"/>
            <a:ext cx="253288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b="1" dirty="0">
                <a:solidFill>
                  <a:srgbClr val="38BDF8"/>
                </a:solidFill>
                <a:latin typeface="JetBrains Mono"/>
                <a:ea typeface="JetBrains Mono"/>
                <a:cs typeface="JetBrains Mono"/>
              </a:rPr>
              <a:t xml:space="preserve">main thread</a:t>
            </a:r>
            <a:endParaRPr lang="ru-RU" sz="1200" dirty="0"/>
          </a:p>
        </p:txBody>
      </p:sp>
      <p:sp>
        <p:nvSpPr>
          <p:cNvPr id="8" name="Text 8"/>
          <p:cNvSpPr txBox="1"/>
          <p:nvPr/>
        </p:nvSpPr>
        <p:spPr>
          <a:xfrm>
            <a:off x="996695" y="2423160"/>
            <a:ext cx="2532887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события, update, render</a:t>
            </a:r>
            <a:endParaRPr lang="ru-RU" sz="1200" dirty="0"/>
          </a:p>
        </p:txBody>
      </p:sp>
      <p:sp>
        <p:nvSpPr>
          <p:cNvPr id="9" name="Shape 9"/>
          <p:cNvSpPr/>
          <p:nvPr/>
        </p:nvSpPr>
        <p:spPr>
          <a:xfrm>
            <a:off x="4434840" y="1417320"/>
            <a:ext cx="2788920" cy="1143000"/>
          </a:xfrm>
          <a:prstGeom prst="roundRect">
            <a:avLst/>
          </a:prstGeom>
          <a:solidFill>
            <a:srgbClr val="F3E8FF"/>
          </a:solidFill>
          <a:ln w="16000">
            <a:solidFill>
              <a:srgbClr val="A78BFA"/>
            </a:solidFill>
          </a:ln>
        </p:spPr>
        <p:txBody>
          <a:bodyPr/>
          <a:lstStyle/>
          <a:p/>
        </p:txBody>
      </p:sp>
      <p:sp>
        <p:nvSpPr>
          <p:cNvPr id="10" name="Text 10"/>
          <p:cNvSpPr txBox="1"/>
          <p:nvPr/>
        </p:nvSpPr>
        <p:spPr>
          <a:xfrm>
            <a:off x="4562855" y="1517904"/>
            <a:ext cx="253288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b="1" dirty="0">
                <a:solidFill>
                  <a:srgbClr val="A78BFA"/>
                </a:solidFill>
                <a:latin typeface="JetBrains Mono"/>
                <a:ea typeface="JetBrains Mono"/>
                <a:cs typeface="JetBrains Mono"/>
              </a:rPr>
              <a:t xml:space="preserve">worker thread</a:t>
            </a:r>
            <a:endParaRPr lang="ru-RU" sz="1200" dirty="0"/>
          </a:p>
        </p:txBody>
      </p:sp>
      <p:sp>
        <p:nvSpPr>
          <p:cNvPr id="11" name="Text 11"/>
          <p:cNvSpPr txBox="1"/>
          <p:nvPr/>
        </p:nvSpPr>
        <p:spPr>
          <a:xfrm>
            <a:off x="4562855" y="1828800"/>
            <a:ext cx="2532887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читает и парсит ресурсы</a:t>
            </a:r>
            <a:endParaRPr lang="ru-RU" sz="1200" dirty="0"/>
          </a:p>
        </p:txBody>
      </p:sp>
      <p:sp>
        <p:nvSpPr>
          <p:cNvPr id="12" name="Shape 12"/>
          <p:cNvSpPr/>
          <p:nvPr/>
        </p:nvSpPr>
        <p:spPr>
          <a:xfrm>
            <a:off x="7635240" y="2834640"/>
            <a:ext cx="2606040" cy="1143000"/>
          </a:xfrm>
          <a:prstGeom prst="roundRect">
            <a:avLst/>
          </a:prstGeom>
          <a:solidFill>
            <a:srgbClr val="DCFCE7"/>
          </a:solidFill>
          <a:ln w="16000">
            <a:solidFill>
              <a:srgbClr val="34D399"/>
            </a:solidFill>
          </a:ln>
        </p:spPr>
        <p:txBody>
          <a:bodyPr/>
          <a:lstStyle/>
          <a:p/>
        </p:txBody>
      </p:sp>
      <p:sp>
        <p:nvSpPr>
          <p:cNvPr id="13" name="Text 13"/>
          <p:cNvSpPr txBox="1"/>
          <p:nvPr/>
        </p:nvSpPr>
        <p:spPr>
          <a:xfrm>
            <a:off x="7763256" y="2935224"/>
            <a:ext cx="235000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b="1" dirty="0">
                <a:solidFill>
                  <a:srgbClr val="34D399"/>
                </a:solidFill>
                <a:latin typeface="JetBrains Mono"/>
                <a:ea typeface="JetBrains Mono"/>
                <a:cs typeface="JetBrains Mono"/>
              </a:rPr>
              <a:t xml:space="preserve">main queue</a:t>
            </a:r>
            <a:endParaRPr lang="ru-RU" sz="1200" dirty="0"/>
          </a:p>
        </p:txBody>
      </p:sp>
      <p:sp>
        <p:nvSpPr>
          <p:cNvPr id="14" name="Text 14"/>
          <p:cNvSpPr txBox="1"/>
          <p:nvPr/>
        </p:nvSpPr>
        <p:spPr>
          <a:xfrm>
            <a:off x="7763256" y="3246120"/>
            <a:ext cx="2350008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сигнал «уровень готов»</a:t>
            </a:r>
            <a:endParaRPr lang="ru-RU" sz="1200" dirty="0"/>
          </a:p>
        </p:txBody>
      </p:sp>
      <p:cxnSp>
        <p:nvCxnSpPr>
          <p:cNvPr id="15" name="Arrow 15"/>
          <p:cNvCxnSpPr/>
          <p:nvPr/>
        </p:nvCxnSpPr>
        <p:spPr>
          <a:xfrm>
            <a:off x="3703320" y="2532888"/>
            <a:ext cx="640080" cy="-475488"/>
          </a:xfrm>
          <a:prstGeom prst="line">
            <a:avLst/>
          </a:prstGeom>
          <a:ln w="24000">
            <a:solidFill>
              <a:srgbClr val="7DD3FC"/>
            </a:solidFill>
            <a:headEnd type="triangle"/>
          </a:ln>
        </p:spPr>
      </p:cxnSp>
      <p:cxnSp>
        <p:nvCxnSpPr>
          <p:cNvPr id="16" name="Arrow 16"/>
          <p:cNvCxnSpPr/>
          <p:nvPr/>
        </p:nvCxnSpPr>
        <p:spPr>
          <a:xfrm>
            <a:off x="7269480" y="2057400"/>
            <a:ext cx="365760" cy="1188720"/>
          </a:xfrm>
          <a:prstGeom prst="line">
            <a:avLst/>
          </a:prstGeom>
          <a:ln w="24000">
            <a:solidFill>
              <a:srgbClr val="34D399"/>
            </a:solidFill>
            <a:headEnd type="triangle"/>
          </a:ln>
        </p:spPr>
      </p:cxnSp>
      <p:sp>
        <p:nvSpPr>
          <p:cNvPr id="17" name="Page 17"/>
          <p:cNvSpPr txBox="1"/>
          <p:nvPr/>
        </p:nvSpPr>
        <p:spPr>
          <a:xfrm>
            <a:off x="10287000" y="6510528"/>
            <a:ext cx="6400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r"/>
            <a:r>
              <a:rPr lang="ru-RU" sz="900" dirty="0">
                <a:solidFill>
                  <a:srgbClr val="64748B"/>
                </a:solidFill>
                <a:latin typeface="JetBrains Mono"/>
                <a:ea typeface="JetBrains Mono"/>
                <a:cs typeface="JetBrains Mono"/>
              </a:rPr>
              <a:t xml:space="preserve">09</a:t>
            </a:r>
            <a:endParaRPr lang="ru-RU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 4"/>
          <p:cNvSpPr txBox="1"/>
          <p:nvPr/>
        </p:nvSpPr>
        <p:spPr>
          <a:xfrm>
            <a:off x="502920" y="201168"/>
            <a:ext cx="1065276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2400" b="1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Почему «просто поток» быстро усложняется</a:t>
            </a:r>
            <a:endParaRPr lang="ru-RU" sz="2400" dirty="0"/>
          </a:p>
        </p:txBody>
      </p:sp>
      <p:sp>
        <p:nvSpPr>
          <p:cNvPr id="5" name="Subtitle 5"/>
          <p:cNvSpPr txBox="1"/>
          <p:nvPr/>
        </p:nvSpPr>
        <p:spPr>
          <a:xfrm>
            <a:off x="530352" y="749808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100" dirty="0">
                <a:solidFill>
                  <a:srgbClr val="475569"/>
                </a:solidFill>
                <a:latin typeface="JetBrains Mono"/>
                <a:ea typeface="JetBrains Mono"/>
                <a:cs typeface="JetBrains Mono"/>
              </a:rPr>
              <a:t xml:space="preserve">Появляются жизненный цикл, ошибки и синхронизация</a:t>
            </a:r>
            <a:endParaRPr lang="ru-RU" sz="1100" dirty="0"/>
          </a:p>
        </p:txBody>
      </p:sp>
      <p:sp>
        <p:nvSpPr>
          <p:cNvPr id="6" name="Shape 6"/>
          <p:cNvSpPr/>
          <p:nvPr/>
        </p:nvSpPr>
        <p:spPr>
          <a:xfrm>
            <a:off x="640080" y="1325880"/>
            <a:ext cx="2971800" cy="1143000"/>
          </a:xfrm>
          <a:prstGeom prst="roundRect">
            <a:avLst/>
          </a:prstGeom>
          <a:solidFill>
            <a:srgbClr val="FFE4E6"/>
          </a:solidFill>
          <a:ln w="16000">
            <a:solidFill>
              <a:srgbClr val="FB7185"/>
            </a:solidFill>
          </a:ln>
        </p:spPr>
        <p:txBody>
          <a:bodyPr/>
          <a:lstStyle/>
          <a:p/>
        </p:txBody>
      </p:sp>
      <p:sp>
        <p:nvSpPr>
          <p:cNvPr id="7" name="Text 7"/>
          <p:cNvSpPr txBox="1"/>
          <p:nvPr/>
        </p:nvSpPr>
        <p:spPr>
          <a:xfrm>
            <a:off x="768096" y="1426464"/>
            <a:ext cx="271576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b="1" dirty="0">
                <a:solidFill>
                  <a:srgbClr val="FB7185"/>
                </a:solidFill>
                <a:latin typeface="JetBrains Mono"/>
                <a:ea typeface="JetBrains Mono"/>
                <a:cs typeface="JetBrains Mono"/>
              </a:rPr>
              <a:t xml:space="preserve">экран закрыт</a:t>
            </a:r>
            <a:endParaRPr lang="ru-RU" sz="1200" dirty="0"/>
          </a:p>
        </p:txBody>
      </p:sp>
      <p:sp>
        <p:nvSpPr>
          <p:cNvPr id="8" name="Text 8"/>
          <p:cNvSpPr txBox="1"/>
          <p:nvPr/>
        </p:nvSpPr>
        <p:spPr>
          <a:xfrm>
            <a:off x="768096" y="1737360"/>
            <a:ext cx="2715768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объекты уже уничтожены</a:t>
            </a:r>
            <a:endParaRPr lang="ru-RU" sz="1200" dirty="0"/>
          </a:p>
        </p:txBody>
      </p:sp>
      <p:sp>
        <p:nvSpPr>
          <p:cNvPr id="9" name="Shape 9"/>
          <p:cNvSpPr/>
          <p:nvPr/>
        </p:nvSpPr>
        <p:spPr>
          <a:xfrm>
            <a:off x="4160520" y="1325880"/>
            <a:ext cx="2971800" cy="1143000"/>
          </a:xfrm>
          <a:prstGeom prst="roundRect">
            <a:avLst/>
          </a:prstGeom>
          <a:solidFill>
            <a:srgbClr val="FFE4E6"/>
          </a:solidFill>
          <a:ln w="16000">
            <a:solidFill>
              <a:srgbClr val="FB7185"/>
            </a:solidFill>
          </a:ln>
        </p:spPr>
        <p:txBody>
          <a:bodyPr/>
          <a:lstStyle/>
          <a:p/>
        </p:txBody>
      </p:sp>
      <p:sp>
        <p:nvSpPr>
          <p:cNvPr id="10" name="Text 10"/>
          <p:cNvSpPr txBox="1"/>
          <p:nvPr/>
        </p:nvSpPr>
        <p:spPr>
          <a:xfrm>
            <a:off x="4288536" y="1426464"/>
            <a:ext cx="271576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b="1" dirty="0">
                <a:solidFill>
                  <a:srgbClr val="FB7185"/>
                </a:solidFill>
                <a:latin typeface="JetBrains Mono"/>
                <a:ea typeface="JetBrains Mono"/>
                <a:cs typeface="JetBrains Mono"/>
              </a:rPr>
              <a:t xml:space="preserve">файл не прочитан</a:t>
            </a:r>
            <a:endParaRPr lang="ru-RU" sz="1200" dirty="0"/>
          </a:p>
        </p:txBody>
      </p:sp>
      <p:sp>
        <p:nvSpPr>
          <p:cNvPr id="11" name="Text 11"/>
          <p:cNvSpPr txBox="1"/>
          <p:nvPr/>
        </p:nvSpPr>
        <p:spPr>
          <a:xfrm>
            <a:off x="4288536" y="1737360"/>
            <a:ext cx="2715768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исключение ушло в thread</a:t>
            </a:r>
            <a:endParaRPr lang="ru-RU" sz="1200" dirty="0"/>
          </a:p>
        </p:txBody>
      </p:sp>
      <p:sp>
        <p:nvSpPr>
          <p:cNvPr id="12" name="Shape 12"/>
          <p:cNvSpPr/>
          <p:nvPr/>
        </p:nvSpPr>
        <p:spPr>
          <a:xfrm>
            <a:off x="7680960" y="1325880"/>
            <a:ext cx="2971800" cy="1143000"/>
          </a:xfrm>
          <a:prstGeom prst="roundRect">
            <a:avLst/>
          </a:prstGeom>
          <a:solidFill>
            <a:srgbClr val="FFE4E6"/>
          </a:solidFill>
          <a:ln w="16000">
            <a:solidFill>
              <a:srgbClr val="FB7185"/>
            </a:solidFill>
          </a:ln>
        </p:spPr>
        <p:txBody>
          <a:bodyPr/>
          <a:lstStyle/>
          <a:p/>
        </p:txBody>
      </p:sp>
      <p:sp>
        <p:nvSpPr>
          <p:cNvPr id="13" name="Text 13"/>
          <p:cNvSpPr txBox="1"/>
          <p:nvPr/>
        </p:nvSpPr>
        <p:spPr>
          <a:xfrm>
            <a:off x="7808976" y="1426464"/>
            <a:ext cx="271576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b="1" dirty="0">
                <a:solidFill>
                  <a:srgbClr val="FB7185"/>
                </a:solidFill>
                <a:latin typeface="JetBrains Mono"/>
                <a:ea typeface="JetBrains Mono"/>
                <a:cs typeface="JetBrains Mono"/>
              </a:rPr>
              <a:t xml:space="preserve">вечный цикл</a:t>
            </a:r>
            <a:endParaRPr lang="ru-RU" sz="1200" dirty="0"/>
          </a:p>
        </p:txBody>
      </p:sp>
      <p:sp>
        <p:nvSpPr>
          <p:cNvPr id="14" name="Text 14"/>
          <p:cNvSpPr txBox="1"/>
          <p:nvPr/>
        </p:nvSpPr>
        <p:spPr>
          <a:xfrm>
            <a:off x="7808976" y="1737360"/>
            <a:ext cx="2715768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готовность не придет</a:t>
            </a:r>
            <a:endParaRPr lang="ru-RU" sz="1200" dirty="0"/>
          </a:p>
        </p:txBody>
      </p:sp>
      <p:sp>
        <p:nvSpPr>
          <p:cNvPr id="15" name="Shape 15"/>
          <p:cNvSpPr/>
          <p:nvPr/>
        </p:nvSpPr>
        <p:spPr>
          <a:xfrm>
            <a:off x="640080" y="3017520"/>
            <a:ext cx="2971800" cy="1143000"/>
          </a:xfrm>
          <a:prstGeom prst="roundRect">
            <a:avLst/>
          </a:prstGeom>
          <a:solidFill>
            <a:srgbClr val="FFE4E6"/>
          </a:solidFill>
          <a:ln w="16000">
            <a:solidFill>
              <a:srgbClr val="FB7185"/>
            </a:solidFill>
          </a:ln>
        </p:spPr>
        <p:txBody>
          <a:bodyPr/>
          <a:lstStyle/>
          <a:p/>
        </p:txBody>
      </p:sp>
      <p:sp>
        <p:nvSpPr>
          <p:cNvPr id="16" name="Text 16"/>
          <p:cNvSpPr txBox="1"/>
          <p:nvPr/>
        </p:nvSpPr>
        <p:spPr>
          <a:xfrm>
            <a:off x="768096" y="3118103"/>
            <a:ext cx="271576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b="1" dirty="0">
                <a:solidFill>
                  <a:srgbClr val="FB7185"/>
                </a:solidFill>
                <a:latin typeface="JetBrains Mono"/>
                <a:ea typeface="JetBrains Mono"/>
                <a:cs typeface="JetBrains Mono"/>
              </a:rPr>
              <a:t xml:space="preserve">mutex захвачен</a:t>
            </a:r>
            <a:endParaRPr lang="ru-RU" sz="1200" dirty="0"/>
          </a:p>
        </p:txBody>
      </p:sp>
      <p:sp>
        <p:nvSpPr>
          <p:cNvPr id="17" name="Text 17"/>
          <p:cNvSpPr txBox="1"/>
          <p:nvPr/>
        </p:nvSpPr>
        <p:spPr>
          <a:xfrm>
            <a:off x="768096" y="3429000"/>
            <a:ext cx="2715768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join или kill ломает всех</a:t>
            </a:r>
            <a:endParaRPr lang="ru-RU" sz="1200" dirty="0"/>
          </a:p>
        </p:txBody>
      </p:sp>
      <p:sp>
        <p:nvSpPr>
          <p:cNvPr id="18" name="Shape 18"/>
          <p:cNvSpPr/>
          <p:nvPr/>
        </p:nvSpPr>
        <p:spPr>
          <a:xfrm>
            <a:off x="4160520" y="3017520"/>
            <a:ext cx="2971800" cy="1143000"/>
          </a:xfrm>
          <a:prstGeom prst="roundRect">
            <a:avLst/>
          </a:prstGeom>
          <a:solidFill>
            <a:srgbClr val="FFE4E6"/>
          </a:solidFill>
          <a:ln w="16000">
            <a:solidFill>
              <a:srgbClr val="FB7185"/>
            </a:solidFill>
          </a:ln>
        </p:spPr>
        <p:txBody>
          <a:bodyPr/>
          <a:lstStyle/>
          <a:p/>
        </p:txBody>
      </p:sp>
      <p:sp>
        <p:nvSpPr>
          <p:cNvPr id="19" name="Text 19"/>
          <p:cNvSpPr txBox="1"/>
          <p:nvPr/>
        </p:nvSpPr>
        <p:spPr>
          <a:xfrm>
            <a:off x="4288536" y="3118103"/>
            <a:ext cx="271576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b="1" dirty="0">
                <a:solidFill>
                  <a:srgbClr val="FB7185"/>
                </a:solidFill>
                <a:latin typeface="JetBrains Mono"/>
                <a:ea typeface="JetBrains Mono"/>
                <a:cs typeface="JetBrains Mono"/>
              </a:rPr>
              <a:t xml:space="preserve">render ждет texture</a:t>
            </a:r>
            <a:endParaRPr lang="ru-RU" sz="1200" dirty="0"/>
          </a:p>
        </p:txBody>
      </p:sp>
      <p:sp>
        <p:nvSpPr>
          <p:cNvPr id="20" name="Text 20"/>
          <p:cNvSpPr txBox="1"/>
          <p:nvPr/>
        </p:nvSpPr>
        <p:spPr>
          <a:xfrm>
            <a:off x="4288536" y="3429000"/>
            <a:ext cx="2715768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main ждет закрытие</a:t>
            </a:r>
            <a:endParaRPr lang="ru-RU" sz="1200" dirty="0"/>
          </a:p>
        </p:txBody>
      </p:sp>
      <p:sp>
        <p:nvSpPr>
          <p:cNvPr id="21" name="Shape 21"/>
          <p:cNvSpPr/>
          <p:nvPr/>
        </p:nvSpPr>
        <p:spPr>
          <a:xfrm>
            <a:off x="7680960" y="3017520"/>
            <a:ext cx="2971800" cy="1143000"/>
          </a:xfrm>
          <a:prstGeom prst="roundRect">
            <a:avLst/>
          </a:prstGeom>
          <a:solidFill>
            <a:srgbClr val="FFE4E6"/>
          </a:solidFill>
          <a:ln w="16000">
            <a:solidFill>
              <a:srgbClr val="FB7185"/>
            </a:solidFill>
          </a:ln>
        </p:spPr>
        <p:txBody>
          <a:bodyPr/>
          <a:lstStyle/>
          <a:p/>
        </p:txBody>
      </p:sp>
      <p:sp>
        <p:nvSpPr>
          <p:cNvPr id="22" name="Text 22"/>
          <p:cNvSpPr txBox="1"/>
          <p:nvPr/>
        </p:nvSpPr>
        <p:spPr>
          <a:xfrm>
            <a:off x="7808976" y="3118103"/>
            <a:ext cx="271576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b="1" dirty="0">
                <a:solidFill>
                  <a:srgbClr val="FB7185"/>
                </a:solidFill>
                <a:latin typeface="JetBrains Mono"/>
                <a:ea typeface="JetBrains Mono"/>
                <a:cs typeface="JetBrains Mono"/>
              </a:rPr>
              <a:t xml:space="preserve">очередь main</a:t>
            </a:r>
            <a:endParaRPr lang="ru-RU" sz="1200" dirty="0"/>
          </a:p>
        </p:txBody>
      </p:sp>
      <p:sp>
        <p:nvSpPr>
          <p:cNvPr id="23" name="Text 23"/>
          <p:cNvSpPr txBox="1"/>
          <p:nvPr/>
        </p:nvSpPr>
        <p:spPr>
          <a:xfrm>
            <a:off x="7808976" y="3429000"/>
            <a:ext cx="2715768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мелкие задачи стали 60/сек</a:t>
            </a:r>
            <a:endParaRPr lang="ru-RU" sz="1200" dirty="0"/>
          </a:p>
        </p:txBody>
      </p:sp>
      <p:sp>
        <p:nvSpPr>
          <p:cNvPr id="24" name="Page 24"/>
          <p:cNvSpPr txBox="1"/>
          <p:nvPr/>
        </p:nvSpPr>
        <p:spPr>
          <a:xfrm>
            <a:off x="10287000" y="6510528"/>
            <a:ext cx="6400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r"/>
            <a:r>
              <a:rPr lang="ru-RU" sz="900" dirty="0">
                <a:solidFill>
                  <a:srgbClr val="64748B"/>
                </a:solidFill>
                <a:latin typeface="JetBrains Mono"/>
                <a:ea typeface="JetBrains Mono"/>
                <a:cs typeface="JetBrains Mono"/>
              </a:rPr>
              <a:t xml:space="preserve">10</a:t>
            </a:r>
            <a:endParaRPr lang="ru-RU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 4"/>
          <p:cNvSpPr txBox="1"/>
          <p:nvPr/>
        </p:nvSpPr>
        <p:spPr>
          <a:xfrm>
            <a:off x="502920" y="201168"/>
            <a:ext cx="1065276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2400" b="1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Если main завершился раньше worker</a:t>
            </a:r>
            <a:endParaRPr lang="ru-RU" sz="2400" dirty="0"/>
          </a:p>
        </p:txBody>
      </p:sp>
      <p:sp>
        <p:nvSpPr>
          <p:cNvPr id="5" name="Subtitle 5"/>
          <p:cNvSpPr txBox="1"/>
          <p:nvPr/>
        </p:nvSpPr>
        <p:spPr>
          <a:xfrm>
            <a:off x="530352" y="749808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100" dirty="0">
                <a:solidFill>
                  <a:srgbClr val="475569"/>
                </a:solidFill>
                <a:latin typeface="JetBrains Mono"/>
                <a:ea typeface="JetBrains Mono"/>
                <a:cs typeface="JetBrains Mono"/>
              </a:rPr>
              <a:t xml:space="preserve">ОС не делает красивую отмену вашего кода</a:t>
            </a:r>
            <a:endParaRPr lang="ru-RU" sz="1100" dirty="0"/>
          </a:p>
        </p:txBody>
      </p:sp>
      <p:sp>
        <p:nvSpPr>
          <p:cNvPr id="6" name="Shape 6"/>
          <p:cNvSpPr/>
          <p:nvPr/>
        </p:nvSpPr>
        <p:spPr>
          <a:xfrm>
            <a:off x="914400" y="1737360"/>
            <a:ext cx="3017520" cy="1234440"/>
          </a:xfrm>
          <a:prstGeom prst="roundRect">
            <a:avLst/>
          </a:prstGeom>
          <a:solidFill>
            <a:srgbClr val="FFE4E6"/>
          </a:solidFill>
          <a:ln w="16000">
            <a:solidFill>
              <a:srgbClr val="FB7185"/>
            </a:solidFill>
          </a:ln>
        </p:spPr>
        <p:txBody>
          <a:bodyPr/>
          <a:lstStyle/>
          <a:p/>
        </p:txBody>
      </p:sp>
      <p:sp>
        <p:nvSpPr>
          <p:cNvPr id="7" name="Text 7"/>
          <p:cNvSpPr txBox="1"/>
          <p:nvPr/>
        </p:nvSpPr>
        <p:spPr>
          <a:xfrm>
            <a:off x="1042416" y="1837943"/>
            <a:ext cx="276148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b="1" dirty="0">
                <a:solidFill>
                  <a:srgbClr val="FB7185"/>
                </a:solidFill>
                <a:latin typeface="JetBrains Mono"/>
                <a:ea typeface="JetBrains Mono"/>
                <a:cs typeface="JetBrains Mono"/>
              </a:rPr>
              <a:t xml:space="preserve">main умер</a:t>
            </a:r>
            <a:endParaRPr lang="ru-RU" sz="1200" dirty="0"/>
          </a:p>
        </p:txBody>
      </p:sp>
      <p:sp>
        <p:nvSpPr>
          <p:cNvPr id="8" name="Text 8"/>
          <p:cNvSpPr txBox="1"/>
          <p:nvPr/>
        </p:nvSpPr>
        <p:spPr>
          <a:xfrm>
            <a:off x="1042416" y="2148840"/>
            <a:ext cx="2761487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объекты и глобальные</a:t>
            </a:r>
            <a:endParaRPr lang="ru-RU" sz="1200" dirty="0"/>
          </a:p>
          <a:p>
            <a:pPr algn="l"/>
            <a:r>
              <a:rPr lang="ru-RU" sz="12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ресурсы уходят</a:t>
            </a:r>
            <a:endParaRPr lang="ru-RU" sz="1200" dirty="0"/>
          </a:p>
        </p:txBody>
      </p:sp>
      <p:sp>
        <p:nvSpPr>
          <p:cNvPr id="9" name="Shape 9"/>
          <p:cNvSpPr/>
          <p:nvPr/>
        </p:nvSpPr>
        <p:spPr>
          <a:xfrm>
            <a:off x="4434840" y="1737360"/>
            <a:ext cx="3017520" cy="1234440"/>
          </a:xfrm>
          <a:prstGeom prst="roundRect">
            <a:avLst/>
          </a:prstGeom>
          <a:solidFill>
            <a:srgbClr val="FFE4E6"/>
          </a:solidFill>
          <a:ln w="16000">
            <a:solidFill>
              <a:srgbClr val="FB7185"/>
            </a:solidFill>
          </a:ln>
        </p:spPr>
        <p:txBody>
          <a:bodyPr/>
          <a:lstStyle/>
          <a:p/>
        </p:txBody>
      </p:sp>
      <p:sp>
        <p:nvSpPr>
          <p:cNvPr id="10" name="Text 10"/>
          <p:cNvSpPr txBox="1"/>
          <p:nvPr/>
        </p:nvSpPr>
        <p:spPr>
          <a:xfrm>
            <a:off x="4562855" y="1837943"/>
            <a:ext cx="276148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b="1" dirty="0">
                <a:solidFill>
                  <a:srgbClr val="FB7185"/>
                </a:solidFill>
                <a:latin typeface="JetBrains Mono"/>
                <a:ea typeface="JetBrains Mono"/>
                <a:cs typeface="JetBrains Mono"/>
              </a:rPr>
              <a:t xml:space="preserve">worker снят</a:t>
            </a:r>
            <a:endParaRPr lang="ru-RU" sz="1200" dirty="0"/>
          </a:p>
        </p:txBody>
      </p:sp>
      <p:sp>
        <p:nvSpPr>
          <p:cNvPr id="11" name="Text 11"/>
          <p:cNvSpPr txBox="1"/>
          <p:nvPr/>
        </p:nvSpPr>
        <p:spPr>
          <a:xfrm>
            <a:off x="4562855" y="2148840"/>
            <a:ext cx="2761487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ядро просто прекращает</a:t>
            </a:r>
            <a:endParaRPr lang="ru-RU" sz="1200" dirty="0"/>
          </a:p>
          <a:p>
            <a:pPr algn="l"/>
            <a:r>
              <a:rPr lang="ru-RU" sz="12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выполнение</a:t>
            </a:r>
            <a:endParaRPr lang="ru-RU" sz="1200" dirty="0"/>
          </a:p>
        </p:txBody>
      </p:sp>
      <p:sp>
        <p:nvSpPr>
          <p:cNvPr id="12" name="Shape 12"/>
          <p:cNvSpPr/>
          <p:nvPr/>
        </p:nvSpPr>
        <p:spPr>
          <a:xfrm>
            <a:off x="7955279" y="1737360"/>
            <a:ext cx="2514600" cy="1234440"/>
          </a:xfrm>
          <a:prstGeom prst="roundRect">
            <a:avLst/>
          </a:prstGeom>
          <a:solidFill>
            <a:srgbClr val="FFE4E6"/>
          </a:solidFill>
          <a:ln w="16000">
            <a:solidFill>
              <a:srgbClr val="FB7185"/>
            </a:solidFill>
          </a:ln>
        </p:spPr>
        <p:txBody>
          <a:bodyPr/>
          <a:lstStyle/>
          <a:p/>
        </p:txBody>
      </p:sp>
      <p:sp>
        <p:nvSpPr>
          <p:cNvPr id="13" name="Text 13"/>
          <p:cNvSpPr txBox="1"/>
          <p:nvPr/>
        </p:nvSpPr>
        <p:spPr>
          <a:xfrm>
            <a:off x="8083296" y="1837943"/>
            <a:ext cx="225856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b="1" dirty="0">
                <a:solidFill>
                  <a:srgbClr val="FB7185"/>
                </a:solidFill>
                <a:latin typeface="JetBrains Mono"/>
                <a:ea typeface="JetBrains Mono"/>
                <a:cs typeface="JetBrains Mono"/>
              </a:rPr>
              <a:t xml:space="preserve">инварианты?</a:t>
            </a:r>
            <a:endParaRPr lang="ru-RU" sz="1200" dirty="0"/>
          </a:p>
        </p:txBody>
      </p:sp>
      <p:sp>
        <p:nvSpPr>
          <p:cNvPr id="14" name="Text 14"/>
          <p:cNvSpPr txBox="1"/>
          <p:nvPr/>
        </p:nvSpPr>
        <p:spPr>
          <a:xfrm>
            <a:off x="8083296" y="2148840"/>
            <a:ext cx="2258568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не гарантированы</a:t>
            </a:r>
            <a:endParaRPr lang="ru-RU" sz="1200" dirty="0"/>
          </a:p>
        </p:txBody>
      </p:sp>
      <p:cxnSp>
        <p:nvCxnSpPr>
          <p:cNvPr id="15" name="Arrow 15"/>
          <p:cNvCxnSpPr/>
          <p:nvPr/>
        </p:nvCxnSpPr>
        <p:spPr>
          <a:xfrm>
            <a:off x="3977639" y="2359152"/>
            <a:ext cx="365761" cy="0"/>
          </a:xfrm>
          <a:prstGeom prst="line">
            <a:avLst/>
          </a:prstGeom>
          <a:ln w="24000">
            <a:solidFill>
              <a:srgbClr val="FB7185"/>
            </a:solidFill>
            <a:headEnd type="triangle"/>
          </a:ln>
        </p:spPr>
      </p:cxnSp>
      <p:cxnSp>
        <p:nvCxnSpPr>
          <p:cNvPr id="16" name="Arrow 16"/>
          <p:cNvCxnSpPr/>
          <p:nvPr/>
        </p:nvCxnSpPr>
        <p:spPr>
          <a:xfrm>
            <a:off x="7498079" y="2359152"/>
            <a:ext cx="365761" cy="0"/>
          </a:xfrm>
          <a:prstGeom prst="line">
            <a:avLst/>
          </a:prstGeom>
          <a:ln w="24000">
            <a:solidFill>
              <a:srgbClr val="FB7185"/>
            </a:solidFill>
            <a:headEnd type="triangle"/>
          </a:ln>
        </p:spPr>
      </p:cxnSp>
      <p:sp>
        <p:nvSpPr>
          <p:cNvPr id="17" name="Text 17"/>
          <p:cNvSpPr txBox="1"/>
          <p:nvPr/>
        </p:nvSpPr>
        <p:spPr>
          <a:xfrm>
            <a:off x="868680" y="4041648"/>
            <a:ext cx="941832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ctr"/>
            <a:r>
              <a:rPr lang="ru-RU" sz="1600" dirty="0">
                <a:solidFill>
                  <a:srgbClr val="991B1B"/>
                </a:solidFill>
                <a:latin typeface="JetBrains Mono"/>
                <a:ea typeface="JetBrains Mono"/>
                <a:cs typeface="JetBrains Mono"/>
              </a:rPr>
              <a:t xml:space="preserve">Файл кэша, лог, mutex, OpenGL context: всё может остаться в промежуточном состоянии.</a:t>
            </a:r>
            <a:endParaRPr lang="ru-RU" sz="1600" dirty="0"/>
          </a:p>
        </p:txBody>
      </p:sp>
      <p:sp>
        <p:nvSpPr>
          <p:cNvPr id="18" name="Page 18"/>
          <p:cNvSpPr txBox="1"/>
          <p:nvPr/>
        </p:nvSpPr>
        <p:spPr>
          <a:xfrm>
            <a:off x="10287000" y="6510528"/>
            <a:ext cx="6400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r"/>
            <a:r>
              <a:rPr lang="ru-RU" sz="900" dirty="0">
                <a:solidFill>
                  <a:srgbClr val="64748B"/>
                </a:solidFill>
                <a:latin typeface="JetBrains Mono"/>
                <a:ea typeface="JetBrains Mono"/>
                <a:cs typeface="JetBrains Mono"/>
              </a:rPr>
              <a:t xml:space="preserve">11</a:t>
            </a:r>
            <a:endParaRPr lang="ru-RU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 4"/>
          <p:cNvSpPr txBox="1"/>
          <p:nvPr/>
        </p:nvSpPr>
        <p:spPr>
          <a:xfrm>
            <a:off x="502920" y="201168"/>
            <a:ext cx="1065276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2400" b="1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join() тоже может быть проблемой</a:t>
            </a:r>
            <a:endParaRPr lang="ru-RU" sz="2400" dirty="0"/>
          </a:p>
        </p:txBody>
      </p:sp>
      <p:sp>
        <p:nvSpPr>
          <p:cNvPr id="5" name="Subtitle 5"/>
          <p:cNvSpPr txBox="1"/>
          <p:nvPr/>
        </p:nvSpPr>
        <p:spPr>
          <a:xfrm>
            <a:off x="530352" y="749808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100" dirty="0">
                <a:solidFill>
                  <a:srgbClr val="475569"/>
                </a:solidFill>
                <a:latin typeface="JetBrains Mono"/>
                <a:ea typeface="JetBrains Mono"/>
                <a:cs typeface="JetBrains Mono"/>
              </a:rPr>
              <a:t xml:space="preserve">Корректность не должна превращаться в зависание при выходе</a:t>
            </a:r>
            <a:endParaRPr lang="ru-RU" sz="1100" dirty="0"/>
          </a:p>
        </p:txBody>
      </p:sp>
      <p:sp>
        <p:nvSpPr>
          <p:cNvPr id="6" name="Shape 6"/>
          <p:cNvSpPr/>
          <p:nvPr/>
        </p:nvSpPr>
        <p:spPr>
          <a:xfrm>
            <a:off x="914400" y="1645920"/>
            <a:ext cx="2971800" cy="1234440"/>
          </a:xfrm>
          <a:prstGeom prst="roundRect">
            <a:avLst/>
          </a:prstGeom>
          <a:solidFill>
            <a:srgbClr val="FEF3C7"/>
          </a:solidFill>
          <a:ln w="16000">
            <a:solidFill>
              <a:srgbClr val="FBBF24"/>
            </a:solidFill>
          </a:ln>
        </p:spPr>
        <p:txBody>
          <a:bodyPr/>
          <a:lstStyle/>
          <a:p/>
        </p:txBody>
      </p:sp>
      <p:sp>
        <p:nvSpPr>
          <p:cNvPr id="7" name="Text 7"/>
          <p:cNvSpPr txBox="1"/>
          <p:nvPr/>
        </p:nvSpPr>
        <p:spPr>
          <a:xfrm>
            <a:off x="1042416" y="1746504"/>
            <a:ext cx="271576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b="1" dirty="0">
                <a:solidFill>
                  <a:srgbClr val="FBBF24"/>
                </a:solidFill>
                <a:latin typeface="JetBrains Mono"/>
                <a:ea typeface="JetBrains Mono"/>
                <a:cs typeface="JetBrains Mono"/>
              </a:rPr>
              <a:t xml:space="preserve">пользователь закрывает</a:t>
            </a:r>
            <a:endParaRPr lang="ru-RU" sz="1200" dirty="0"/>
          </a:p>
        </p:txBody>
      </p:sp>
      <p:sp>
        <p:nvSpPr>
          <p:cNvPr id="8" name="Text 8"/>
          <p:cNvSpPr txBox="1"/>
          <p:nvPr/>
        </p:nvSpPr>
        <p:spPr>
          <a:xfrm>
            <a:off x="1042416" y="2057400"/>
            <a:ext cx="2715768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main хочет быть вежливым</a:t>
            </a:r>
            <a:endParaRPr lang="ru-RU" sz="1200" dirty="0"/>
          </a:p>
        </p:txBody>
      </p:sp>
      <p:sp>
        <p:nvSpPr>
          <p:cNvPr id="9" name="Shape 9"/>
          <p:cNvSpPr/>
          <p:nvPr/>
        </p:nvSpPr>
        <p:spPr>
          <a:xfrm>
            <a:off x="4343400" y="1645920"/>
            <a:ext cx="2971800" cy="1234440"/>
          </a:xfrm>
          <a:prstGeom prst="roundRect">
            <a:avLst/>
          </a:prstGeom>
          <a:solidFill>
            <a:srgbClr val="FEF3C7"/>
          </a:solidFill>
          <a:ln w="16000">
            <a:solidFill>
              <a:srgbClr val="FBBF24"/>
            </a:solidFill>
          </a:ln>
        </p:spPr>
        <p:txBody>
          <a:bodyPr/>
          <a:lstStyle/>
          <a:p/>
        </p:txBody>
      </p:sp>
      <p:sp>
        <p:nvSpPr>
          <p:cNvPr id="10" name="Text 10"/>
          <p:cNvSpPr txBox="1"/>
          <p:nvPr/>
        </p:nvSpPr>
        <p:spPr>
          <a:xfrm>
            <a:off x="4471416" y="1746504"/>
            <a:ext cx="271576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b="1" dirty="0">
                <a:solidFill>
                  <a:srgbClr val="FBBF24"/>
                </a:solidFill>
                <a:latin typeface="JetBrains Mono"/>
                <a:ea typeface="JetBrains Mono"/>
                <a:cs typeface="JetBrains Mono"/>
              </a:rPr>
              <a:t xml:space="preserve">main делает join()</a:t>
            </a:r>
            <a:endParaRPr lang="ru-RU" sz="1200" dirty="0"/>
          </a:p>
        </p:txBody>
      </p:sp>
      <p:sp>
        <p:nvSpPr>
          <p:cNvPr id="11" name="Text 11"/>
          <p:cNvSpPr txBox="1"/>
          <p:nvPr/>
        </p:nvSpPr>
        <p:spPr>
          <a:xfrm>
            <a:off x="4471416" y="2057400"/>
            <a:ext cx="2715768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ждет worker слишком долго</a:t>
            </a:r>
            <a:endParaRPr lang="ru-RU" sz="1200" dirty="0"/>
          </a:p>
        </p:txBody>
      </p:sp>
      <p:sp>
        <p:nvSpPr>
          <p:cNvPr id="12" name="Shape 12"/>
          <p:cNvSpPr/>
          <p:nvPr/>
        </p:nvSpPr>
        <p:spPr>
          <a:xfrm>
            <a:off x="7772400" y="1645920"/>
            <a:ext cx="2606040" cy="1234440"/>
          </a:xfrm>
          <a:prstGeom prst="roundRect">
            <a:avLst/>
          </a:prstGeom>
          <a:solidFill>
            <a:srgbClr val="FFE4E6"/>
          </a:solidFill>
          <a:ln w="16000">
            <a:solidFill>
              <a:srgbClr val="FB7185"/>
            </a:solidFill>
          </a:ln>
        </p:spPr>
        <p:txBody>
          <a:bodyPr/>
          <a:lstStyle/>
          <a:p/>
        </p:txBody>
      </p:sp>
      <p:sp>
        <p:nvSpPr>
          <p:cNvPr id="13" name="Text 13"/>
          <p:cNvSpPr txBox="1"/>
          <p:nvPr/>
        </p:nvSpPr>
        <p:spPr>
          <a:xfrm>
            <a:off x="7900416" y="1746504"/>
            <a:ext cx="235000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b="1" dirty="0">
                <a:solidFill>
                  <a:srgbClr val="FB7185"/>
                </a:solidFill>
                <a:latin typeface="JetBrains Mono"/>
                <a:ea typeface="JetBrains Mono"/>
                <a:cs typeface="JetBrains Mono"/>
              </a:rPr>
              <a:t xml:space="preserve">ОС видит ANR</a:t>
            </a:r>
            <a:endParaRPr lang="ru-RU" sz="1200" dirty="0"/>
          </a:p>
        </p:txBody>
      </p:sp>
      <p:sp>
        <p:nvSpPr>
          <p:cNvPr id="14" name="Text 14"/>
          <p:cNvSpPr txBox="1"/>
          <p:nvPr/>
        </p:nvSpPr>
        <p:spPr>
          <a:xfrm>
            <a:off x="7900416" y="2057400"/>
            <a:ext cx="2350008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и вытесняет процесс</a:t>
            </a:r>
            <a:endParaRPr lang="ru-RU" sz="1200" dirty="0"/>
          </a:p>
        </p:txBody>
      </p:sp>
      <p:cxnSp>
        <p:nvCxnSpPr>
          <p:cNvPr id="15" name="Arrow 15"/>
          <p:cNvCxnSpPr/>
          <p:nvPr/>
        </p:nvCxnSpPr>
        <p:spPr>
          <a:xfrm>
            <a:off x="3931920" y="2267712"/>
            <a:ext cx="320040" cy="0"/>
          </a:xfrm>
          <a:prstGeom prst="line">
            <a:avLst/>
          </a:prstGeom>
          <a:ln w="24000">
            <a:solidFill>
              <a:srgbClr val="FBBF24"/>
            </a:solidFill>
            <a:headEnd type="triangle"/>
          </a:ln>
        </p:spPr>
      </p:cxnSp>
      <p:cxnSp>
        <p:nvCxnSpPr>
          <p:cNvPr id="16" name="Arrow 16"/>
          <p:cNvCxnSpPr/>
          <p:nvPr/>
        </p:nvCxnSpPr>
        <p:spPr>
          <a:xfrm>
            <a:off x="7360920" y="2267712"/>
            <a:ext cx="320040" cy="0"/>
          </a:xfrm>
          <a:prstGeom prst="line">
            <a:avLst/>
          </a:prstGeom>
          <a:ln w="24000">
            <a:solidFill>
              <a:srgbClr val="FB7185"/>
            </a:solidFill>
            <a:headEnd type="triangle"/>
          </a:ln>
        </p:spPr>
      </p:cxnSp>
      <p:sp>
        <p:nvSpPr>
          <p:cNvPr id="17" name="Text 17"/>
          <p:cNvSpPr txBox="1"/>
          <p:nvPr/>
        </p:nvSpPr>
        <p:spPr>
          <a:xfrm>
            <a:off x="868680" y="4041648"/>
            <a:ext cx="941832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ctr"/>
            <a:r>
              <a:rPr lang="ru-RU" sz="1600" dirty="0">
                <a:solidFill>
                  <a:srgbClr val="92400E"/>
                </a:solidFill>
                <a:latin typeface="JetBrains Mono"/>
                <a:ea typeface="JetBrains Mono"/>
                <a:cs typeface="JetBrains Mono"/>
              </a:rPr>
              <a:t xml:space="preserve">Отмена должна быть запрошена заранее и быстро доходить до interruption point.</a:t>
            </a:r>
            <a:endParaRPr lang="ru-RU" sz="1600" dirty="0"/>
          </a:p>
        </p:txBody>
      </p:sp>
      <p:sp>
        <p:nvSpPr>
          <p:cNvPr id="18" name="Page 18"/>
          <p:cNvSpPr txBox="1"/>
          <p:nvPr/>
        </p:nvSpPr>
        <p:spPr>
          <a:xfrm>
            <a:off x="10287000" y="6510528"/>
            <a:ext cx="6400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r"/>
            <a:r>
              <a:rPr lang="ru-RU" sz="900" dirty="0">
                <a:solidFill>
                  <a:srgbClr val="64748B"/>
                </a:solidFill>
                <a:latin typeface="JetBrains Mono"/>
                <a:ea typeface="JetBrains Mono"/>
                <a:cs typeface="JetBrains Mono"/>
              </a:rPr>
              <a:t xml:space="preserve">12</a:t>
            </a:r>
            <a:endParaRPr lang="ru-RU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 4"/>
          <p:cNvSpPr txBox="1"/>
          <p:nvPr/>
        </p:nvSpPr>
        <p:spPr>
          <a:xfrm>
            <a:off x="502920" y="201168"/>
            <a:ext cx="1065276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2400" b="1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Почему нельзя убивать поток через API ОС</a:t>
            </a:r>
            <a:endParaRPr lang="ru-RU" sz="2400" dirty="0"/>
          </a:p>
        </p:txBody>
      </p:sp>
      <p:sp>
        <p:nvSpPr>
          <p:cNvPr id="5" name="Subtitle 5"/>
          <p:cNvSpPr txBox="1"/>
          <p:nvPr/>
        </p:nvSpPr>
        <p:spPr>
          <a:xfrm>
            <a:off x="530352" y="749808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100" dirty="0">
                <a:solidFill>
                  <a:srgbClr val="475569"/>
                </a:solidFill>
                <a:latin typeface="JetBrains Mono"/>
                <a:ea typeface="JetBrains Mono"/>
                <a:cs typeface="JetBrains Mono"/>
              </a:rPr>
              <a:t xml:space="preserve">Thread kill обрывает код между двумя инструкциями</a:t>
            </a:r>
            <a:endParaRPr lang="ru-RU" sz="1100" dirty="0"/>
          </a:p>
        </p:txBody>
      </p:sp>
      <p:sp>
        <p:nvSpPr>
          <p:cNvPr id="6" name="Shape 6"/>
          <p:cNvSpPr/>
          <p:nvPr/>
        </p:nvSpPr>
        <p:spPr>
          <a:xfrm>
            <a:off x="868680" y="1417320"/>
            <a:ext cx="2971800" cy="1234440"/>
          </a:xfrm>
          <a:prstGeom prst="roundRect">
            <a:avLst/>
          </a:prstGeom>
          <a:solidFill>
            <a:srgbClr val="FFE4E6"/>
          </a:solidFill>
          <a:ln w="16000">
            <a:solidFill>
              <a:srgbClr val="FB7185"/>
            </a:solidFill>
          </a:ln>
        </p:spPr>
        <p:txBody>
          <a:bodyPr/>
          <a:lstStyle/>
          <a:p/>
        </p:txBody>
      </p:sp>
      <p:sp>
        <p:nvSpPr>
          <p:cNvPr id="7" name="Text 7"/>
          <p:cNvSpPr txBox="1"/>
          <p:nvPr/>
        </p:nvSpPr>
        <p:spPr>
          <a:xfrm>
            <a:off x="996695" y="1517904"/>
            <a:ext cx="271576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b="1" dirty="0">
                <a:solidFill>
                  <a:srgbClr val="FB7185"/>
                </a:solidFill>
                <a:latin typeface="JetBrains Mono"/>
                <a:ea typeface="JetBrains Mono"/>
                <a:cs typeface="JetBrains Mono"/>
              </a:rPr>
              <a:t xml:space="preserve">RAII не сработал</a:t>
            </a:r>
            <a:endParaRPr lang="ru-RU" sz="1200" dirty="0"/>
          </a:p>
        </p:txBody>
      </p:sp>
      <p:sp>
        <p:nvSpPr>
          <p:cNvPr id="8" name="Text 8"/>
          <p:cNvSpPr txBox="1"/>
          <p:nvPr/>
        </p:nvSpPr>
        <p:spPr>
          <a:xfrm>
            <a:off x="996695" y="1828800"/>
            <a:ext cx="2715768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деструкторы не раскрутили</a:t>
            </a:r>
            <a:endParaRPr lang="ru-RU" sz="1200" dirty="0"/>
          </a:p>
          <a:p>
            <a:pPr algn="l"/>
            <a:r>
              <a:rPr lang="ru-RU" sz="12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стек</a:t>
            </a:r>
            <a:endParaRPr lang="ru-RU" sz="1200" dirty="0"/>
          </a:p>
        </p:txBody>
      </p:sp>
      <p:sp>
        <p:nvSpPr>
          <p:cNvPr id="9" name="Shape 9"/>
          <p:cNvSpPr/>
          <p:nvPr/>
        </p:nvSpPr>
        <p:spPr>
          <a:xfrm>
            <a:off x="4160520" y="1417320"/>
            <a:ext cx="2971800" cy="1234440"/>
          </a:xfrm>
          <a:prstGeom prst="roundRect">
            <a:avLst/>
          </a:prstGeom>
          <a:solidFill>
            <a:srgbClr val="FFE4E6"/>
          </a:solidFill>
          <a:ln w="16000">
            <a:solidFill>
              <a:srgbClr val="FB7185"/>
            </a:solidFill>
          </a:ln>
        </p:spPr>
        <p:txBody>
          <a:bodyPr/>
          <a:lstStyle/>
          <a:p/>
        </p:txBody>
      </p:sp>
      <p:sp>
        <p:nvSpPr>
          <p:cNvPr id="10" name="Text 10"/>
          <p:cNvSpPr txBox="1"/>
          <p:nvPr/>
        </p:nvSpPr>
        <p:spPr>
          <a:xfrm>
            <a:off x="4288536" y="1517904"/>
            <a:ext cx="271576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b="1" dirty="0">
                <a:solidFill>
                  <a:srgbClr val="FB7185"/>
                </a:solidFill>
                <a:latin typeface="JetBrains Mono"/>
                <a:ea typeface="JetBrains Mono"/>
                <a:cs typeface="JetBrains Mono"/>
              </a:rPr>
              <a:t xml:space="preserve">mutex остался</a:t>
            </a:r>
            <a:endParaRPr lang="ru-RU" sz="1200" dirty="0"/>
          </a:p>
        </p:txBody>
      </p:sp>
      <p:sp>
        <p:nvSpPr>
          <p:cNvPr id="11" name="Text 11"/>
          <p:cNvSpPr txBox="1"/>
          <p:nvPr/>
        </p:nvSpPr>
        <p:spPr>
          <a:xfrm>
            <a:off x="4288536" y="1828800"/>
            <a:ext cx="2715768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синхронизация сломана</a:t>
            </a:r>
            <a:endParaRPr lang="ru-RU" sz="1200" dirty="0"/>
          </a:p>
        </p:txBody>
      </p:sp>
      <p:sp>
        <p:nvSpPr>
          <p:cNvPr id="12" name="Shape 12"/>
          <p:cNvSpPr/>
          <p:nvPr/>
        </p:nvSpPr>
        <p:spPr>
          <a:xfrm>
            <a:off x="7452360" y="1417320"/>
            <a:ext cx="2971800" cy="1234440"/>
          </a:xfrm>
          <a:prstGeom prst="roundRect">
            <a:avLst/>
          </a:prstGeom>
          <a:solidFill>
            <a:srgbClr val="FFE4E6"/>
          </a:solidFill>
          <a:ln w="16000">
            <a:solidFill>
              <a:srgbClr val="FB7185"/>
            </a:solidFill>
          </a:ln>
        </p:spPr>
        <p:txBody>
          <a:bodyPr/>
          <a:lstStyle/>
          <a:p/>
        </p:txBody>
      </p:sp>
      <p:sp>
        <p:nvSpPr>
          <p:cNvPr id="13" name="Text 13"/>
          <p:cNvSpPr txBox="1"/>
          <p:nvPr/>
        </p:nvSpPr>
        <p:spPr>
          <a:xfrm>
            <a:off x="7580376" y="1517904"/>
            <a:ext cx="271576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b="1" dirty="0">
                <a:solidFill>
                  <a:srgbClr val="FB7185"/>
                </a:solidFill>
                <a:latin typeface="JetBrains Mono"/>
                <a:ea typeface="JetBrains Mono"/>
                <a:cs typeface="JetBrains Mono"/>
              </a:rPr>
              <a:t xml:space="preserve">файл оборван</a:t>
            </a:r>
            <a:endParaRPr lang="ru-RU" sz="1200" dirty="0"/>
          </a:p>
        </p:txBody>
      </p:sp>
      <p:sp>
        <p:nvSpPr>
          <p:cNvPr id="14" name="Text 14"/>
          <p:cNvSpPr txBox="1"/>
          <p:nvPr/>
        </p:nvSpPr>
        <p:spPr>
          <a:xfrm>
            <a:off x="7580376" y="1828800"/>
            <a:ext cx="2715768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кэш потерял инвариант</a:t>
            </a:r>
            <a:endParaRPr lang="ru-RU" sz="1200" dirty="0"/>
          </a:p>
        </p:txBody>
      </p:sp>
      <p:sp>
        <p:nvSpPr>
          <p:cNvPr id="15" name="Text 15"/>
          <p:cNvSpPr txBox="1"/>
          <p:nvPr/>
        </p:nvSpPr>
        <p:spPr>
          <a:xfrm>
            <a:off x="777240" y="3675887"/>
            <a:ext cx="960120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ctr"/>
            <a:r>
              <a:rPr lang="ru-RU" sz="1700" b="1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Правильный путь: попросить остановиться, дойти до безопасной точки, выйти обычным return или исключением, которое поймано.</a:t>
            </a:r>
            <a:endParaRPr lang="ru-RU" sz="1700" dirty="0"/>
          </a:p>
        </p:txBody>
      </p:sp>
      <p:sp>
        <p:nvSpPr>
          <p:cNvPr id="16" name="Page 16"/>
          <p:cNvSpPr txBox="1"/>
          <p:nvPr/>
        </p:nvSpPr>
        <p:spPr>
          <a:xfrm>
            <a:off x="10287000" y="6510528"/>
            <a:ext cx="6400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r"/>
            <a:r>
              <a:rPr lang="ru-RU" sz="900" dirty="0">
                <a:solidFill>
                  <a:srgbClr val="64748B"/>
                </a:solidFill>
                <a:latin typeface="JetBrains Mono"/>
                <a:ea typeface="JetBrains Mono"/>
                <a:cs typeface="JetBrains Mono"/>
              </a:rPr>
              <a:t xml:space="preserve">13</a:t>
            </a:r>
            <a:endParaRPr lang="ru-RU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 4"/>
          <p:cNvSpPr txBox="1"/>
          <p:nvPr/>
        </p:nvSpPr>
        <p:spPr>
          <a:xfrm>
            <a:off x="502920" y="201168"/>
            <a:ext cx="1065276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2400" b="1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Владение объектами между потоками</a:t>
            </a:r>
            <a:endParaRPr lang="ru-RU" sz="2400" dirty="0"/>
          </a:p>
        </p:txBody>
      </p:sp>
      <p:sp>
        <p:nvSpPr>
          <p:cNvPr id="5" name="Subtitle 5"/>
          <p:cNvSpPr txBox="1"/>
          <p:nvPr/>
        </p:nvSpPr>
        <p:spPr>
          <a:xfrm>
            <a:off x="530352" y="749808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100" dirty="0">
                <a:solidFill>
                  <a:srgbClr val="475569"/>
                </a:solidFill>
                <a:latin typeface="JetBrains Mono"/>
                <a:ea typeface="JetBrains Mono"/>
                <a:cs typeface="JetBrains Mono"/>
              </a:rPr>
              <a:t xml:space="preserve">Классический ответ: shared_ptr + weak_ptr</a:t>
            </a:r>
            <a:endParaRPr lang="ru-RU" sz="1100" dirty="0"/>
          </a:p>
        </p:txBody>
      </p:sp>
      <p:sp>
        <p:nvSpPr>
          <p:cNvPr id="6" name="Shape 6"/>
          <p:cNvSpPr/>
          <p:nvPr/>
        </p:nvSpPr>
        <p:spPr>
          <a:xfrm>
            <a:off x="914400" y="1554480"/>
            <a:ext cx="2971800" cy="1234440"/>
          </a:xfrm>
          <a:prstGeom prst="roundRect">
            <a:avLst/>
          </a:prstGeom>
          <a:solidFill>
            <a:srgbClr val="DCFCE7"/>
          </a:solidFill>
          <a:ln w="16000">
            <a:solidFill>
              <a:srgbClr val="34D399"/>
            </a:solidFill>
          </a:ln>
        </p:spPr>
        <p:txBody>
          <a:bodyPr/>
          <a:lstStyle/>
          <a:p/>
        </p:txBody>
      </p:sp>
      <p:sp>
        <p:nvSpPr>
          <p:cNvPr id="7" name="Text 7"/>
          <p:cNvSpPr txBox="1"/>
          <p:nvPr/>
        </p:nvSpPr>
        <p:spPr>
          <a:xfrm>
            <a:off x="1042416" y="1655064"/>
            <a:ext cx="271576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b="1" dirty="0">
                <a:solidFill>
                  <a:srgbClr val="34D399"/>
                </a:solidFill>
                <a:latin typeface="JetBrains Mono"/>
                <a:ea typeface="JetBrains Mono"/>
                <a:cs typeface="JetBrains Mono"/>
              </a:rPr>
              <a:t xml:space="preserve">shared_ptr</a:t>
            </a:r>
            <a:endParaRPr lang="ru-RU" sz="1200" dirty="0"/>
          </a:p>
        </p:txBody>
      </p:sp>
      <p:sp>
        <p:nvSpPr>
          <p:cNvPr id="8" name="Text 8"/>
          <p:cNvSpPr txBox="1"/>
          <p:nvPr/>
        </p:nvSpPr>
        <p:spPr>
          <a:xfrm>
            <a:off x="1042416" y="1965960"/>
            <a:ext cx="2715768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удерживает объект живым</a:t>
            </a:r>
            <a:endParaRPr lang="ru-RU" sz="1200" dirty="0"/>
          </a:p>
        </p:txBody>
      </p:sp>
      <p:sp>
        <p:nvSpPr>
          <p:cNvPr id="9" name="Shape 9"/>
          <p:cNvSpPr/>
          <p:nvPr/>
        </p:nvSpPr>
        <p:spPr>
          <a:xfrm>
            <a:off x="4343400" y="1554480"/>
            <a:ext cx="2971800" cy="1234440"/>
          </a:xfrm>
          <a:prstGeom prst="roundRect">
            <a:avLst/>
          </a:prstGeom>
          <a:solidFill>
            <a:srgbClr val="DCFCE7"/>
          </a:solidFill>
          <a:ln w="16000">
            <a:solidFill>
              <a:srgbClr val="34D399"/>
            </a:solidFill>
          </a:ln>
        </p:spPr>
        <p:txBody>
          <a:bodyPr/>
          <a:lstStyle/>
          <a:p/>
        </p:txBody>
      </p:sp>
      <p:sp>
        <p:nvSpPr>
          <p:cNvPr id="10" name="Text 10"/>
          <p:cNvSpPr txBox="1"/>
          <p:nvPr/>
        </p:nvSpPr>
        <p:spPr>
          <a:xfrm>
            <a:off x="4471416" y="1655064"/>
            <a:ext cx="271576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b="1" dirty="0">
                <a:solidFill>
                  <a:srgbClr val="34D399"/>
                </a:solidFill>
                <a:latin typeface="JetBrains Mono"/>
                <a:ea typeface="JetBrains Mono"/>
                <a:cs typeface="JetBrains Mono"/>
              </a:rPr>
              <a:t xml:space="preserve">weak_ptr</a:t>
            </a:r>
            <a:endParaRPr lang="ru-RU" sz="1200" dirty="0"/>
          </a:p>
        </p:txBody>
      </p:sp>
      <p:sp>
        <p:nvSpPr>
          <p:cNvPr id="11" name="Text 11"/>
          <p:cNvSpPr txBox="1"/>
          <p:nvPr/>
        </p:nvSpPr>
        <p:spPr>
          <a:xfrm>
            <a:off x="4471416" y="1965960"/>
            <a:ext cx="2715768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не продлевает жизнь</a:t>
            </a:r>
            <a:endParaRPr lang="ru-RU" sz="1200" dirty="0"/>
          </a:p>
        </p:txBody>
      </p:sp>
      <p:sp>
        <p:nvSpPr>
          <p:cNvPr id="12" name="Shape 12"/>
          <p:cNvSpPr/>
          <p:nvPr/>
        </p:nvSpPr>
        <p:spPr>
          <a:xfrm>
            <a:off x="7772400" y="1554480"/>
            <a:ext cx="2606040" cy="1234440"/>
          </a:xfrm>
          <a:prstGeom prst="roundRect">
            <a:avLst/>
          </a:prstGeom>
          <a:solidFill>
            <a:srgbClr val="DCFCE7"/>
          </a:solidFill>
          <a:ln w="16000">
            <a:solidFill>
              <a:srgbClr val="34D399"/>
            </a:solidFill>
          </a:ln>
        </p:spPr>
        <p:txBody>
          <a:bodyPr/>
          <a:lstStyle/>
          <a:p/>
        </p:txBody>
      </p:sp>
      <p:sp>
        <p:nvSpPr>
          <p:cNvPr id="13" name="Text 13"/>
          <p:cNvSpPr txBox="1"/>
          <p:nvPr/>
        </p:nvSpPr>
        <p:spPr>
          <a:xfrm>
            <a:off x="7900416" y="1655064"/>
            <a:ext cx="235000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b="1" dirty="0">
                <a:solidFill>
                  <a:srgbClr val="34D399"/>
                </a:solidFill>
                <a:latin typeface="JetBrains Mono"/>
                <a:ea typeface="JetBrains Mono"/>
                <a:cs typeface="JetBrains Mono"/>
              </a:rPr>
              <a:t xml:space="preserve">lock()</a:t>
            </a:r>
            <a:endParaRPr lang="ru-RU" sz="1200" dirty="0"/>
          </a:p>
        </p:txBody>
      </p:sp>
      <p:sp>
        <p:nvSpPr>
          <p:cNvPr id="14" name="Text 14"/>
          <p:cNvSpPr txBox="1"/>
          <p:nvPr/>
        </p:nvSpPr>
        <p:spPr>
          <a:xfrm>
            <a:off x="7900416" y="1965960"/>
            <a:ext cx="2350008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либо объект, либо null</a:t>
            </a:r>
            <a:endParaRPr lang="ru-RU" sz="1200" dirty="0"/>
          </a:p>
        </p:txBody>
      </p:sp>
      <p:cxnSp>
        <p:nvCxnSpPr>
          <p:cNvPr id="15" name="Arrow 15"/>
          <p:cNvCxnSpPr/>
          <p:nvPr/>
        </p:nvCxnSpPr>
        <p:spPr>
          <a:xfrm>
            <a:off x="3931920" y="2176272"/>
            <a:ext cx="320040" cy="0"/>
          </a:xfrm>
          <a:prstGeom prst="line">
            <a:avLst/>
          </a:prstGeom>
          <a:ln w="24000">
            <a:solidFill>
              <a:srgbClr val="34D399"/>
            </a:solidFill>
            <a:headEnd type="triangle"/>
          </a:ln>
        </p:spPr>
      </p:cxnSp>
      <p:cxnSp>
        <p:nvCxnSpPr>
          <p:cNvPr id="16" name="Arrow 16"/>
          <p:cNvCxnSpPr/>
          <p:nvPr/>
        </p:nvCxnSpPr>
        <p:spPr>
          <a:xfrm>
            <a:off x="7360920" y="2176272"/>
            <a:ext cx="320040" cy="0"/>
          </a:xfrm>
          <a:prstGeom prst="line">
            <a:avLst/>
          </a:prstGeom>
          <a:ln w="24000">
            <a:solidFill>
              <a:srgbClr val="34D399"/>
            </a:solidFill>
            <a:headEnd type="triangle"/>
          </a:ln>
        </p:spPr>
      </p:cxnSp>
      <p:sp>
        <p:nvSpPr>
          <p:cNvPr id="17" name="Text 17"/>
          <p:cNvSpPr txBox="1"/>
          <p:nvPr/>
        </p:nvSpPr>
        <p:spPr>
          <a:xfrm>
            <a:off x="868680" y="3950208"/>
            <a:ext cx="9418320" cy="7498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ctr"/>
            <a:r>
              <a:rPr lang="ru-RU" sz="1600" dirty="0">
                <a:solidFill>
                  <a:srgbClr val="166534"/>
                </a:solidFill>
                <a:latin typeface="JetBrains Mono"/>
                <a:ea typeface="JetBrains Mono"/>
                <a:cs typeface="JetBrains Mono"/>
              </a:rPr>
              <a:t xml:space="preserve">Глобальный объект не «вечный»: при завершении процесса он тоже разрушается.</a:t>
            </a:r>
            <a:endParaRPr lang="ru-RU" sz="1600" dirty="0"/>
          </a:p>
        </p:txBody>
      </p:sp>
      <p:sp>
        <p:nvSpPr>
          <p:cNvPr id="18" name="Page 18"/>
          <p:cNvSpPr txBox="1"/>
          <p:nvPr/>
        </p:nvSpPr>
        <p:spPr>
          <a:xfrm>
            <a:off x="10287000" y="6510528"/>
            <a:ext cx="6400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r"/>
            <a:r>
              <a:rPr lang="ru-RU" sz="900" dirty="0">
                <a:solidFill>
                  <a:srgbClr val="64748B"/>
                </a:solidFill>
                <a:latin typeface="JetBrains Mono"/>
                <a:ea typeface="JetBrains Mono"/>
                <a:cs typeface="JetBrains Mono"/>
              </a:rPr>
              <a:t xml:space="preserve">14</a:t>
            </a:r>
            <a:endParaRPr lang="ru-RU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 4"/>
          <p:cNvSpPr txBox="1"/>
          <p:nvPr/>
        </p:nvSpPr>
        <p:spPr>
          <a:xfrm>
            <a:off x="502920" y="201168"/>
            <a:ext cx="1065276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2400" b="1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std::jthread + stop_token</a:t>
            </a:r>
            <a:endParaRPr lang="ru-RU" sz="2400" dirty="0"/>
          </a:p>
        </p:txBody>
      </p:sp>
      <p:sp>
        <p:nvSpPr>
          <p:cNvPr id="5" name="Subtitle 5"/>
          <p:cNvSpPr txBox="1"/>
          <p:nvPr/>
        </p:nvSpPr>
        <p:spPr>
          <a:xfrm>
            <a:off x="530352" y="749808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100" dirty="0">
                <a:solidFill>
                  <a:srgbClr val="475569"/>
                </a:solidFill>
                <a:latin typeface="JetBrains Mono"/>
                <a:ea typeface="JetBrains Mono"/>
                <a:cs typeface="JetBrains Mono"/>
              </a:rPr>
              <a:t xml:space="preserve">C++20 дает авто-join и кооперативную отмену</a:t>
            </a:r>
            <a:endParaRPr lang="ru-RU" sz="1100" dirty="0"/>
          </a:p>
        </p:txBody>
      </p:sp>
      <p:sp>
        <p:nvSpPr>
          <p:cNvPr id="6" name="RichText 6"/>
          <p:cNvSpPr txBox="1"/>
          <p:nvPr/>
        </p:nvSpPr>
        <p:spPr>
          <a:xfrm>
            <a:off x="384048" y="1060704"/>
            <a:ext cx="10387584" cy="5349240"/>
          </a:xfrm>
          <a:prstGeom prst="roundRect">
            <a:avLst/>
          </a:prstGeom>
          <a:solidFill>
            <a:srgbClr val="FFFFFF"/>
          </a:solidFill>
          <a:ln w="14000">
            <a:solidFill>
              <a:srgbClr val="94A3B8"/>
            </a:solidFill>
          </a:ln>
        </p:spPr>
        <p:txBody>
          <a:bodyPr wrap="none" lIns="85000" tIns="85000" rIns="85000" bIns="85000" anchor="mid"/>
          <a:lstStyle/>
          <a:p>
            <a:pPr algn="l"/>
            <a:r>
              <a:rPr lang="ru-RU" sz="1600" b="1" dirty="0">
                <a:solidFill>
                  <a:srgbClr val="2563EB"/>
                </a:solidFill>
                <a:latin typeface="JetBrains Mono"/>
                <a:ea typeface="JetBrains Mono"/>
                <a:cs typeface="JetBrains Mono"/>
              </a:rPr>
              <a:t xml:space="preserve">void</a:t>
            </a:r>
            <a:r>
              <a:rPr lang="ru-RU" sz="16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</a:t>
            </a:r>
            <a:r>
              <a:rPr lang="ru-RU" sz="1600" dirty="0">
                <a:solidFill>
                  <a:srgbClr val="0F766E"/>
                </a:solidFill>
                <a:latin typeface="JetBrains Mono"/>
                <a:ea typeface="JetBrains Mono"/>
                <a:cs typeface="JetBrains Mono"/>
              </a:rPr>
              <a:t xml:space="preserve">do_work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(</a:t>
            </a:r>
            <a:r>
              <a:rPr lang="ru-RU" sz="1600" dirty="0">
                <a:solidFill>
                  <a:srgbClr val="7C3AED"/>
                </a:solidFill>
                <a:latin typeface="JetBrains Mono"/>
                <a:ea typeface="JetBrains Mono"/>
                <a:cs typeface="JetBrains Mono"/>
              </a:rPr>
              <a:t xml:space="preserve">std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: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:</a:t>
            </a:r>
            <a:r>
              <a:rPr lang="ru-RU" sz="1600" dirty="0">
                <a:solidFill>
                  <a:srgbClr val="7C3AED"/>
                </a:solidFill>
                <a:latin typeface="JetBrains Mono"/>
                <a:ea typeface="JetBrains Mono"/>
                <a:cs typeface="JetBrains Mono"/>
              </a:rPr>
              <a:t xml:space="preserve">stop_token</a:t>
            </a:r>
            <a:r>
              <a:rPr lang="ru-RU" sz="16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</a:t>
            </a:r>
            <a:r>
              <a:rPr lang="ru-RU" sz="16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stoken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)</a:t>
            </a:r>
            <a:r>
              <a:rPr lang="ru-RU" sz="16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{</a:t>
            </a:r>
            <a:endParaRPr lang="ru-RU" sz="1600" dirty="0"/>
          </a:p>
          <a:p>
            <a:pPr algn="l"/>
            <a:r>
              <a:rPr lang="ru-RU" sz="16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   </a:t>
            </a:r>
            <a:r>
              <a:rPr lang="ru-RU" sz="1600" b="1" dirty="0">
                <a:solidFill>
                  <a:srgbClr val="2563EB"/>
                </a:solidFill>
                <a:latin typeface="JetBrains Mono"/>
                <a:ea typeface="JetBrains Mono"/>
                <a:cs typeface="JetBrains Mono"/>
              </a:rPr>
              <a:t xml:space="preserve">for</a:t>
            </a:r>
            <a:r>
              <a:rPr lang="ru-RU" sz="16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(</a:t>
            </a:r>
            <a:r>
              <a:rPr lang="ru-RU" sz="1600" dirty="0">
                <a:solidFill>
                  <a:srgbClr val="7C3AED"/>
                </a:solidFill>
                <a:latin typeface="JetBrains Mono"/>
                <a:ea typeface="JetBrains Mono"/>
                <a:cs typeface="JetBrains Mono"/>
              </a:rPr>
              <a:t xml:space="preserve">int</a:t>
            </a:r>
            <a:r>
              <a:rPr lang="ru-RU" sz="16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</a:t>
            </a:r>
            <a:r>
              <a:rPr lang="ru-RU" sz="16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i</a:t>
            </a:r>
            <a:r>
              <a:rPr lang="ru-RU" sz="16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=</a:t>
            </a:r>
            <a:r>
              <a:rPr lang="ru-RU" sz="16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</a:t>
            </a:r>
            <a:r>
              <a:rPr lang="ru-RU" sz="1600" dirty="0">
                <a:solidFill>
                  <a:srgbClr val="B45309"/>
                </a:solidFill>
                <a:latin typeface="JetBrains Mono"/>
                <a:ea typeface="JetBrains Mono"/>
                <a:cs typeface="JetBrains Mono"/>
              </a:rPr>
              <a:t xml:space="preserve">0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;</a:t>
            </a:r>
            <a:r>
              <a:rPr lang="ru-RU" sz="16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</a:t>
            </a:r>
            <a:r>
              <a:rPr lang="ru-RU" sz="16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i</a:t>
            </a:r>
            <a:r>
              <a:rPr lang="ru-RU" sz="16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&lt;</a:t>
            </a:r>
            <a:r>
              <a:rPr lang="ru-RU" sz="16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</a:t>
            </a:r>
            <a:r>
              <a:rPr lang="ru-RU" sz="1600" dirty="0">
                <a:solidFill>
                  <a:srgbClr val="B45309"/>
                </a:solidFill>
                <a:latin typeface="JetBrains Mono"/>
                <a:ea typeface="JetBrains Mono"/>
                <a:cs typeface="JetBrains Mono"/>
              </a:rPr>
              <a:t xml:space="preserve">100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;</a:t>
            </a:r>
            <a:r>
              <a:rPr lang="ru-RU" sz="16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+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+</a:t>
            </a:r>
            <a:r>
              <a:rPr lang="ru-RU" sz="16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i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)</a:t>
            </a:r>
            <a:r>
              <a:rPr lang="ru-RU" sz="16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{</a:t>
            </a:r>
            <a:endParaRPr lang="ru-RU" sz="1600" dirty="0"/>
          </a:p>
          <a:p>
            <a:pPr algn="l"/>
            <a:r>
              <a:rPr lang="ru-RU" sz="16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       </a:t>
            </a:r>
            <a:r>
              <a:rPr lang="ru-RU" sz="1600" b="1" dirty="0">
                <a:solidFill>
                  <a:srgbClr val="2563EB"/>
                </a:solidFill>
                <a:latin typeface="JetBrains Mono"/>
                <a:ea typeface="JetBrains Mono"/>
                <a:cs typeface="JetBrains Mono"/>
              </a:rPr>
              <a:t xml:space="preserve">if</a:t>
            </a:r>
            <a:r>
              <a:rPr lang="ru-RU" sz="16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(</a:t>
            </a:r>
            <a:r>
              <a:rPr lang="ru-RU" sz="16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stoken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.</a:t>
            </a:r>
            <a:r>
              <a:rPr lang="ru-RU" sz="1600" dirty="0">
                <a:solidFill>
                  <a:srgbClr val="0F766E"/>
                </a:solidFill>
                <a:latin typeface="JetBrains Mono"/>
                <a:ea typeface="JetBrains Mono"/>
                <a:cs typeface="JetBrains Mono"/>
              </a:rPr>
              <a:t xml:space="preserve">stop_requested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(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)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)</a:t>
            </a:r>
            <a:r>
              <a:rPr lang="ru-RU" sz="16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{</a:t>
            </a:r>
            <a:endParaRPr lang="ru-RU" sz="1600" dirty="0"/>
          </a:p>
          <a:p>
            <a:pPr algn="l"/>
            <a:r>
              <a:rPr lang="ru-RU" sz="16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           </a:t>
            </a:r>
            <a:r>
              <a:rPr lang="ru-RU" sz="1600" b="1" dirty="0">
                <a:solidFill>
                  <a:srgbClr val="2563EB"/>
                </a:solidFill>
                <a:latin typeface="JetBrains Mono"/>
                <a:ea typeface="JetBrains Mono"/>
                <a:cs typeface="JetBrains Mono"/>
              </a:rPr>
              <a:t xml:space="preserve">return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;</a:t>
            </a:r>
            <a:r>
              <a:rPr lang="ru-RU" sz="16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</a:t>
            </a:r>
            <a:r>
              <a:rPr lang="ru-RU" sz="1600" i="1" dirty="0">
                <a:solidFill>
                  <a:srgbClr val="64748B"/>
                </a:solidFill>
                <a:latin typeface="JetBrains Mono"/>
                <a:ea typeface="JetBrains Mono"/>
                <a:cs typeface="JetBrains Mono"/>
              </a:rPr>
              <a:t xml:space="preserve">// безопасная точка остановки</a:t>
            </a:r>
            <a:endParaRPr lang="ru-RU" sz="1600" dirty="0"/>
          </a:p>
          <a:p>
            <a:pPr algn="l"/>
            <a:r>
              <a:rPr lang="ru-RU" sz="16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       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}</a:t>
            </a:r>
            <a:endParaRPr lang="ru-RU" sz="1600" dirty="0"/>
          </a:p>
          <a:p>
            <a:pPr algn="l"/>
            <a:r>
              <a:rPr lang="ru-RU" sz="16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</a:t>
            </a:r>
            <a:endParaRPr lang="ru-RU" sz="1600" dirty="0"/>
          </a:p>
          <a:p>
            <a:pPr algn="l"/>
            <a:r>
              <a:rPr lang="ru-RU" sz="16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       </a:t>
            </a:r>
            <a:r>
              <a:rPr lang="ru-RU" sz="1600" dirty="0">
                <a:solidFill>
                  <a:srgbClr val="7C3AED"/>
                </a:solidFill>
                <a:latin typeface="JetBrains Mono"/>
                <a:ea typeface="JetBrains Mono"/>
                <a:cs typeface="JetBrains Mono"/>
              </a:rPr>
              <a:t xml:space="preserve">std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: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:</a:t>
            </a:r>
            <a:r>
              <a:rPr lang="ru-RU" sz="16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this_thread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: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:</a:t>
            </a:r>
            <a:r>
              <a:rPr lang="ru-RU" sz="1600" dirty="0">
                <a:solidFill>
                  <a:srgbClr val="0F766E"/>
                </a:solidFill>
                <a:latin typeface="JetBrains Mono"/>
                <a:ea typeface="JetBrains Mono"/>
                <a:cs typeface="JetBrains Mono"/>
              </a:rPr>
              <a:t xml:space="preserve">sleep_for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(</a:t>
            </a:r>
            <a:r>
              <a:rPr lang="ru-RU" sz="1600" dirty="0">
                <a:solidFill>
                  <a:srgbClr val="B45309"/>
                </a:solidFill>
                <a:latin typeface="JetBrains Mono"/>
                <a:ea typeface="JetBrains Mono"/>
                <a:cs typeface="JetBrains Mono"/>
              </a:rPr>
              <a:t xml:space="preserve">100ms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)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;</a:t>
            </a:r>
            <a:endParaRPr lang="ru-RU" sz="1600" dirty="0"/>
          </a:p>
          <a:p>
            <a:pPr algn="l"/>
            <a:r>
              <a:rPr lang="ru-RU" sz="16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       </a:t>
            </a:r>
            <a:r>
              <a:rPr lang="ru-RU" sz="1600" dirty="0">
                <a:solidFill>
                  <a:srgbClr val="0F766E"/>
                </a:solidFill>
                <a:latin typeface="JetBrains Mono"/>
                <a:ea typeface="JetBrains Mono"/>
                <a:cs typeface="JetBrains Mono"/>
              </a:rPr>
              <a:t xml:space="preserve">load_next_chunk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(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)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;</a:t>
            </a:r>
            <a:endParaRPr lang="ru-RU" sz="1600" dirty="0"/>
          </a:p>
          <a:p>
            <a:pPr algn="l"/>
            <a:r>
              <a:rPr lang="ru-RU" sz="16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   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}</a:t>
            </a:r>
            <a:endParaRPr lang="ru-RU" sz="1600" dirty="0"/>
          </a:p>
          <a:p>
            <a:pPr algn="l"/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}</a:t>
            </a:r>
            <a:endParaRPr lang="ru-RU" sz="1600" dirty="0"/>
          </a:p>
          <a:p>
            <a:pPr algn="l"/>
            <a:r>
              <a:rPr lang="ru-RU" sz="16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</a:t>
            </a:r>
            <a:endParaRPr lang="ru-RU" sz="1600" dirty="0"/>
          </a:p>
          <a:p>
            <a:pPr algn="l"/>
            <a:r>
              <a:rPr lang="ru-RU" sz="1600" dirty="0">
                <a:solidFill>
                  <a:srgbClr val="7C3AED"/>
                </a:solidFill>
                <a:latin typeface="JetBrains Mono"/>
                <a:ea typeface="JetBrains Mono"/>
                <a:cs typeface="JetBrains Mono"/>
              </a:rPr>
              <a:t xml:space="preserve">std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: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:</a:t>
            </a:r>
            <a:r>
              <a:rPr lang="ru-RU" sz="1600" dirty="0">
                <a:solidFill>
                  <a:srgbClr val="7C3AED"/>
                </a:solidFill>
                <a:latin typeface="JetBrains Mono"/>
                <a:ea typeface="JetBrains Mono"/>
                <a:cs typeface="JetBrains Mono"/>
              </a:rPr>
              <a:t xml:space="preserve">jthread</a:t>
            </a:r>
            <a:r>
              <a:rPr lang="ru-RU" sz="16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</a:t>
            </a:r>
            <a:r>
              <a:rPr lang="ru-RU" sz="1600" dirty="0">
                <a:solidFill>
                  <a:srgbClr val="0F766E"/>
                </a:solidFill>
                <a:latin typeface="JetBrains Mono"/>
                <a:ea typeface="JetBrains Mono"/>
                <a:cs typeface="JetBrains Mono"/>
              </a:rPr>
              <a:t xml:space="preserve">worker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(</a:t>
            </a:r>
            <a:r>
              <a:rPr lang="ru-RU" sz="16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do_work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)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;</a:t>
            </a:r>
            <a:endParaRPr lang="ru-RU" sz="1600" dirty="0"/>
          </a:p>
        </p:txBody>
      </p:sp>
      <p:sp>
        <p:nvSpPr>
          <p:cNvPr id="7" name="Page 7"/>
          <p:cNvSpPr txBox="1"/>
          <p:nvPr/>
        </p:nvSpPr>
        <p:spPr>
          <a:xfrm>
            <a:off x="10287000" y="6510528"/>
            <a:ext cx="6400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r"/>
            <a:r>
              <a:rPr lang="ru-RU" sz="900" dirty="0">
                <a:solidFill>
                  <a:srgbClr val="64748B"/>
                </a:solidFill>
                <a:latin typeface="JetBrains Mono"/>
                <a:ea typeface="JetBrains Mono"/>
                <a:cs typeface="JetBrains Mono"/>
              </a:rPr>
              <a:t xml:space="preserve">15</a:t>
            </a:r>
            <a:endParaRPr lang="ru-RU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 4"/>
          <p:cNvSpPr txBox="1"/>
          <p:nvPr/>
        </p:nvSpPr>
        <p:spPr>
          <a:xfrm>
            <a:off x="502920" y="201168"/>
            <a:ext cx="1065276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2400" b="1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Отмена остается кооперативной</a:t>
            </a:r>
            <a:endParaRPr lang="ru-RU" sz="2400" dirty="0"/>
          </a:p>
        </p:txBody>
      </p:sp>
      <p:sp>
        <p:nvSpPr>
          <p:cNvPr id="5" name="Subtitle 5"/>
          <p:cNvSpPr txBox="1"/>
          <p:nvPr/>
        </p:nvSpPr>
        <p:spPr>
          <a:xfrm>
            <a:off x="530352" y="749808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100" dirty="0">
                <a:solidFill>
                  <a:srgbClr val="475569"/>
                </a:solidFill>
                <a:latin typeface="JetBrains Mono"/>
                <a:ea typeface="JetBrains Mono"/>
                <a:cs typeface="JetBrains Mono"/>
              </a:rPr>
              <a:t xml:space="preserve">stop_token сам ничего не прерывает</a:t>
            </a:r>
            <a:endParaRPr lang="ru-RU" sz="1100" dirty="0"/>
          </a:p>
        </p:txBody>
      </p:sp>
      <p:sp>
        <p:nvSpPr>
          <p:cNvPr id="6" name="Shape 6"/>
          <p:cNvSpPr/>
          <p:nvPr/>
        </p:nvSpPr>
        <p:spPr>
          <a:xfrm>
            <a:off x="822960" y="1463040"/>
            <a:ext cx="4297680" cy="1143000"/>
          </a:xfrm>
          <a:prstGeom prst="roundRect">
            <a:avLst/>
          </a:prstGeom>
          <a:solidFill>
            <a:srgbClr val="E0F2FE"/>
          </a:solidFill>
          <a:ln w="16000">
            <a:solidFill>
              <a:srgbClr val="38BDF8"/>
            </a:solidFill>
          </a:ln>
        </p:spPr>
        <p:txBody>
          <a:bodyPr/>
          <a:lstStyle/>
          <a:p/>
        </p:txBody>
      </p:sp>
      <p:sp>
        <p:nvSpPr>
          <p:cNvPr id="7" name="Text 7"/>
          <p:cNvSpPr txBox="1"/>
          <p:nvPr/>
        </p:nvSpPr>
        <p:spPr>
          <a:xfrm>
            <a:off x="950976" y="1563624"/>
            <a:ext cx="404164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b="1" dirty="0">
                <a:solidFill>
                  <a:srgbClr val="38BDF8"/>
                </a:solidFill>
                <a:latin typeface="JetBrains Mono"/>
                <a:ea typeface="JetBrains Mono"/>
                <a:cs typeface="JetBrains Mono"/>
              </a:rPr>
              <a:t xml:space="preserve">часто проверяем</a:t>
            </a:r>
            <a:endParaRPr lang="ru-RU" sz="1200" dirty="0"/>
          </a:p>
        </p:txBody>
      </p:sp>
      <p:sp>
        <p:nvSpPr>
          <p:cNvPr id="8" name="Text 8"/>
          <p:cNvSpPr txBox="1"/>
          <p:nvPr/>
        </p:nvSpPr>
        <p:spPr>
          <a:xfrm>
            <a:off x="950976" y="1874520"/>
            <a:ext cx="4041648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перед I/O, после пачки, в циклах</a:t>
            </a:r>
            <a:endParaRPr lang="ru-RU" sz="1200" dirty="0"/>
          </a:p>
        </p:txBody>
      </p:sp>
      <p:sp>
        <p:nvSpPr>
          <p:cNvPr id="9" name="Shape 9"/>
          <p:cNvSpPr/>
          <p:nvPr/>
        </p:nvSpPr>
        <p:spPr>
          <a:xfrm>
            <a:off x="5760720" y="1463040"/>
            <a:ext cx="4297680" cy="1143000"/>
          </a:xfrm>
          <a:prstGeom prst="roundRect">
            <a:avLst/>
          </a:prstGeom>
          <a:solidFill>
            <a:srgbClr val="E0F2FE"/>
          </a:solidFill>
          <a:ln w="16000">
            <a:solidFill>
              <a:srgbClr val="38BDF8"/>
            </a:solidFill>
          </a:ln>
        </p:spPr>
        <p:txBody>
          <a:bodyPr/>
          <a:lstStyle/>
          <a:p/>
        </p:txBody>
      </p:sp>
      <p:sp>
        <p:nvSpPr>
          <p:cNvPr id="10" name="Text 10"/>
          <p:cNvSpPr txBox="1"/>
          <p:nvPr/>
        </p:nvSpPr>
        <p:spPr>
          <a:xfrm>
            <a:off x="5888736" y="1563624"/>
            <a:ext cx="404164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b="1" dirty="0">
                <a:solidFill>
                  <a:srgbClr val="38BDF8"/>
                </a:solidFill>
                <a:latin typeface="JetBrains Mono"/>
                <a:ea typeface="JetBrains Mono"/>
                <a:cs typeface="JetBrains Mono"/>
              </a:rPr>
              <a:t xml:space="preserve">быстро выходим</a:t>
            </a:r>
            <a:endParaRPr lang="ru-RU" sz="1200" dirty="0"/>
          </a:p>
        </p:txBody>
      </p:sp>
      <p:sp>
        <p:nvSpPr>
          <p:cNvPr id="11" name="Text 11"/>
          <p:cNvSpPr txBox="1"/>
          <p:nvPr/>
        </p:nvSpPr>
        <p:spPr>
          <a:xfrm>
            <a:off x="5888736" y="1874520"/>
            <a:ext cx="4041648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return из безопасной точки</a:t>
            </a:r>
            <a:endParaRPr lang="ru-RU" sz="1200" dirty="0"/>
          </a:p>
        </p:txBody>
      </p:sp>
      <p:sp>
        <p:nvSpPr>
          <p:cNvPr id="12" name="Shape 12"/>
          <p:cNvSpPr/>
          <p:nvPr/>
        </p:nvSpPr>
        <p:spPr>
          <a:xfrm>
            <a:off x="822960" y="3154680"/>
            <a:ext cx="4297680" cy="1143000"/>
          </a:xfrm>
          <a:prstGeom prst="roundRect">
            <a:avLst/>
          </a:prstGeom>
          <a:solidFill>
            <a:srgbClr val="E0F2FE"/>
          </a:solidFill>
          <a:ln w="16000">
            <a:solidFill>
              <a:srgbClr val="38BDF8"/>
            </a:solidFill>
          </a:ln>
        </p:spPr>
        <p:txBody>
          <a:bodyPr/>
          <a:lstStyle/>
          <a:p/>
        </p:txBody>
      </p:sp>
      <p:sp>
        <p:nvSpPr>
          <p:cNvPr id="13" name="Text 13"/>
          <p:cNvSpPr txBox="1"/>
          <p:nvPr/>
        </p:nvSpPr>
        <p:spPr>
          <a:xfrm>
            <a:off x="950976" y="3255264"/>
            <a:ext cx="404164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b="1" dirty="0">
                <a:solidFill>
                  <a:srgbClr val="38BDF8"/>
                </a:solidFill>
                <a:latin typeface="JetBrains Mono"/>
                <a:ea typeface="JetBrains Mono"/>
                <a:cs typeface="JetBrains Mono"/>
              </a:rPr>
              <a:t xml:space="preserve">чистим RAII</a:t>
            </a:r>
            <a:endParaRPr lang="ru-RU" sz="1200" dirty="0"/>
          </a:p>
        </p:txBody>
      </p:sp>
      <p:sp>
        <p:nvSpPr>
          <p:cNvPr id="14" name="Text 14"/>
          <p:cNvSpPr txBox="1"/>
          <p:nvPr/>
        </p:nvSpPr>
        <p:spPr>
          <a:xfrm>
            <a:off x="950976" y="3566160"/>
            <a:ext cx="4041648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стек раскручивается штатно</a:t>
            </a:r>
            <a:endParaRPr lang="ru-RU" sz="1200" dirty="0"/>
          </a:p>
        </p:txBody>
      </p:sp>
      <p:sp>
        <p:nvSpPr>
          <p:cNvPr id="15" name="Shape 15"/>
          <p:cNvSpPr/>
          <p:nvPr/>
        </p:nvSpPr>
        <p:spPr>
          <a:xfrm>
            <a:off x="5760720" y="3154680"/>
            <a:ext cx="4297680" cy="1143000"/>
          </a:xfrm>
          <a:prstGeom prst="roundRect">
            <a:avLst/>
          </a:prstGeom>
          <a:solidFill>
            <a:srgbClr val="E0F2FE"/>
          </a:solidFill>
          <a:ln w="16000">
            <a:solidFill>
              <a:srgbClr val="38BDF8"/>
            </a:solidFill>
          </a:ln>
        </p:spPr>
        <p:txBody>
          <a:bodyPr/>
          <a:lstStyle/>
          <a:p/>
        </p:txBody>
      </p:sp>
      <p:sp>
        <p:nvSpPr>
          <p:cNvPr id="16" name="Text 16"/>
          <p:cNvSpPr txBox="1"/>
          <p:nvPr/>
        </p:nvSpPr>
        <p:spPr>
          <a:xfrm>
            <a:off x="5888736" y="3255264"/>
            <a:ext cx="404164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b="1" dirty="0">
                <a:solidFill>
                  <a:srgbClr val="38BDF8"/>
                </a:solidFill>
                <a:latin typeface="JetBrains Mono"/>
                <a:ea typeface="JetBrains Mono"/>
                <a:cs typeface="JetBrains Mono"/>
              </a:rPr>
              <a:t xml:space="preserve">не блокируем main</a:t>
            </a:r>
            <a:endParaRPr lang="ru-RU" sz="1200" dirty="0"/>
          </a:p>
        </p:txBody>
      </p:sp>
      <p:sp>
        <p:nvSpPr>
          <p:cNvPr id="17" name="Text 17"/>
          <p:cNvSpPr txBox="1"/>
          <p:nvPr/>
        </p:nvSpPr>
        <p:spPr>
          <a:xfrm>
            <a:off x="5888736" y="3566160"/>
            <a:ext cx="4041648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join только с понятным лимитом</a:t>
            </a:r>
            <a:endParaRPr lang="ru-RU" sz="1200" dirty="0"/>
          </a:p>
        </p:txBody>
      </p:sp>
      <p:sp>
        <p:nvSpPr>
          <p:cNvPr id="18" name="Page 18"/>
          <p:cNvSpPr txBox="1"/>
          <p:nvPr/>
        </p:nvSpPr>
        <p:spPr>
          <a:xfrm>
            <a:off x="10287000" y="6510528"/>
            <a:ext cx="6400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r"/>
            <a:r>
              <a:rPr lang="ru-RU" sz="900" dirty="0">
                <a:solidFill>
                  <a:srgbClr val="64748B"/>
                </a:solidFill>
                <a:latin typeface="JetBrains Mono"/>
                <a:ea typeface="JetBrains Mono"/>
                <a:cs typeface="JetBrains Mono"/>
              </a:rPr>
              <a:t xml:space="preserve">16</a:t>
            </a:r>
            <a:endParaRPr lang="ru-RU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 4"/>
          <p:cNvSpPr txBox="1"/>
          <p:nvPr/>
        </p:nvSpPr>
        <p:spPr>
          <a:xfrm>
            <a:off x="502920" y="201168"/>
            <a:ext cx="1065276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2400" b="1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Boost: interruption points</a:t>
            </a:r>
            <a:endParaRPr lang="ru-RU" sz="2400" dirty="0"/>
          </a:p>
        </p:txBody>
      </p:sp>
      <p:sp>
        <p:nvSpPr>
          <p:cNvPr id="5" name="Subtitle 5"/>
          <p:cNvSpPr txBox="1"/>
          <p:nvPr/>
        </p:nvSpPr>
        <p:spPr>
          <a:xfrm>
            <a:off x="530352" y="749808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100" dirty="0">
                <a:solidFill>
                  <a:srgbClr val="475569"/>
                </a:solidFill>
                <a:latin typeface="JetBrains Mono"/>
                <a:ea typeface="JetBrains Mono"/>
                <a:cs typeface="JetBrains Mono"/>
              </a:rPr>
              <a:t xml:space="preserve">Старый, но выразительный паттерн отмены</a:t>
            </a:r>
            <a:endParaRPr lang="ru-RU" sz="1100" dirty="0"/>
          </a:p>
        </p:txBody>
      </p:sp>
      <p:sp>
        <p:nvSpPr>
          <p:cNvPr id="6" name="RichText 6"/>
          <p:cNvSpPr txBox="1"/>
          <p:nvPr/>
        </p:nvSpPr>
        <p:spPr>
          <a:xfrm>
            <a:off x="384048" y="1060704"/>
            <a:ext cx="10387584" cy="5349240"/>
          </a:xfrm>
          <a:prstGeom prst="roundRect">
            <a:avLst/>
          </a:prstGeom>
          <a:solidFill>
            <a:srgbClr val="FFFFFF"/>
          </a:solidFill>
          <a:ln w="14000">
            <a:solidFill>
              <a:srgbClr val="94A3B8"/>
            </a:solidFill>
          </a:ln>
        </p:spPr>
        <p:txBody>
          <a:bodyPr wrap="none" lIns="85000" tIns="85000" rIns="85000" bIns="85000" anchor="mid"/>
          <a:lstStyle/>
          <a:p>
            <a:pPr algn="l"/>
            <a:r>
              <a:rPr lang="ru-RU" sz="1600" b="1" dirty="0">
                <a:solidFill>
                  <a:srgbClr val="2563EB"/>
                </a:solidFill>
                <a:latin typeface="JetBrains Mono"/>
                <a:ea typeface="JetBrains Mono"/>
                <a:cs typeface="JetBrains Mono"/>
              </a:rPr>
              <a:t xml:space="preserve">void</a:t>
            </a:r>
            <a:r>
              <a:rPr lang="ru-RU" sz="16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</a:t>
            </a:r>
            <a:r>
              <a:rPr lang="ru-RU" sz="1600" dirty="0">
                <a:solidFill>
                  <a:srgbClr val="0F766E"/>
                </a:solidFill>
                <a:latin typeface="JetBrains Mono"/>
                <a:ea typeface="JetBrains Mono"/>
                <a:cs typeface="JetBrains Mono"/>
              </a:rPr>
              <a:t xml:space="preserve">do_work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(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)</a:t>
            </a:r>
            <a:r>
              <a:rPr lang="ru-RU" sz="16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{</a:t>
            </a:r>
            <a:endParaRPr lang="ru-RU" sz="1600" dirty="0"/>
          </a:p>
          <a:p>
            <a:pPr algn="l"/>
            <a:r>
              <a:rPr lang="ru-RU" sz="16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   </a:t>
            </a:r>
            <a:r>
              <a:rPr lang="ru-RU" sz="1600" b="1" dirty="0">
                <a:solidFill>
                  <a:srgbClr val="2563EB"/>
                </a:solidFill>
                <a:latin typeface="JetBrains Mono"/>
                <a:ea typeface="JetBrains Mono"/>
                <a:cs typeface="JetBrains Mono"/>
              </a:rPr>
              <a:t xml:space="preserve">try</a:t>
            </a:r>
            <a:r>
              <a:rPr lang="ru-RU" sz="16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{</a:t>
            </a:r>
            <a:endParaRPr lang="ru-RU" sz="1600" dirty="0"/>
          </a:p>
          <a:p>
            <a:pPr algn="l"/>
            <a:r>
              <a:rPr lang="ru-RU" sz="16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       </a:t>
            </a:r>
            <a:r>
              <a:rPr lang="ru-RU" sz="1600" b="1" dirty="0">
                <a:solidFill>
                  <a:srgbClr val="2563EB"/>
                </a:solidFill>
                <a:latin typeface="JetBrains Mono"/>
                <a:ea typeface="JetBrains Mono"/>
                <a:cs typeface="JetBrains Mono"/>
              </a:rPr>
              <a:t xml:space="preserve">for</a:t>
            </a:r>
            <a:r>
              <a:rPr lang="ru-RU" sz="16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(</a:t>
            </a:r>
            <a:r>
              <a:rPr lang="ru-RU" sz="1600" dirty="0">
                <a:solidFill>
                  <a:srgbClr val="7C3AED"/>
                </a:solidFill>
                <a:latin typeface="JetBrains Mono"/>
                <a:ea typeface="JetBrains Mono"/>
                <a:cs typeface="JetBrains Mono"/>
              </a:rPr>
              <a:t xml:space="preserve">int</a:t>
            </a:r>
            <a:r>
              <a:rPr lang="ru-RU" sz="16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</a:t>
            </a:r>
            <a:r>
              <a:rPr lang="ru-RU" sz="16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i</a:t>
            </a:r>
            <a:r>
              <a:rPr lang="ru-RU" sz="16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=</a:t>
            </a:r>
            <a:r>
              <a:rPr lang="ru-RU" sz="16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</a:t>
            </a:r>
            <a:r>
              <a:rPr lang="ru-RU" sz="1600" dirty="0">
                <a:solidFill>
                  <a:srgbClr val="B45309"/>
                </a:solidFill>
                <a:latin typeface="JetBrains Mono"/>
                <a:ea typeface="JetBrains Mono"/>
                <a:cs typeface="JetBrains Mono"/>
              </a:rPr>
              <a:t xml:space="preserve">0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;</a:t>
            </a:r>
            <a:r>
              <a:rPr lang="ru-RU" sz="16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</a:t>
            </a:r>
            <a:r>
              <a:rPr lang="ru-RU" sz="16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i</a:t>
            </a:r>
            <a:r>
              <a:rPr lang="ru-RU" sz="16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&lt;</a:t>
            </a:r>
            <a:r>
              <a:rPr lang="ru-RU" sz="16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</a:t>
            </a:r>
            <a:r>
              <a:rPr lang="ru-RU" sz="1600" dirty="0">
                <a:solidFill>
                  <a:srgbClr val="B45309"/>
                </a:solidFill>
                <a:latin typeface="JetBrains Mono"/>
                <a:ea typeface="JetBrains Mono"/>
                <a:cs typeface="JetBrains Mono"/>
              </a:rPr>
              <a:t xml:space="preserve">100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;</a:t>
            </a:r>
            <a:r>
              <a:rPr lang="ru-RU" sz="16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+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+</a:t>
            </a:r>
            <a:r>
              <a:rPr lang="ru-RU" sz="16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i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)</a:t>
            </a:r>
            <a:r>
              <a:rPr lang="ru-RU" sz="16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{</a:t>
            </a:r>
            <a:endParaRPr lang="ru-RU" sz="1600" dirty="0"/>
          </a:p>
          <a:p>
            <a:pPr algn="l"/>
            <a:r>
              <a:rPr lang="ru-RU" sz="16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           </a:t>
            </a:r>
            <a:r>
              <a:rPr lang="ru-RU" sz="16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boost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: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:</a:t>
            </a:r>
            <a:r>
              <a:rPr lang="ru-RU" sz="16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this_thread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: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:</a:t>
            </a:r>
            <a:r>
              <a:rPr lang="ru-RU" sz="1600" dirty="0">
                <a:solidFill>
                  <a:srgbClr val="0F766E"/>
                </a:solidFill>
                <a:latin typeface="JetBrains Mono"/>
                <a:ea typeface="JetBrains Mono"/>
                <a:cs typeface="JetBrains Mono"/>
              </a:rPr>
              <a:t xml:space="preserve">interruption_point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(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)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;</a:t>
            </a:r>
            <a:endParaRPr lang="ru-RU" sz="1600" dirty="0"/>
          </a:p>
          <a:p>
            <a:pPr algn="l"/>
            <a:r>
              <a:rPr lang="ru-RU" sz="16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</a:t>
            </a:r>
            <a:endParaRPr lang="ru-RU" sz="1600" dirty="0"/>
          </a:p>
          <a:p>
            <a:pPr algn="l"/>
            <a:r>
              <a:rPr lang="ru-RU" sz="16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           </a:t>
            </a:r>
            <a:r>
              <a:rPr lang="ru-RU" sz="16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boost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: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:</a:t>
            </a:r>
            <a:r>
              <a:rPr lang="ru-RU" sz="16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this_thread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: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:</a:t>
            </a:r>
            <a:r>
              <a:rPr lang="ru-RU" sz="1600" dirty="0">
                <a:solidFill>
                  <a:srgbClr val="0F766E"/>
                </a:solidFill>
                <a:latin typeface="JetBrains Mono"/>
                <a:ea typeface="JetBrains Mono"/>
                <a:cs typeface="JetBrains Mono"/>
              </a:rPr>
              <a:t xml:space="preserve">sleep_for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(</a:t>
            </a:r>
            <a:r>
              <a:rPr lang="ru-RU" sz="1600" dirty="0">
                <a:solidFill>
                  <a:srgbClr val="B45309"/>
                </a:solidFill>
                <a:latin typeface="JetBrains Mono"/>
                <a:ea typeface="JetBrains Mono"/>
                <a:cs typeface="JetBrains Mono"/>
              </a:rPr>
              <a:t xml:space="preserve">100ms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)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;</a:t>
            </a:r>
            <a:endParaRPr lang="ru-RU" sz="1600" dirty="0"/>
          </a:p>
          <a:p>
            <a:pPr algn="l"/>
            <a:r>
              <a:rPr lang="ru-RU" sz="16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           </a:t>
            </a:r>
            <a:r>
              <a:rPr lang="ru-RU" sz="1600" dirty="0">
                <a:solidFill>
                  <a:srgbClr val="0F766E"/>
                </a:solidFill>
                <a:latin typeface="JetBrains Mono"/>
                <a:ea typeface="JetBrains Mono"/>
                <a:cs typeface="JetBrains Mono"/>
              </a:rPr>
              <a:t xml:space="preserve">load_next_chunk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(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)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;</a:t>
            </a:r>
            <a:endParaRPr lang="ru-RU" sz="1600" dirty="0"/>
          </a:p>
          <a:p>
            <a:pPr algn="l"/>
            <a:r>
              <a:rPr lang="ru-RU" sz="16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       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}</a:t>
            </a:r>
            <a:endParaRPr lang="ru-RU" sz="1600" dirty="0"/>
          </a:p>
          <a:p>
            <a:pPr algn="l"/>
            <a:r>
              <a:rPr lang="ru-RU" sz="16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   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}</a:t>
            </a:r>
            <a:r>
              <a:rPr lang="ru-RU" sz="16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</a:t>
            </a:r>
            <a:r>
              <a:rPr lang="ru-RU" sz="1600" b="1" dirty="0">
                <a:solidFill>
                  <a:srgbClr val="2563EB"/>
                </a:solidFill>
                <a:latin typeface="JetBrains Mono"/>
                <a:ea typeface="JetBrains Mono"/>
                <a:cs typeface="JetBrains Mono"/>
              </a:rPr>
              <a:t xml:space="preserve">catch</a:t>
            </a:r>
            <a:r>
              <a:rPr lang="ru-RU" sz="16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(</a:t>
            </a:r>
            <a:r>
              <a:rPr lang="ru-RU" sz="1600" b="1" dirty="0">
                <a:solidFill>
                  <a:srgbClr val="2563EB"/>
                </a:solidFill>
                <a:latin typeface="JetBrains Mono"/>
                <a:ea typeface="JetBrains Mono"/>
                <a:cs typeface="JetBrains Mono"/>
              </a:rPr>
              <a:t xml:space="preserve">const</a:t>
            </a:r>
            <a:r>
              <a:rPr lang="ru-RU" sz="16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</a:t>
            </a:r>
            <a:r>
              <a:rPr lang="ru-RU" sz="16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boost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: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:</a:t>
            </a:r>
            <a:r>
              <a:rPr lang="ru-RU" sz="16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thread_interrupted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&amp;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)</a:t>
            </a:r>
            <a:r>
              <a:rPr lang="ru-RU" sz="16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{</a:t>
            </a:r>
            <a:endParaRPr lang="ru-RU" sz="1600" dirty="0"/>
          </a:p>
          <a:p>
            <a:pPr algn="l"/>
            <a:r>
              <a:rPr lang="ru-RU" sz="16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       </a:t>
            </a:r>
            <a:r>
              <a:rPr lang="ru-RU" sz="1600" i="1" dirty="0">
                <a:solidFill>
                  <a:srgbClr val="64748B"/>
                </a:solidFill>
                <a:latin typeface="JetBrains Mono"/>
                <a:ea typeface="JetBrains Mono"/>
                <a:cs typeface="JetBrains Mono"/>
              </a:rPr>
              <a:t xml:space="preserve">// graceful shutdown</a:t>
            </a:r>
            <a:endParaRPr lang="ru-RU" sz="1600" dirty="0"/>
          </a:p>
          <a:p>
            <a:pPr algn="l"/>
            <a:r>
              <a:rPr lang="ru-RU" sz="16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   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}</a:t>
            </a:r>
            <a:endParaRPr lang="ru-RU" sz="1600" dirty="0"/>
          </a:p>
          <a:p>
            <a:pPr algn="l"/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}</a:t>
            </a:r>
            <a:endParaRPr lang="ru-RU" sz="1600" dirty="0"/>
          </a:p>
          <a:p>
            <a:pPr algn="l"/>
            <a:r>
              <a:rPr lang="ru-RU" sz="16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</a:t>
            </a:r>
            <a:endParaRPr lang="ru-RU" sz="1600" dirty="0"/>
          </a:p>
          <a:p>
            <a:pPr algn="l"/>
            <a:r>
              <a:rPr lang="ru-RU" sz="16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thread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.</a:t>
            </a:r>
            <a:r>
              <a:rPr lang="ru-RU" sz="1600" dirty="0">
                <a:solidFill>
                  <a:srgbClr val="0F766E"/>
                </a:solidFill>
                <a:latin typeface="JetBrains Mono"/>
                <a:ea typeface="JetBrains Mono"/>
                <a:cs typeface="JetBrains Mono"/>
              </a:rPr>
              <a:t xml:space="preserve">interrupt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(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)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;</a:t>
            </a:r>
            <a:endParaRPr lang="ru-RU" sz="1600" dirty="0"/>
          </a:p>
          <a:p>
            <a:pPr algn="l"/>
            <a:r>
              <a:rPr lang="ru-RU" sz="16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thread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.</a:t>
            </a:r>
            <a:r>
              <a:rPr lang="ru-RU" sz="1600" dirty="0">
                <a:solidFill>
                  <a:srgbClr val="0F766E"/>
                </a:solidFill>
                <a:latin typeface="JetBrains Mono"/>
                <a:ea typeface="JetBrains Mono"/>
                <a:cs typeface="JetBrains Mono"/>
              </a:rPr>
              <a:t xml:space="preserve">join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(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)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;</a:t>
            </a:r>
            <a:endParaRPr lang="ru-RU" sz="1600" dirty="0"/>
          </a:p>
        </p:txBody>
      </p:sp>
      <p:sp>
        <p:nvSpPr>
          <p:cNvPr id="7" name="Page 7"/>
          <p:cNvSpPr txBox="1"/>
          <p:nvPr/>
        </p:nvSpPr>
        <p:spPr>
          <a:xfrm>
            <a:off x="10287000" y="6510528"/>
            <a:ext cx="6400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r"/>
            <a:r>
              <a:rPr lang="ru-RU" sz="900" dirty="0">
                <a:solidFill>
                  <a:srgbClr val="64748B"/>
                </a:solidFill>
                <a:latin typeface="JetBrains Mono"/>
                <a:ea typeface="JetBrains Mono"/>
                <a:cs typeface="JetBrains Mono"/>
              </a:rPr>
              <a:t xml:space="preserve">17</a:t>
            </a:r>
            <a:endParaRPr lang="ru-RU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 4"/>
          <p:cNvSpPr txBox="1"/>
          <p:nvPr/>
        </p:nvSpPr>
        <p:spPr>
          <a:xfrm>
            <a:off x="502920" y="201168"/>
            <a:ext cx="1065276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2400" b="1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Почему try/catch обязателен в callback</a:t>
            </a:r>
            <a:endParaRPr lang="ru-RU" sz="2400" dirty="0"/>
          </a:p>
        </p:txBody>
      </p:sp>
      <p:sp>
        <p:nvSpPr>
          <p:cNvPr id="5" name="Subtitle 5"/>
          <p:cNvSpPr txBox="1"/>
          <p:nvPr/>
        </p:nvSpPr>
        <p:spPr>
          <a:xfrm>
            <a:off x="530352" y="749808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100" dirty="0">
                <a:solidFill>
                  <a:srgbClr val="475569"/>
                </a:solidFill>
                <a:latin typeface="JetBrains Mono"/>
                <a:ea typeface="JetBrains Mono"/>
                <a:cs typeface="JetBrains Mono"/>
              </a:rPr>
              <a:t xml:space="preserve">Исключение в чужом потоке не вернется магически на main</a:t>
            </a:r>
            <a:endParaRPr lang="ru-RU" sz="1100" dirty="0"/>
          </a:p>
        </p:txBody>
      </p:sp>
      <p:sp>
        <p:nvSpPr>
          <p:cNvPr id="6" name="Shape 6"/>
          <p:cNvSpPr/>
          <p:nvPr/>
        </p:nvSpPr>
        <p:spPr>
          <a:xfrm>
            <a:off x="777240" y="1554480"/>
            <a:ext cx="3063240" cy="1325880"/>
          </a:xfrm>
          <a:prstGeom prst="roundRect">
            <a:avLst/>
          </a:prstGeom>
          <a:solidFill>
            <a:srgbClr val="FFE4E6"/>
          </a:solidFill>
          <a:ln w="16000">
            <a:solidFill>
              <a:srgbClr val="FB7185"/>
            </a:solidFill>
          </a:ln>
        </p:spPr>
        <p:txBody>
          <a:bodyPr/>
          <a:lstStyle/>
          <a:p/>
        </p:txBody>
      </p:sp>
      <p:sp>
        <p:nvSpPr>
          <p:cNvPr id="7" name="Text 7"/>
          <p:cNvSpPr txBox="1"/>
          <p:nvPr/>
        </p:nvSpPr>
        <p:spPr>
          <a:xfrm>
            <a:off x="905256" y="1655064"/>
            <a:ext cx="280720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b="1" dirty="0">
                <a:solidFill>
                  <a:srgbClr val="FB7185"/>
                </a:solidFill>
                <a:latin typeface="JetBrains Mono"/>
                <a:ea typeface="JetBrains Mono"/>
                <a:cs typeface="JetBrains Mono"/>
              </a:rPr>
              <a:t xml:space="preserve">callback бросил</a:t>
            </a:r>
            <a:endParaRPr lang="ru-RU" sz="1200" dirty="0"/>
          </a:p>
        </p:txBody>
      </p:sp>
      <p:sp>
        <p:nvSpPr>
          <p:cNvPr id="8" name="Text 8"/>
          <p:cNvSpPr txBox="1"/>
          <p:nvPr/>
        </p:nvSpPr>
        <p:spPr>
          <a:xfrm>
            <a:off x="905256" y="1965960"/>
            <a:ext cx="2807208" cy="82295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нет файла, ошибка парсинга,</a:t>
            </a:r>
            <a:endParaRPr lang="ru-RU" sz="1200" dirty="0"/>
          </a:p>
          <a:p>
            <a:pPr algn="l"/>
            <a:r>
              <a:rPr lang="ru-RU" sz="12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assert</a:t>
            </a:r>
            <a:endParaRPr lang="ru-RU" sz="1200" dirty="0"/>
          </a:p>
        </p:txBody>
      </p:sp>
      <p:sp>
        <p:nvSpPr>
          <p:cNvPr id="9" name="Shape 9"/>
          <p:cNvSpPr/>
          <p:nvPr/>
        </p:nvSpPr>
        <p:spPr>
          <a:xfrm>
            <a:off x="4160520" y="1554480"/>
            <a:ext cx="3063240" cy="1325880"/>
          </a:xfrm>
          <a:prstGeom prst="roundRect">
            <a:avLst/>
          </a:prstGeom>
          <a:solidFill>
            <a:srgbClr val="FFE4E6"/>
          </a:solidFill>
          <a:ln w="16000">
            <a:solidFill>
              <a:srgbClr val="FB7185"/>
            </a:solidFill>
          </a:ln>
        </p:spPr>
        <p:txBody>
          <a:bodyPr/>
          <a:lstStyle/>
          <a:p/>
        </p:txBody>
      </p:sp>
      <p:sp>
        <p:nvSpPr>
          <p:cNvPr id="10" name="Text 10"/>
          <p:cNvSpPr txBox="1"/>
          <p:nvPr/>
        </p:nvSpPr>
        <p:spPr>
          <a:xfrm>
            <a:off x="4288536" y="1655064"/>
            <a:ext cx="280720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b="1" dirty="0">
                <a:solidFill>
                  <a:srgbClr val="FB7185"/>
                </a:solidFill>
                <a:latin typeface="JetBrains Mono"/>
                <a:ea typeface="JetBrains Mono"/>
                <a:cs typeface="JetBrains Mono"/>
              </a:rPr>
              <a:t xml:space="preserve">исключение не поймано</a:t>
            </a:r>
            <a:endParaRPr lang="ru-RU" sz="1200" dirty="0"/>
          </a:p>
        </p:txBody>
      </p:sp>
      <p:sp>
        <p:nvSpPr>
          <p:cNvPr id="11" name="Text 11"/>
          <p:cNvSpPr txBox="1"/>
          <p:nvPr/>
        </p:nvSpPr>
        <p:spPr>
          <a:xfrm>
            <a:off x="4288536" y="1965960"/>
            <a:ext cx="2807208" cy="82295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std::terminate / падение</a:t>
            </a:r>
            <a:endParaRPr lang="ru-RU" sz="1200" dirty="0"/>
          </a:p>
          <a:p>
            <a:pPr algn="l"/>
            <a:r>
              <a:rPr lang="ru-RU" sz="12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процесса</a:t>
            </a:r>
            <a:endParaRPr lang="ru-RU" sz="1200" dirty="0"/>
          </a:p>
        </p:txBody>
      </p:sp>
      <p:sp>
        <p:nvSpPr>
          <p:cNvPr id="12" name="Shape 12"/>
          <p:cNvSpPr/>
          <p:nvPr/>
        </p:nvSpPr>
        <p:spPr>
          <a:xfrm>
            <a:off x="7543800" y="1554480"/>
            <a:ext cx="2743200" cy="1325880"/>
          </a:xfrm>
          <a:prstGeom prst="roundRect">
            <a:avLst/>
          </a:prstGeom>
          <a:solidFill>
            <a:srgbClr val="FFE4E6"/>
          </a:solidFill>
          <a:ln w="16000">
            <a:solidFill>
              <a:srgbClr val="FB7185"/>
            </a:solidFill>
          </a:ln>
        </p:spPr>
        <p:txBody>
          <a:bodyPr/>
          <a:lstStyle/>
          <a:p/>
        </p:txBody>
      </p:sp>
      <p:sp>
        <p:nvSpPr>
          <p:cNvPr id="13" name="Text 13"/>
          <p:cNvSpPr txBox="1"/>
          <p:nvPr/>
        </p:nvSpPr>
        <p:spPr>
          <a:xfrm>
            <a:off x="7671816" y="1655064"/>
            <a:ext cx="248716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b="1" dirty="0">
                <a:solidFill>
                  <a:srgbClr val="FB7185"/>
                </a:solidFill>
                <a:latin typeface="JetBrains Mono"/>
                <a:ea typeface="JetBrains Mono"/>
                <a:cs typeface="JetBrains Mono"/>
              </a:rPr>
              <a:t xml:space="preserve">лог потерян</a:t>
            </a:r>
            <a:endParaRPr lang="ru-RU" sz="1200" dirty="0"/>
          </a:p>
        </p:txBody>
      </p:sp>
      <p:sp>
        <p:nvSpPr>
          <p:cNvPr id="14" name="Text 14"/>
          <p:cNvSpPr txBox="1"/>
          <p:nvPr/>
        </p:nvSpPr>
        <p:spPr>
          <a:xfrm>
            <a:off x="7671816" y="1965960"/>
            <a:ext cx="2487168" cy="82295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причину сложно найти</a:t>
            </a:r>
            <a:endParaRPr lang="ru-RU" sz="1200" dirty="0"/>
          </a:p>
        </p:txBody>
      </p:sp>
      <p:sp>
        <p:nvSpPr>
          <p:cNvPr id="15" name="Text 15"/>
          <p:cNvSpPr txBox="1"/>
          <p:nvPr/>
        </p:nvSpPr>
        <p:spPr>
          <a:xfrm>
            <a:off x="777240" y="3822191"/>
            <a:ext cx="9601200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ctr"/>
            <a:r>
              <a:rPr lang="ru-RU" sz="1700" b="1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Граница потока должна ловить все, логировать, переводить ошибку в результат и уведомлять владельца.</a:t>
            </a:r>
            <a:endParaRPr lang="ru-RU" sz="1700" dirty="0"/>
          </a:p>
        </p:txBody>
      </p:sp>
      <p:sp>
        <p:nvSpPr>
          <p:cNvPr id="16" name="Page 16"/>
          <p:cNvSpPr txBox="1"/>
          <p:nvPr/>
        </p:nvSpPr>
        <p:spPr>
          <a:xfrm>
            <a:off x="10287000" y="6510528"/>
            <a:ext cx="6400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r"/>
            <a:r>
              <a:rPr lang="ru-RU" sz="900" dirty="0">
                <a:solidFill>
                  <a:srgbClr val="64748B"/>
                </a:solidFill>
                <a:latin typeface="JetBrains Mono"/>
                <a:ea typeface="JetBrains Mono"/>
                <a:cs typeface="JetBrains Mono"/>
              </a:rPr>
              <a:t xml:space="preserve">18</a:t>
            </a:r>
            <a:endParaRPr lang="ru-RU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 4"/>
          <p:cNvSpPr txBox="1"/>
          <p:nvPr/>
        </p:nvSpPr>
        <p:spPr>
          <a:xfrm>
            <a:off x="502920" y="201168"/>
            <a:ext cx="1065276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2400" b="1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Шаблон безопасной границы worker</a:t>
            </a:r>
            <a:endParaRPr lang="ru-RU" sz="2400" dirty="0"/>
          </a:p>
        </p:txBody>
      </p:sp>
      <p:sp>
        <p:nvSpPr>
          <p:cNvPr id="5" name="Subtitle 5"/>
          <p:cNvSpPr txBox="1"/>
          <p:nvPr/>
        </p:nvSpPr>
        <p:spPr>
          <a:xfrm>
            <a:off x="530352" y="749808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100" dirty="0">
                <a:solidFill>
                  <a:srgbClr val="475569"/>
                </a:solidFill>
                <a:latin typeface="JetBrains Mono"/>
                <a:ea typeface="JetBrains Mono"/>
                <a:cs typeface="JetBrains Mono"/>
              </a:rPr>
              <a:t xml:space="preserve">Пользовательский код не должен валить весь процесс без лога</a:t>
            </a:r>
            <a:endParaRPr lang="ru-RU" sz="1100" dirty="0"/>
          </a:p>
        </p:txBody>
      </p:sp>
      <p:sp>
        <p:nvSpPr>
          <p:cNvPr id="6" name="RichText 6"/>
          <p:cNvSpPr txBox="1"/>
          <p:nvPr/>
        </p:nvSpPr>
        <p:spPr>
          <a:xfrm>
            <a:off x="384048" y="1060704"/>
            <a:ext cx="10387584" cy="5349240"/>
          </a:xfrm>
          <a:prstGeom prst="roundRect">
            <a:avLst/>
          </a:prstGeom>
          <a:solidFill>
            <a:srgbClr val="FFFFFF"/>
          </a:solidFill>
          <a:ln w="14000">
            <a:solidFill>
              <a:srgbClr val="94A3B8"/>
            </a:solidFill>
          </a:ln>
        </p:spPr>
        <p:txBody>
          <a:bodyPr wrap="none" lIns="85000" tIns="85000" rIns="85000" bIns="85000" anchor="mid"/>
          <a:lstStyle/>
          <a:p>
            <a:pPr algn="l"/>
            <a:r>
              <a:rPr lang="ru-RU" sz="1800" b="1" dirty="0">
                <a:solidFill>
                  <a:srgbClr val="2563EB"/>
                </a:solidFill>
                <a:latin typeface="JetBrains Mono"/>
                <a:ea typeface="JetBrains Mono"/>
                <a:cs typeface="JetBrains Mono"/>
              </a:rPr>
              <a:t xml:space="preserve">void</a:t>
            </a:r>
            <a:r>
              <a:rPr lang="ru-RU" sz="18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</a:t>
            </a:r>
            <a:r>
              <a:rPr lang="ru-RU" sz="1800" dirty="0">
                <a:solidFill>
                  <a:srgbClr val="0F766E"/>
                </a:solidFill>
                <a:latin typeface="JetBrains Mono"/>
                <a:ea typeface="JetBrains Mono"/>
                <a:cs typeface="JetBrains Mono"/>
              </a:rPr>
              <a:t xml:space="preserve">worker_entry</a:t>
            </a:r>
            <a:r>
              <a:rPr lang="ru-RU" sz="18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(</a:t>
            </a:r>
            <a:r>
              <a:rPr lang="ru-RU" sz="1800" dirty="0">
                <a:solidFill>
                  <a:srgbClr val="7C3AED"/>
                </a:solidFill>
                <a:latin typeface="JetBrains Mono"/>
                <a:ea typeface="JetBrains Mono"/>
                <a:cs typeface="JetBrains Mono"/>
              </a:rPr>
              <a:t xml:space="preserve">std</a:t>
            </a:r>
            <a:r>
              <a:rPr lang="ru-RU" sz="18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:</a:t>
            </a:r>
            <a:r>
              <a:rPr lang="ru-RU" sz="18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:</a:t>
            </a:r>
            <a:r>
              <a:rPr lang="ru-RU" sz="18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function</a:t>
            </a:r>
            <a:r>
              <a:rPr lang="ru-RU" sz="18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&lt;</a:t>
            </a:r>
            <a:r>
              <a:rPr lang="ru-RU" sz="1800" b="1" dirty="0">
                <a:solidFill>
                  <a:srgbClr val="2563EB"/>
                </a:solidFill>
                <a:latin typeface="JetBrains Mono"/>
                <a:ea typeface="JetBrains Mono"/>
                <a:cs typeface="JetBrains Mono"/>
              </a:rPr>
              <a:t xml:space="preserve">void</a:t>
            </a:r>
            <a:r>
              <a:rPr lang="ru-RU" sz="18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(</a:t>
            </a:r>
            <a:r>
              <a:rPr lang="ru-RU" sz="18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)</a:t>
            </a:r>
            <a:r>
              <a:rPr lang="ru-RU" sz="18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&gt;</a:t>
            </a:r>
            <a:r>
              <a:rPr lang="ru-RU" sz="18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</a:t>
            </a:r>
            <a:r>
              <a:rPr lang="ru-RU" sz="18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user_callback</a:t>
            </a:r>
            <a:r>
              <a:rPr lang="ru-RU" sz="18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)</a:t>
            </a:r>
            <a:r>
              <a:rPr lang="ru-RU" sz="18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</a:t>
            </a:r>
            <a:r>
              <a:rPr lang="ru-RU" sz="18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{</a:t>
            </a:r>
            <a:endParaRPr lang="ru-RU" sz="1800" dirty="0"/>
          </a:p>
          <a:p>
            <a:pPr algn="l"/>
            <a:r>
              <a:rPr lang="ru-RU" sz="18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   </a:t>
            </a:r>
            <a:r>
              <a:rPr lang="ru-RU" sz="1800" b="1" dirty="0">
                <a:solidFill>
                  <a:srgbClr val="2563EB"/>
                </a:solidFill>
                <a:latin typeface="JetBrains Mono"/>
                <a:ea typeface="JetBrains Mono"/>
                <a:cs typeface="JetBrains Mono"/>
              </a:rPr>
              <a:t xml:space="preserve">try</a:t>
            </a:r>
            <a:r>
              <a:rPr lang="ru-RU" sz="18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</a:t>
            </a:r>
            <a:r>
              <a:rPr lang="ru-RU" sz="18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{</a:t>
            </a:r>
            <a:endParaRPr lang="ru-RU" sz="1800" dirty="0"/>
          </a:p>
          <a:p>
            <a:pPr algn="l"/>
            <a:r>
              <a:rPr lang="ru-RU" sz="18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       </a:t>
            </a:r>
            <a:r>
              <a:rPr lang="ru-RU" sz="1800" dirty="0">
                <a:solidFill>
                  <a:srgbClr val="0F766E"/>
                </a:solidFill>
                <a:latin typeface="JetBrains Mono"/>
                <a:ea typeface="JetBrains Mono"/>
                <a:cs typeface="JetBrains Mono"/>
              </a:rPr>
              <a:t xml:space="preserve">user_callback</a:t>
            </a:r>
            <a:r>
              <a:rPr lang="ru-RU" sz="18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(</a:t>
            </a:r>
            <a:r>
              <a:rPr lang="ru-RU" sz="18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)</a:t>
            </a:r>
            <a:r>
              <a:rPr lang="ru-RU" sz="18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;</a:t>
            </a:r>
            <a:endParaRPr lang="ru-RU" sz="1800" dirty="0"/>
          </a:p>
          <a:p>
            <a:pPr algn="l"/>
            <a:r>
              <a:rPr lang="ru-RU" sz="18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       </a:t>
            </a:r>
            <a:r>
              <a:rPr lang="ru-RU" sz="1800" dirty="0">
                <a:solidFill>
                  <a:srgbClr val="0F766E"/>
                </a:solidFill>
                <a:latin typeface="JetBrains Mono"/>
                <a:ea typeface="JetBrains Mono"/>
                <a:cs typeface="JetBrains Mono"/>
              </a:rPr>
              <a:t xml:space="preserve">post_result</a:t>
            </a:r>
            <a:r>
              <a:rPr lang="ru-RU" sz="18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(</a:t>
            </a:r>
            <a:r>
              <a:rPr lang="ru-RU" sz="18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success</a:t>
            </a:r>
            <a:r>
              <a:rPr lang="ru-RU" sz="18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{</a:t>
            </a:r>
            <a:r>
              <a:rPr lang="ru-RU" sz="18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}</a:t>
            </a:r>
            <a:r>
              <a:rPr lang="ru-RU" sz="18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)</a:t>
            </a:r>
            <a:r>
              <a:rPr lang="ru-RU" sz="18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;</a:t>
            </a:r>
            <a:endParaRPr lang="ru-RU" sz="1800" dirty="0"/>
          </a:p>
          <a:p>
            <a:pPr algn="l"/>
            <a:r>
              <a:rPr lang="ru-RU" sz="18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   </a:t>
            </a:r>
            <a:r>
              <a:rPr lang="ru-RU" sz="18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}</a:t>
            </a:r>
            <a:r>
              <a:rPr lang="ru-RU" sz="18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</a:t>
            </a:r>
            <a:r>
              <a:rPr lang="ru-RU" sz="1800" b="1" dirty="0">
                <a:solidFill>
                  <a:srgbClr val="2563EB"/>
                </a:solidFill>
                <a:latin typeface="JetBrains Mono"/>
                <a:ea typeface="JetBrains Mono"/>
                <a:cs typeface="JetBrains Mono"/>
              </a:rPr>
              <a:t xml:space="preserve">catch</a:t>
            </a:r>
            <a:r>
              <a:rPr lang="ru-RU" sz="18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</a:t>
            </a:r>
            <a:r>
              <a:rPr lang="ru-RU" sz="18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(</a:t>
            </a:r>
            <a:r>
              <a:rPr lang="ru-RU" sz="1800" b="1" dirty="0">
                <a:solidFill>
                  <a:srgbClr val="2563EB"/>
                </a:solidFill>
                <a:latin typeface="JetBrains Mono"/>
                <a:ea typeface="JetBrains Mono"/>
                <a:cs typeface="JetBrains Mono"/>
              </a:rPr>
              <a:t xml:space="preserve">const</a:t>
            </a:r>
            <a:r>
              <a:rPr lang="ru-RU" sz="18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</a:t>
            </a:r>
            <a:r>
              <a:rPr lang="ru-RU" sz="1800" dirty="0">
                <a:solidFill>
                  <a:srgbClr val="7C3AED"/>
                </a:solidFill>
                <a:latin typeface="JetBrains Mono"/>
                <a:ea typeface="JetBrains Mono"/>
                <a:cs typeface="JetBrains Mono"/>
              </a:rPr>
              <a:t xml:space="preserve">std</a:t>
            </a:r>
            <a:r>
              <a:rPr lang="ru-RU" sz="18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:</a:t>
            </a:r>
            <a:r>
              <a:rPr lang="ru-RU" sz="18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:</a:t>
            </a:r>
            <a:r>
              <a:rPr lang="ru-RU" sz="1800" dirty="0">
                <a:solidFill>
                  <a:srgbClr val="7C3AED"/>
                </a:solidFill>
                <a:latin typeface="JetBrains Mono"/>
                <a:ea typeface="JetBrains Mono"/>
                <a:cs typeface="JetBrains Mono"/>
              </a:rPr>
              <a:t xml:space="preserve">exception</a:t>
            </a:r>
            <a:r>
              <a:rPr lang="ru-RU" sz="18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&amp;</a:t>
            </a:r>
            <a:r>
              <a:rPr lang="ru-RU" sz="18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</a:t>
            </a:r>
            <a:r>
              <a:rPr lang="ru-RU" sz="18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e</a:t>
            </a:r>
            <a:r>
              <a:rPr lang="ru-RU" sz="18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)</a:t>
            </a:r>
            <a:r>
              <a:rPr lang="ru-RU" sz="18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</a:t>
            </a:r>
            <a:r>
              <a:rPr lang="ru-RU" sz="18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{</a:t>
            </a:r>
            <a:endParaRPr lang="ru-RU" sz="1800" dirty="0"/>
          </a:p>
          <a:p>
            <a:pPr algn="l"/>
            <a:r>
              <a:rPr lang="ru-RU" sz="18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       </a:t>
            </a:r>
            <a:r>
              <a:rPr lang="ru-RU" sz="1800" dirty="0">
                <a:solidFill>
                  <a:srgbClr val="0F766E"/>
                </a:solidFill>
                <a:latin typeface="JetBrains Mono"/>
                <a:ea typeface="JetBrains Mono"/>
                <a:cs typeface="JetBrains Mono"/>
              </a:rPr>
              <a:t xml:space="preserve">log_error</a:t>
            </a:r>
            <a:r>
              <a:rPr lang="ru-RU" sz="18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(</a:t>
            </a:r>
            <a:r>
              <a:rPr lang="ru-RU" sz="18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e</a:t>
            </a:r>
            <a:r>
              <a:rPr lang="ru-RU" sz="18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.</a:t>
            </a:r>
            <a:r>
              <a:rPr lang="ru-RU" sz="1800" dirty="0">
                <a:solidFill>
                  <a:srgbClr val="0F766E"/>
                </a:solidFill>
                <a:latin typeface="JetBrains Mono"/>
                <a:ea typeface="JetBrains Mono"/>
                <a:cs typeface="JetBrains Mono"/>
              </a:rPr>
              <a:t xml:space="preserve">what</a:t>
            </a:r>
            <a:r>
              <a:rPr lang="ru-RU" sz="18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(</a:t>
            </a:r>
            <a:r>
              <a:rPr lang="ru-RU" sz="18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)</a:t>
            </a:r>
            <a:r>
              <a:rPr lang="ru-RU" sz="18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)</a:t>
            </a:r>
            <a:r>
              <a:rPr lang="ru-RU" sz="18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;</a:t>
            </a:r>
            <a:endParaRPr lang="ru-RU" sz="1800" dirty="0"/>
          </a:p>
          <a:p>
            <a:pPr algn="l"/>
            <a:r>
              <a:rPr lang="ru-RU" sz="18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       </a:t>
            </a:r>
            <a:r>
              <a:rPr lang="ru-RU" sz="1800" dirty="0">
                <a:solidFill>
                  <a:srgbClr val="0F766E"/>
                </a:solidFill>
                <a:latin typeface="JetBrains Mono"/>
                <a:ea typeface="JetBrains Mono"/>
                <a:cs typeface="JetBrains Mono"/>
              </a:rPr>
              <a:t xml:space="preserve">post_result</a:t>
            </a:r>
            <a:r>
              <a:rPr lang="ru-RU" sz="18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(</a:t>
            </a:r>
            <a:r>
              <a:rPr lang="ru-RU" sz="18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failure</a:t>
            </a:r>
            <a:r>
              <a:rPr lang="ru-RU" sz="18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{</a:t>
            </a:r>
            <a:r>
              <a:rPr lang="ru-RU" sz="18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e</a:t>
            </a:r>
            <a:r>
              <a:rPr lang="ru-RU" sz="18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.</a:t>
            </a:r>
            <a:r>
              <a:rPr lang="ru-RU" sz="1800" dirty="0">
                <a:solidFill>
                  <a:srgbClr val="0F766E"/>
                </a:solidFill>
                <a:latin typeface="JetBrains Mono"/>
                <a:ea typeface="JetBrains Mono"/>
                <a:cs typeface="JetBrains Mono"/>
              </a:rPr>
              <a:t xml:space="preserve">what</a:t>
            </a:r>
            <a:r>
              <a:rPr lang="ru-RU" sz="18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(</a:t>
            </a:r>
            <a:r>
              <a:rPr lang="ru-RU" sz="18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)</a:t>
            </a:r>
            <a:r>
              <a:rPr lang="ru-RU" sz="18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}</a:t>
            </a:r>
            <a:r>
              <a:rPr lang="ru-RU" sz="18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)</a:t>
            </a:r>
            <a:r>
              <a:rPr lang="ru-RU" sz="18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;</a:t>
            </a:r>
            <a:endParaRPr lang="ru-RU" sz="1800" dirty="0"/>
          </a:p>
          <a:p>
            <a:pPr algn="l"/>
            <a:r>
              <a:rPr lang="ru-RU" sz="18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   </a:t>
            </a:r>
            <a:r>
              <a:rPr lang="ru-RU" sz="18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}</a:t>
            </a:r>
            <a:r>
              <a:rPr lang="ru-RU" sz="18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</a:t>
            </a:r>
            <a:r>
              <a:rPr lang="ru-RU" sz="1800" b="1" dirty="0">
                <a:solidFill>
                  <a:srgbClr val="2563EB"/>
                </a:solidFill>
                <a:latin typeface="JetBrains Mono"/>
                <a:ea typeface="JetBrains Mono"/>
                <a:cs typeface="JetBrains Mono"/>
              </a:rPr>
              <a:t xml:space="preserve">catch</a:t>
            </a:r>
            <a:r>
              <a:rPr lang="ru-RU" sz="18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</a:t>
            </a:r>
            <a:r>
              <a:rPr lang="ru-RU" sz="18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(</a:t>
            </a:r>
            <a:r>
              <a:rPr lang="ru-RU" sz="18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.</a:t>
            </a:r>
            <a:r>
              <a:rPr lang="ru-RU" sz="18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.</a:t>
            </a:r>
            <a:r>
              <a:rPr lang="ru-RU" sz="18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.</a:t>
            </a:r>
            <a:r>
              <a:rPr lang="ru-RU" sz="18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)</a:t>
            </a:r>
            <a:r>
              <a:rPr lang="ru-RU" sz="18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</a:t>
            </a:r>
            <a:r>
              <a:rPr lang="ru-RU" sz="18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{</a:t>
            </a:r>
            <a:endParaRPr lang="ru-RU" sz="1800" dirty="0"/>
          </a:p>
          <a:p>
            <a:pPr algn="l"/>
            <a:r>
              <a:rPr lang="ru-RU" sz="18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       </a:t>
            </a:r>
            <a:r>
              <a:rPr lang="ru-RU" sz="1800" dirty="0">
                <a:solidFill>
                  <a:srgbClr val="0F766E"/>
                </a:solidFill>
                <a:latin typeface="JetBrains Mono"/>
                <a:ea typeface="JetBrains Mono"/>
                <a:cs typeface="JetBrains Mono"/>
              </a:rPr>
              <a:t xml:space="preserve">log_error</a:t>
            </a:r>
            <a:r>
              <a:rPr lang="ru-RU" sz="18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(</a:t>
            </a:r>
            <a:r>
              <a:rPr lang="ru-RU" sz="1800" dirty="0">
                <a:solidFill>
                  <a:srgbClr val="15803D"/>
                </a:solidFill>
                <a:latin typeface="JetBrains Mono"/>
                <a:ea typeface="JetBrains Mono"/>
                <a:cs typeface="JetBrains Mono"/>
              </a:rPr>
              <a:t xml:space="preserve">"unknown worker exception"</a:t>
            </a:r>
            <a:r>
              <a:rPr lang="ru-RU" sz="18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)</a:t>
            </a:r>
            <a:r>
              <a:rPr lang="ru-RU" sz="18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;</a:t>
            </a:r>
            <a:endParaRPr lang="ru-RU" sz="1800" dirty="0"/>
          </a:p>
          <a:p>
            <a:pPr algn="l"/>
            <a:r>
              <a:rPr lang="ru-RU" sz="18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       </a:t>
            </a:r>
            <a:r>
              <a:rPr lang="ru-RU" sz="1800" dirty="0">
                <a:solidFill>
                  <a:srgbClr val="0F766E"/>
                </a:solidFill>
                <a:latin typeface="JetBrains Mono"/>
                <a:ea typeface="JetBrains Mono"/>
                <a:cs typeface="JetBrains Mono"/>
              </a:rPr>
              <a:t xml:space="preserve">post_result</a:t>
            </a:r>
            <a:r>
              <a:rPr lang="ru-RU" sz="18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(</a:t>
            </a:r>
            <a:r>
              <a:rPr lang="ru-RU" sz="18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failure</a:t>
            </a:r>
            <a:r>
              <a:rPr lang="ru-RU" sz="18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{</a:t>
            </a:r>
            <a:r>
              <a:rPr lang="ru-RU" sz="1800" dirty="0">
                <a:solidFill>
                  <a:srgbClr val="15803D"/>
                </a:solidFill>
                <a:latin typeface="JetBrains Mono"/>
                <a:ea typeface="JetBrains Mono"/>
                <a:cs typeface="JetBrains Mono"/>
              </a:rPr>
              <a:t xml:space="preserve">"unknown"</a:t>
            </a:r>
            <a:r>
              <a:rPr lang="ru-RU" sz="18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}</a:t>
            </a:r>
            <a:r>
              <a:rPr lang="ru-RU" sz="18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)</a:t>
            </a:r>
            <a:r>
              <a:rPr lang="ru-RU" sz="18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;</a:t>
            </a:r>
            <a:endParaRPr lang="ru-RU" sz="1800" dirty="0"/>
          </a:p>
          <a:p>
            <a:pPr algn="l"/>
            <a:r>
              <a:rPr lang="ru-RU" sz="18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   </a:t>
            </a:r>
            <a:r>
              <a:rPr lang="ru-RU" sz="18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}</a:t>
            </a:r>
            <a:endParaRPr lang="ru-RU" sz="1800" dirty="0"/>
          </a:p>
          <a:p>
            <a:pPr algn="l"/>
            <a:r>
              <a:rPr lang="ru-RU" sz="18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}</a:t>
            </a:r>
            <a:endParaRPr lang="ru-RU" sz="1800" dirty="0"/>
          </a:p>
        </p:txBody>
      </p:sp>
      <p:sp>
        <p:nvSpPr>
          <p:cNvPr id="7" name="Page 7"/>
          <p:cNvSpPr txBox="1"/>
          <p:nvPr/>
        </p:nvSpPr>
        <p:spPr>
          <a:xfrm>
            <a:off x="10287000" y="6510528"/>
            <a:ext cx="6400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r"/>
            <a:r>
              <a:rPr lang="ru-RU" sz="900" dirty="0">
                <a:solidFill>
                  <a:srgbClr val="64748B"/>
                </a:solidFill>
                <a:latin typeface="JetBrains Mono"/>
                <a:ea typeface="JetBrains Mono"/>
                <a:cs typeface="JetBrains Mono"/>
              </a:rPr>
              <a:t xml:space="preserve">19</a:t>
            </a:r>
            <a:endParaRPr lang="ru-RU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 4"/>
          <p:cNvSpPr txBox="1"/>
          <p:nvPr/>
        </p:nvSpPr>
        <p:spPr>
          <a:xfrm>
            <a:off x="502920" y="201168"/>
            <a:ext cx="1065276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2400" b="1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Где ставить точки отмены</a:t>
            </a:r>
            <a:endParaRPr lang="ru-RU" sz="2400" dirty="0"/>
          </a:p>
        </p:txBody>
      </p:sp>
      <p:sp>
        <p:nvSpPr>
          <p:cNvPr id="5" name="Subtitle 5"/>
          <p:cNvSpPr txBox="1"/>
          <p:nvPr/>
        </p:nvSpPr>
        <p:spPr>
          <a:xfrm>
            <a:off x="530352" y="749808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100" dirty="0">
                <a:solidFill>
                  <a:srgbClr val="475569"/>
                </a:solidFill>
                <a:latin typeface="JetBrains Mono"/>
                <a:ea typeface="JetBrains Mono"/>
                <a:cs typeface="JetBrains Mono"/>
              </a:rPr>
              <a:t xml:space="preserve">Ответ рождается из таймингов</a:t>
            </a:r>
            <a:endParaRPr lang="ru-RU" sz="1100" dirty="0"/>
          </a:p>
        </p:txBody>
      </p:sp>
      <p:sp>
        <p:nvSpPr>
          <p:cNvPr id="6" name="Shape 6"/>
          <p:cNvSpPr/>
          <p:nvPr/>
        </p:nvSpPr>
        <p:spPr>
          <a:xfrm>
            <a:off x="822960" y="1417320"/>
            <a:ext cx="4297680" cy="1143000"/>
          </a:xfrm>
          <a:prstGeom prst="roundRect">
            <a:avLst/>
          </a:prstGeom>
          <a:solidFill>
            <a:srgbClr val="FEF3C7"/>
          </a:solidFill>
          <a:ln w="16000">
            <a:solidFill>
              <a:srgbClr val="FBBF24"/>
            </a:solidFill>
          </a:ln>
        </p:spPr>
        <p:txBody>
          <a:bodyPr/>
          <a:lstStyle/>
          <a:p/>
        </p:txBody>
      </p:sp>
      <p:sp>
        <p:nvSpPr>
          <p:cNvPr id="7" name="Text 7"/>
          <p:cNvSpPr txBox="1"/>
          <p:nvPr/>
        </p:nvSpPr>
        <p:spPr>
          <a:xfrm>
            <a:off x="950976" y="1517904"/>
            <a:ext cx="404164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b="1" dirty="0">
                <a:solidFill>
                  <a:srgbClr val="FBBF24"/>
                </a:solidFill>
                <a:latin typeface="JetBrains Mono"/>
                <a:ea typeface="JetBrains Mono"/>
                <a:cs typeface="JetBrains Mono"/>
              </a:rPr>
              <a:t xml:space="preserve">до длинного I/O</a:t>
            </a:r>
            <a:endParaRPr lang="ru-RU" sz="1200" dirty="0"/>
          </a:p>
        </p:txBody>
      </p:sp>
      <p:sp>
        <p:nvSpPr>
          <p:cNvPr id="8" name="Text 8"/>
          <p:cNvSpPr txBox="1"/>
          <p:nvPr/>
        </p:nvSpPr>
        <p:spPr>
          <a:xfrm>
            <a:off x="950976" y="1828800"/>
            <a:ext cx="4041648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чтобы не начинать лишнее</a:t>
            </a:r>
            <a:endParaRPr lang="ru-RU" sz="1200" dirty="0"/>
          </a:p>
        </p:txBody>
      </p:sp>
      <p:sp>
        <p:nvSpPr>
          <p:cNvPr id="9" name="Shape 9"/>
          <p:cNvSpPr/>
          <p:nvPr/>
        </p:nvSpPr>
        <p:spPr>
          <a:xfrm>
            <a:off x="5760720" y="1417320"/>
            <a:ext cx="4297680" cy="1143000"/>
          </a:xfrm>
          <a:prstGeom prst="roundRect">
            <a:avLst/>
          </a:prstGeom>
          <a:solidFill>
            <a:srgbClr val="FEF3C7"/>
          </a:solidFill>
          <a:ln w="16000">
            <a:solidFill>
              <a:srgbClr val="FBBF24"/>
            </a:solidFill>
          </a:ln>
        </p:spPr>
        <p:txBody>
          <a:bodyPr/>
          <a:lstStyle/>
          <a:p/>
        </p:txBody>
      </p:sp>
      <p:sp>
        <p:nvSpPr>
          <p:cNvPr id="10" name="Text 10"/>
          <p:cNvSpPr txBox="1"/>
          <p:nvPr/>
        </p:nvSpPr>
        <p:spPr>
          <a:xfrm>
            <a:off x="5888736" y="1517904"/>
            <a:ext cx="404164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b="1" dirty="0">
                <a:solidFill>
                  <a:srgbClr val="FBBF24"/>
                </a:solidFill>
                <a:latin typeface="JetBrains Mono"/>
                <a:ea typeface="JetBrains Mono"/>
                <a:cs typeface="JetBrains Mono"/>
              </a:rPr>
              <a:t xml:space="preserve">после каждой пачки</a:t>
            </a:r>
            <a:endParaRPr lang="ru-RU" sz="1200" dirty="0"/>
          </a:p>
        </p:txBody>
      </p:sp>
      <p:sp>
        <p:nvSpPr>
          <p:cNvPr id="11" name="Text 11"/>
          <p:cNvSpPr txBox="1"/>
          <p:nvPr/>
        </p:nvSpPr>
        <p:spPr>
          <a:xfrm>
            <a:off x="5888736" y="1828800"/>
            <a:ext cx="4041648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текстура, mesh, chunk</a:t>
            </a:r>
            <a:endParaRPr lang="ru-RU" sz="1200" dirty="0"/>
          </a:p>
        </p:txBody>
      </p:sp>
      <p:sp>
        <p:nvSpPr>
          <p:cNvPr id="12" name="Shape 12"/>
          <p:cNvSpPr/>
          <p:nvPr/>
        </p:nvSpPr>
        <p:spPr>
          <a:xfrm>
            <a:off x="822960" y="3108960"/>
            <a:ext cx="4297680" cy="1143000"/>
          </a:xfrm>
          <a:prstGeom prst="roundRect">
            <a:avLst/>
          </a:prstGeom>
          <a:solidFill>
            <a:srgbClr val="FEF3C7"/>
          </a:solidFill>
          <a:ln w="16000">
            <a:solidFill>
              <a:srgbClr val="FBBF24"/>
            </a:solidFill>
          </a:ln>
        </p:spPr>
        <p:txBody>
          <a:bodyPr/>
          <a:lstStyle/>
          <a:p/>
        </p:txBody>
      </p:sp>
      <p:sp>
        <p:nvSpPr>
          <p:cNvPr id="13" name="Text 13"/>
          <p:cNvSpPr txBox="1"/>
          <p:nvPr/>
        </p:nvSpPr>
        <p:spPr>
          <a:xfrm>
            <a:off x="950976" y="3209544"/>
            <a:ext cx="404164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b="1" dirty="0">
                <a:solidFill>
                  <a:srgbClr val="FBBF24"/>
                </a:solidFill>
                <a:latin typeface="JetBrains Mono"/>
                <a:ea typeface="JetBrains Mono"/>
                <a:cs typeface="JetBrains Mono"/>
              </a:rPr>
              <a:t xml:space="preserve">в больших циклах</a:t>
            </a:r>
            <a:endParaRPr lang="ru-RU" sz="1200" dirty="0"/>
          </a:p>
        </p:txBody>
      </p:sp>
      <p:sp>
        <p:nvSpPr>
          <p:cNvPr id="14" name="Text 14"/>
          <p:cNvSpPr txBox="1"/>
          <p:nvPr/>
        </p:nvSpPr>
        <p:spPr>
          <a:xfrm>
            <a:off x="950976" y="3520440"/>
            <a:ext cx="4041648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не реже целевого лимита</a:t>
            </a:r>
            <a:endParaRPr lang="ru-RU" sz="1200" dirty="0"/>
          </a:p>
        </p:txBody>
      </p:sp>
      <p:sp>
        <p:nvSpPr>
          <p:cNvPr id="15" name="Shape 15"/>
          <p:cNvSpPr/>
          <p:nvPr/>
        </p:nvSpPr>
        <p:spPr>
          <a:xfrm>
            <a:off x="5760720" y="3108960"/>
            <a:ext cx="4297680" cy="1143000"/>
          </a:xfrm>
          <a:prstGeom prst="roundRect">
            <a:avLst/>
          </a:prstGeom>
          <a:solidFill>
            <a:srgbClr val="FEF3C7"/>
          </a:solidFill>
          <a:ln w="16000">
            <a:solidFill>
              <a:srgbClr val="FBBF24"/>
            </a:solidFill>
          </a:ln>
        </p:spPr>
        <p:txBody>
          <a:bodyPr/>
          <a:lstStyle/>
          <a:p/>
        </p:txBody>
      </p:sp>
      <p:sp>
        <p:nvSpPr>
          <p:cNvPr id="16" name="Text 16"/>
          <p:cNvSpPr txBox="1"/>
          <p:nvPr/>
        </p:nvSpPr>
        <p:spPr>
          <a:xfrm>
            <a:off x="5888736" y="3209544"/>
            <a:ext cx="404164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b="1" dirty="0">
                <a:solidFill>
                  <a:srgbClr val="FBBF24"/>
                </a:solidFill>
                <a:latin typeface="JetBrains Mono"/>
                <a:ea typeface="JetBrains Mono"/>
                <a:cs typeface="JetBrains Mono"/>
              </a:rPr>
              <a:t xml:space="preserve">перед callback</a:t>
            </a:r>
            <a:endParaRPr lang="ru-RU" sz="1200" dirty="0"/>
          </a:p>
        </p:txBody>
      </p:sp>
      <p:sp>
        <p:nvSpPr>
          <p:cNvPr id="17" name="Text 17"/>
          <p:cNvSpPr txBox="1"/>
          <p:nvPr/>
        </p:nvSpPr>
        <p:spPr>
          <a:xfrm>
            <a:off x="5888736" y="3520440"/>
            <a:ext cx="4041648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владелец мог исчезнуть</a:t>
            </a:r>
            <a:endParaRPr lang="ru-RU" sz="1200" dirty="0"/>
          </a:p>
        </p:txBody>
      </p:sp>
      <p:sp>
        <p:nvSpPr>
          <p:cNvPr id="18" name="Text 18"/>
          <p:cNvSpPr txBox="1"/>
          <p:nvPr/>
        </p:nvSpPr>
        <p:spPr>
          <a:xfrm>
            <a:off x="868680" y="4773168"/>
            <a:ext cx="941832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ctr"/>
            <a:r>
              <a:rPr lang="ru-RU" sz="1400" dirty="0">
                <a:solidFill>
                  <a:srgbClr val="92400E"/>
                </a:solidFill>
                <a:latin typeface="JetBrains Mono"/>
                <a:ea typeface="JetBrains Mono"/>
                <a:cs typeface="JetBrains Mono"/>
              </a:rPr>
              <a:t xml:space="preserve">Для закрытия без ANR: не зависать дольше ~2.5 секунд локально.</a:t>
            </a:r>
            <a:endParaRPr lang="ru-RU" sz="1400" dirty="0"/>
          </a:p>
        </p:txBody>
      </p:sp>
      <p:sp>
        <p:nvSpPr>
          <p:cNvPr id="19" name="Page 19"/>
          <p:cNvSpPr txBox="1"/>
          <p:nvPr/>
        </p:nvSpPr>
        <p:spPr>
          <a:xfrm>
            <a:off x="10287000" y="6510528"/>
            <a:ext cx="6400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r"/>
            <a:r>
              <a:rPr lang="ru-RU" sz="900" dirty="0">
                <a:solidFill>
                  <a:srgbClr val="64748B"/>
                </a:solidFill>
                <a:latin typeface="JetBrains Mono"/>
                <a:ea typeface="JetBrains Mono"/>
                <a:cs typeface="JetBrains Mono"/>
              </a:rPr>
              <a:t xml:space="preserve">20</a:t>
            </a:r>
            <a:endParaRPr lang="ru-RU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 4"/>
          <p:cNvSpPr txBox="1"/>
          <p:nvPr/>
        </p:nvSpPr>
        <p:spPr>
          <a:xfrm>
            <a:off x="502920" y="201168"/>
            <a:ext cx="1065276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2400" b="1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Что хорошего в job_pool</a:t>
            </a:r>
            <a:endParaRPr lang="ru-RU" sz="2400" dirty="0"/>
          </a:p>
        </p:txBody>
      </p:sp>
      <p:sp>
        <p:nvSpPr>
          <p:cNvPr id="5" name="Subtitle 5"/>
          <p:cNvSpPr txBox="1"/>
          <p:nvPr/>
        </p:nvSpPr>
        <p:spPr>
          <a:xfrm>
            <a:off x="530352" y="749808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100" dirty="0">
                <a:solidFill>
                  <a:srgbClr val="475569"/>
                </a:solidFill>
                <a:latin typeface="JetBrains Mono"/>
                <a:ea typeface="JetBrains Mono"/>
                <a:cs typeface="JetBrains Mono"/>
              </a:rPr>
              <a:t xml:space="preserve">Он отлично утилизирует ядра для коротких независимых задач</a:t>
            </a:r>
            <a:endParaRPr lang="ru-RU" sz="1100" dirty="0"/>
          </a:p>
        </p:txBody>
      </p:sp>
      <p:sp>
        <p:nvSpPr>
          <p:cNvPr id="6" name="Shape 6"/>
          <p:cNvSpPr/>
          <p:nvPr/>
        </p:nvSpPr>
        <p:spPr>
          <a:xfrm>
            <a:off x="914400" y="1828800"/>
            <a:ext cx="1874519" cy="1051560"/>
          </a:xfrm>
          <a:prstGeom prst="roundRect">
            <a:avLst/>
          </a:prstGeom>
          <a:solidFill>
            <a:srgbClr val="DCFCE7"/>
          </a:solidFill>
          <a:ln w="16000">
            <a:solidFill>
              <a:srgbClr val="34D399"/>
            </a:solidFill>
          </a:ln>
        </p:spPr>
        <p:txBody>
          <a:bodyPr/>
          <a:lstStyle/>
          <a:p/>
        </p:txBody>
      </p:sp>
      <p:sp>
        <p:nvSpPr>
          <p:cNvPr id="7" name="Text 7"/>
          <p:cNvSpPr txBox="1"/>
          <p:nvPr/>
        </p:nvSpPr>
        <p:spPr>
          <a:xfrm>
            <a:off x="1042416" y="1929384"/>
            <a:ext cx="161848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b="1" dirty="0">
                <a:solidFill>
                  <a:srgbClr val="34D399"/>
                </a:solidFill>
                <a:latin typeface="JetBrains Mono"/>
                <a:ea typeface="JetBrains Mono"/>
                <a:cs typeface="JetBrains Mono"/>
              </a:rPr>
              <a:t xml:space="preserve">job 1</a:t>
            </a:r>
            <a:endParaRPr lang="ru-RU" sz="1200" dirty="0"/>
          </a:p>
        </p:txBody>
      </p:sp>
      <p:sp>
        <p:nvSpPr>
          <p:cNvPr id="8" name="Text 8"/>
          <p:cNvSpPr txBox="1"/>
          <p:nvPr/>
        </p:nvSpPr>
        <p:spPr>
          <a:xfrm>
            <a:off x="1042416" y="2240280"/>
            <a:ext cx="1618487" cy="54863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короткий CPU task</a:t>
            </a:r>
            <a:endParaRPr lang="ru-RU" sz="1200" dirty="0"/>
          </a:p>
        </p:txBody>
      </p:sp>
      <p:sp>
        <p:nvSpPr>
          <p:cNvPr id="9" name="Shape 9"/>
          <p:cNvSpPr/>
          <p:nvPr/>
        </p:nvSpPr>
        <p:spPr>
          <a:xfrm>
            <a:off x="3337560" y="1828800"/>
            <a:ext cx="1874519" cy="1051560"/>
          </a:xfrm>
          <a:prstGeom prst="roundRect">
            <a:avLst/>
          </a:prstGeom>
          <a:solidFill>
            <a:srgbClr val="DCFCE7"/>
          </a:solidFill>
          <a:ln w="16000">
            <a:solidFill>
              <a:srgbClr val="34D399"/>
            </a:solidFill>
          </a:ln>
        </p:spPr>
        <p:txBody>
          <a:bodyPr/>
          <a:lstStyle/>
          <a:p/>
        </p:txBody>
      </p:sp>
      <p:sp>
        <p:nvSpPr>
          <p:cNvPr id="10" name="Text 10"/>
          <p:cNvSpPr txBox="1"/>
          <p:nvPr/>
        </p:nvSpPr>
        <p:spPr>
          <a:xfrm>
            <a:off x="3465576" y="1929384"/>
            <a:ext cx="161848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b="1" dirty="0">
                <a:solidFill>
                  <a:srgbClr val="34D399"/>
                </a:solidFill>
                <a:latin typeface="JetBrains Mono"/>
                <a:ea typeface="JetBrains Mono"/>
                <a:cs typeface="JetBrains Mono"/>
              </a:rPr>
              <a:t xml:space="preserve">job 2</a:t>
            </a:r>
            <a:endParaRPr lang="ru-RU" sz="1200" dirty="0"/>
          </a:p>
        </p:txBody>
      </p:sp>
      <p:sp>
        <p:nvSpPr>
          <p:cNvPr id="11" name="Text 11"/>
          <p:cNvSpPr txBox="1"/>
          <p:nvPr/>
        </p:nvSpPr>
        <p:spPr>
          <a:xfrm>
            <a:off x="3465576" y="2240280"/>
            <a:ext cx="1618487" cy="54863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короткий CPU task</a:t>
            </a:r>
            <a:endParaRPr lang="ru-RU" sz="1200" dirty="0"/>
          </a:p>
        </p:txBody>
      </p:sp>
      <p:sp>
        <p:nvSpPr>
          <p:cNvPr id="12" name="Shape 12"/>
          <p:cNvSpPr/>
          <p:nvPr/>
        </p:nvSpPr>
        <p:spPr>
          <a:xfrm>
            <a:off x="5760720" y="1828800"/>
            <a:ext cx="1874519" cy="1051560"/>
          </a:xfrm>
          <a:prstGeom prst="roundRect">
            <a:avLst/>
          </a:prstGeom>
          <a:solidFill>
            <a:srgbClr val="DCFCE7"/>
          </a:solidFill>
          <a:ln w="16000">
            <a:solidFill>
              <a:srgbClr val="34D399"/>
            </a:solidFill>
          </a:ln>
        </p:spPr>
        <p:txBody>
          <a:bodyPr/>
          <a:lstStyle/>
          <a:p/>
        </p:txBody>
      </p:sp>
      <p:sp>
        <p:nvSpPr>
          <p:cNvPr id="13" name="Text 13"/>
          <p:cNvSpPr txBox="1"/>
          <p:nvPr/>
        </p:nvSpPr>
        <p:spPr>
          <a:xfrm>
            <a:off x="5888736" y="1929384"/>
            <a:ext cx="161848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b="1" dirty="0">
                <a:solidFill>
                  <a:srgbClr val="34D399"/>
                </a:solidFill>
                <a:latin typeface="JetBrains Mono"/>
                <a:ea typeface="JetBrains Mono"/>
                <a:cs typeface="JetBrains Mono"/>
              </a:rPr>
              <a:t xml:space="preserve">job 3</a:t>
            </a:r>
            <a:endParaRPr lang="ru-RU" sz="1200" dirty="0"/>
          </a:p>
        </p:txBody>
      </p:sp>
      <p:sp>
        <p:nvSpPr>
          <p:cNvPr id="14" name="Text 14"/>
          <p:cNvSpPr txBox="1"/>
          <p:nvPr/>
        </p:nvSpPr>
        <p:spPr>
          <a:xfrm>
            <a:off x="5888736" y="2240280"/>
            <a:ext cx="1618487" cy="54863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короткий CPU task</a:t>
            </a:r>
            <a:endParaRPr lang="ru-RU" sz="1200" dirty="0"/>
          </a:p>
        </p:txBody>
      </p:sp>
      <p:sp>
        <p:nvSpPr>
          <p:cNvPr id="15" name="Shape 15"/>
          <p:cNvSpPr/>
          <p:nvPr/>
        </p:nvSpPr>
        <p:spPr>
          <a:xfrm>
            <a:off x="8183879" y="1828800"/>
            <a:ext cx="1874519" cy="1051560"/>
          </a:xfrm>
          <a:prstGeom prst="roundRect">
            <a:avLst/>
          </a:prstGeom>
          <a:solidFill>
            <a:srgbClr val="DCFCE7"/>
          </a:solidFill>
          <a:ln w="16000">
            <a:solidFill>
              <a:srgbClr val="34D399"/>
            </a:solidFill>
          </a:ln>
        </p:spPr>
        <p:txBody>
          <a:bodyPr/>
          <a:lstStyle/>
          <a:p/>
        </p:txBody>
      </p:sp>
      <p:sp>
        <p:nvSpPr>
          <p:cNvPr id="16" name="Text 16"/>
          <p:cNvSpPr txBox="1"/>
          <p:nvPr/>
        </p:nvSpPr>
        <p:spPr>
          <a:xfrm>
            <a:off x="8311896" y="1929384"/>
            <a:ext cx="161848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b="1" dirty="0">
                <a:solidFill>
                  <a:srgbClr val="34D399"/>
                </a:solidFill>
                <a:latin typeface="JetBrains Mono"/>
                <a:ea typeface="JetBrains Mono"/>
                <a:cs typeface="JetBrains Mono"/>
              </a:rPr>
              <a:t xml:space="preserve">job 4</a:t>
            </a:r>
            <a:endParaRPr lang="ru-RU" sz="1200" dirty="0"/>
          </a:p>
        </p:txBody>
      </p:sp>
      <p:sp>
        <p:nvSpPr>
          <p:cNvPr id="17" name="Text 17"/>
          <p:cNvSpPr txBox="1"/>
          <p:nvPr/>
        </p:nvSpPr>
        <p:spPr>
          <a:xfrm>
            <a:off x="8311896" y="2240280"/>
            <a:ext cx="1618487" cy="54863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короткий CPU task</a:t>
            </a:r>
            <a:endParaRPr lang="ru-RU" sz="1200" dirty="0"/>
          </a:p>
        </p:txBody>
      </p:sp>
      <p:sp>
        <p:nvSpPr>
          <p:cNvPr id="18" name="Text 18"/>
          <p:cNvSpPr txBox="1"/>
          <p:nvPr/>
        </p:nvSpPr>
        <p:spPr>
          <a:xfrm>
            <a:off x="868680" y="3794760"/>
            <a:ext cx="941832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ctr"/>
            <a:r>
              <a:rPr lang="ru-RU" sz="1600" dirty="0">
                <a:solidFill>
                  <a:srgbClr val="166534"/>
                </a:solidFill>
                <a:latin typeface="JetBrains Mono"/>
                <a:ea typeface="JetBrains Mono"/>
                <a:cs typeface="JetBrains Mono"/>
              </a:rPr>
              <a:t xml:space="preserve">Консольная утилита или batch processing: да, можно загрузить железо на максимум.</a:t>
            </a:r>
            <a:endParaRPr lang="ru-RU" sz="1600" dirty="0"/>
          </a:p>
        </p:txBody>
      </p:sp>
      <p:sp>
        <p:nvSpPr>
          <p:cNvPr id="19" name="Page 19"/>
          <p:cNvSpPr txBox="1"/>
          <p:nvPr/>
        </p:nvSpPr>
        <p:spPr>
          <a:xfrm>
            <a:off x="10287000" y="6510528"/>
            <a:ext cx="6400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r"/>
            <a:r>
              <a:rPr lang="ru-RU" sz="900" dirty="0">
                <a:solidFill>
                  <a:srgbClr val="64748B"/>
                </a:solidFill>
                <a:latin typeface="JetBrains Mono"/>
                <a:ea typeface="JetBrains Mono"/>
                <a:cs typeface="JetBrains Mono"/>
              </a:rPr>
              <a:t xml:space="preserve">21</a:t>
            </a:r>
            <a:endParaRPr lang="ru-RU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 4"/>
          <p:cNvSpPr txBox="1"/>
          <p:nvPr/>
        </p:nvSpPr>
        <p:spPr>
          <a:xfrm>
            <a:off x="502920" y="201168"/>
            <a:ext cx="1065276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2400" b="1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Проблема загрузки через tb::job_pool</a:t>
            </a:r>
            <a:endParaRPr lang="ru-RU" sz="2400" dirty="0"/>
          </a:p>
        </p:txBody>
      </p:sp>
      <p:sp>
        <p:nvSpPr>
          <p:cNvPr id="5" name="Subtitle 5"/>
          <p:cNvSpPr txBox="1"/>
          <p:nvPr/>
        </p:nvSpPr>
        <p:spPr>
          <a:xfrm>
            <a:off x="530352" y="749808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100" dirty="0">
                <a:solidFill>
                  <a:srgbClr val="475569"/>
                </a:solidFill>
                <a:latin typeface="JetBrains Mono"/>
                <a:ea typeface="JetBrains Mono"/>
                <a:cs typeface="JetBrains Mono"/>
              </a:rPr>
              <a:t xml:space="preserve">В графическом приложении долгие задачи могут отравить пул</a:t>
            </a:r>
            <a:endParaRPr lang="ru-RU" sz="1100" dirty="0"/>
          </a:p>
        </p:txBody>
      </p:sp>
      <p:sp>
        <p:nvSpPr>
          <p:cNvPr id="6" name="Shape 6"/>
          <p:cNvSpPr/>
          <p:nvPr/>
        </p:nvSpPr>
        <p:spPr>
          <a:xfrm>
            <a:off x="822960" y="1463040"/>
            <a:ext cx="4297680" cy="1143000"/>
          </a:xfrm>
          <a:prstGeom prst="roundRect">
            <a:avLst/>
          </a:prstGeom>
          <a:solidFill>
            <a:srgbClr val="FFE4E6"/>
          </a:solidFill>
          <a:ln w="16000">
            <a:solidFill>
              <a:srgbClr val="FB7185"/>
            </a:solidFill>
          </a:ln>
        </p:spPr>
        <p:txBody>
          <a:bodyPr/>
          <a:lstStyle/>
          <a:p/>
        </p:txBody>
      </p:sp>
      <p:sp>
        <p:nvSpPr>
          <p:cNvPr id="7" name="Text 7"/>
          <p:cNvSpPr txBox="1"/>
          <p:nvPr/>
        </p:nvSpPr>
        <p:spPr>
          <a:xfrm>
            <a:off x="950976" y="1563624"/>
            <a:ext cx="404164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b="1" dirty="0">
                <a:solidFill>
                  <a:srgbClr val="FB7185"/>
                </a:solidFill>
                <a:latin typeface="JetBrains Mono"/>
                <a:ea typeface="JetBrains Mono"/>
                <a:cs typeface="JetBrains Mono"/>
              </a:rPr>
              <a:t xml:space="preserve">wait/sleep внутри job</a:t>
            </a:r>
            <a:endParaRPr lang="ru-RU" sz="1200" dirty="0"/>
          </a:p>
        </p:txBody>
      </p:sp>
      <p:sp>
        <p:nvSpPr>
          <p:cNvPr id="8" name="Text 8"/>
          <p:cNvSpPr txBox="1"/>
          <p:nvPr/>
        </p:nvSpPr>
        <p:spPr>
          <a:xfrm>
            <a:off x="950976" y="1874520"/>
            <a:ext cx="4041648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воркер занят, новые задачи стоят</a:t>
            </a:r>
            <a:endParaRPr lang="ru-RU" sz="1200" dirty="0"/>
          </a:p>
        </p:txBody>
      </p:sp>
      <p:sp>
        <p:nvSpPr>
          <p:cNvPr id="9" name="Shape 9"/>
          <p:cNvSpPr/>
          <p:nvPr/>
        </p:nvSpPr>
        <p:spPr>
          <a:xfrm>
            <a:off x="5760720" y="1463040"/>
            <a:ext cx="4297680" cy="1143000"/>
          </a:xfrm>
          <a:prstGeom prst="roundRect">
            <a:avLst/>
          </a:prstGeom>
          <a:solidFill>
            <a:srgbClr val="FFE4E6"/>
          </a:solidFill>
          <a:ln w="16000">
            <a:solidFill>
              <a:srgbClr val="FB7185"/>
            </a:solidFill>
          </a:ln>
        </p:spPr>
        <p:txBody>
          <a:bodyPr/>
          <a:lstStyle/>
          <a:p/>
        </p:txBody>
      </p:sp>
      <p:sp>
        <p:nvSpPr>
          <p:cNvPr id="10" name="Text 10"/>
          <p:cNvSpPr txBox="1"/>
          <p:nvPr/>
        </p:nvSpPr>
        <p:spPr>
          <a:xfrm>
            <a:off x="5888736" y="1563624"/>
            <a:ext cx="404164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b="1" dirty="0">
                <a:solidFill>
                  <a:srgbClr val="FB7185"/>
                </a:solidFill>
                <a:latin typeface="JetBrains Mono"/>
                <a:ea typeface="JetBrains Mono"/>
                <a:cs typeface="JetBrains Mono"/>
              </a:rPr>
              <a:t xml:space="preserve">нет контроля отмены</a:t>
            </a:r>
            <a:endParaRPr lang="ru-RU" sz="1200" dirty="0"/>
          </a:p>
        </p:txBody>
      </p:sp>
      <p:sp>
        <p:nvSpPr>
          <p:cNvPr id="11" name="Text 11"/>
          <p:cNvSpPr txBox="1"/>
          <p:nvPr/>
        </p:nvSpPr>
        <p:spPr>
          <a:xfrm>
            <a:off x="5888736" y="1874520"/>
            <a:ext cx="4041648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чужой пул не знает ваш stop_token</a:t>
            </a:r>
            <a:endParaRPr lang="ru-RU" sz="1200" dirty="0"/>
          </a:p>
        </p:txBody>
      </p:sp>
      <p:sp>
        <p:nvSpPr>
          <p:cNvPr id="12" name="Shape 12"/>
          <p:cNvSpPr/>
          <p:nvPr/>
        </p:nvSpPr>
        <p:spPr>
          <a:xfrm>
            <a:off x="822960" y="3154680"/>
            <a:ext cx="4297680" cy="1143000"/>
          </a:xfrm>
          <a:prstGeom prst="roundRect">
            <a:avLst/>
          </a:prstGeom>
          <a:solidFill>
            <a:srgbClr val="FFE4E6"/>
          </a:solidFill>
          <a:ln w="16000">
            <a:solidFill>
              <a:srgbClr val="FB7185"/>
            </a:solidFill>
          </a:ln>
        </p:spPr>
        <p:txBody>
          <a:bodyPr/>
          <a:lstStyle/>
          <a:p/>
        </p:txBody>
      </p:sp>
      <p:sp>
        <p:nvSpPr>
          <p:cNvPr id="13" name="Text 13"/>
          <p:cNvSpPr txBox="1"/>
          <p:nvPr/>
        </p:nvSpPr>
        <p:spPr>
          <a:xfrm>
            <a:off x="950976" y="3255264"/>
            <a:ext cx="404164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b="1" dirty="0">
                <a:solidFill>
                  <a:srgbClr val="FB7185"/>
                </a:solidFill>
                <a:latin typeface="JetBrains Mono"/>
                <a:ea typeface="JetBrains Mono"/>
                <a:cs typeface="JetBrains Mono"/>
              </a:rPr>
              <a:t xml:space="preserve">исключения опасны</a:t>
            </a:r>
            <a:endParaRPr lang="ru-RU" sz="1200" dirty="0"/>
          </a:p>
        </p:txBody>
      </p:sp>
      <p:sp>
        <p:nvSpPr>
          <p:cNvPr id="14" name="Text 14"/>
          <p:cNvSpPr txBox="1"/>
          <p:nvPr/>
        </p:nvSpPr>
        <p:spPr>
          <a:xfrm>
            <a:off x="950976" y="3566160"/>
            <a:ext cx="4041648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callback может убить процесс</a:t>
            </a:r>
            <a:endParaRPr lang="ru-RU" sz="1200" dirty="0"/>
          </a:p>
        </p:txBody>
      </p:sp>
      <p:sp>
        <p:nvSpPr>
          <p:cNvPr id="15" name="Shape 15"/>
          <p:cNvSpPr/>
          <p:nvPr/>
        </p:nvSpPr>
        <p:spPr>
          <a:xfrm>
            <a:off x="5760720" y="3154680"/>
            <a:ext cx="4297680" cy="1143000"/>
          </a:xfrm>
          <a:prstGeom prst="roundRect">
            <a:avLst/>
          </a:prstGeom>
          <a:solidFill>
            <a:srgbClr val="FFE4E6"/>
          </a:solidFill>
          <a:ln w="16000">
            <a:solidFill>
              <a:srgbClr val="FB7185"/>
            </a:solidFill>
          </a:ln>
        </p:spPr>
        <p:txBody>
          <a:bodyPr/>
          <a:lstStyle/>
          <a:p/>
        </p:txBody>
      </p:sp>
      <p:sp>
        <p:nvSpPr>
          <p:cNvPr id="16" name="Text 16"/>
          <p:cNvSpPr txBox="1"/>
          <p:nvPr/>
        </p:nvSpPr>
        <p:spPr>
          <a:xfrm>
            <a:off x="5888736" y="3255264"/>
            <a:ext cx="404164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b="1" dirty="0">
                <a:solidFill>
                  <a:srgbClr val="FB7185"/>
                </a:solidFill>
                <a:latin typeface="JetBrains Mono"/>
                <a:ea typeface="JetBrains Mono"/>
                <a:cs typeface="JetBrains Mono"/>
              </a:rPr>
              <a:t xml:space="preserve">I/O непредсказуем</a:t>
            </a:r>
            <a:endParaRPr lang="ru-RU" sz="1200" dirty="0"/>
          </a:p>
        </p:txBody>
      </p:sp>
      <p:sp>
        <p:nvSpPr>
          <p:cNvPr id="17" name="Text 17"/>
          <p:cNvSpPr txBox="1"/>
          <p:nvPr/>
        </p:nvSpPr>
        <p:spPr>
          <a:xfrm>
            <a:off x="5888736" y="3566160"/>
            <a:ext cx="4041648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latency ломает FPS-план</a:t>
            </a:r>
            <a:endParaRPr lang="ru-RU" sz="1200" dirty="0"/>
          </a:p>
        </p:txBody>
      </p:sp>
      <p:sp>
        <p:nvSpPr>
          <p:cNvPr id="18" name="Page 18"/>
          <p:cNvSpPr txBox="1"/>
          <p:nvPr/>
        </p:nvSpPr>
        <p:spPr>
          <a:xfrm>
            <a:off x="10287000" y="6510528"/>
            <a:ext cx="6400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r"/>
            <a:r>
              <a:rPr lang="ru-RU" sz="900" dirty="0">
                <a:solidFill>
                  <a:srgbClr val="64748B"/>
                </a:solidFill>
                <a:latin typeface="JetBrains Mono"/>
                <a:ea typeface="JetBrains Mono"/>
                <a:cs typeface="JetBrains Mono"/>
              </a:rPr>
              <a:t xml:space="preserve">22</a:t>
            </a:r>
            <a:endParaRPr lang="ru-RU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 4"/>
          <p:cNvSpPr txBox="1"/>
          <p:nvPr/>
        </p:nvSpPr>
        <p:spPr>
          <a:xfrm>
            <a:off x="502920" y="201168"/>
            <a:ext cx="1065276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2400" b="1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Нужна отдельная модель загрузки</a:t>
            </a:r>
            <a:endParaRPr lang="ru-RU" sz="2400" dirty="0"/>
          </a:p>
        </p:txBody>
      </p:sp>
      <p:sp>
        <p:nvSpPr>
          <p:cNvPr id="5" name="Subtitle 5"/>
          <p:cNvSpPr txBox="1"/>
          <p:nvPr/>
        </p:nvSpPr>
        <p:spPr>
          <a:xfrm>
            <a:off x="530352" y="749808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100" dirty="0">
                <a:solidFill>
                  <a:srgbClr val="475569"/>
                </a:solidFill>
                <a:latin typeface="JetBrains Mono"/>
                <a:ea typeface="JetBrains Mono"/>
                <a:cs typeface="JetBrains Mono"/>
              </a:rPr>
              <a:t xml:space="preserve">Не «любой job», а управляемая async-операция</a:t>
            </a:r>
            <a:endParaRPr lang="ru-RU" sz="1100" dirty="0"/>
          </a:p>
        </p:txBody>
      </p:sp>
      <p:sp>
        <p:nvSpPr>
          <p:cNvPr id="6" name="Shape 6"/>
          <p:cNvSpPr/>
          <p:nvPr/>
        </p:nvSpPr>
        <p:spPr>
          <a:xfrm>
            <a:off x="777240" y="1417320"/>
            <a:ext cx="2560320" cy="1143000"/>
          </a:xfrm>
          <a:prstGeom prst="roundRect">
            <a:avLst/>
          </a:prstGeom>
          <a:solidFill>
            <a:srgbClr val="E0F2FE"/>
          </a:solidFill>
          <a:ln w="16000">
            <a:solidFill>
              <a:srgbClr val="38BDF8"/>
            </a:solidFill>
          </a:ln>
        </p:spPr>
        <p:txBody>
          <a:bodyPr/>
          <a:lstStyle/>
          <a:p/>
        </p:txBody>
      </p:sp>
      <p:sp>
        <p:nvSpPr>
          <p:cNvPr id="7" name="Text 7"/>
          <p:cNvSpPr txBox="1"/>
          <p:nvPr/>
        </p:nvSpPr>
        <p:spPr>
          <a:xfrm>
            <a:off x="905256" y="1517904"/>
            <a:ext cx="230428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b="1" dirty="0">
                <a:solidFill>
                  <a:srgbClr val="38BDF8"/>
                </a:solidFill>
                <a:latin typeface="JetBrains Mono"/>
                <a:ea typeface="JetBrains Mono"/>
                <a:cs typeface="JetBrains Mono"/>
              </a:rPr>
              <a:t xml:space="preserve">handle</a:t>
            </a:r>
            <a:endParaRPr lang="ru-RU" sz="1200" dirty="0"/>
          </a:p>
        </p:txBody>
      </p:sp>
      <p:sp>
        <p:nvSpPr>
          <p:cNvPr id="8" name="Text 8"/>
          <p:cNvSpPr txBox="1"/>
          <p:nvPr/>
        </p:nvSpPr>
        <p:spPr>
          <a:xfrm>
            <a:off x="905256" y="1828800"/>
            <a:ext cx="2304287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request_cancel()</a:t>
            </a:r>
            <a:endParaRPr lang="ru-RU" sz="1200" dirty="0"/>
          </a:p>
        </p:txBody>
      </p:sp>
      <p:sp>
        <p:nvSpPr>
          <p:cNvPr id="9" name="Shape 9"/>
          <p:cNvSpPr/>
          <p:nvPr/>
        </p:nvSpPr>
        <p:spPr>
          <a:xfrm>
            <a:off x="3657600" y="1417320"/>
            <a:ext cx="2560320" cy="1143000"/>
          </a:xfrm>
          <a:prstGeom prst="roundRect">
            <a:avLst/>
          </a:prstGeom>
          <a:solidFill>
            <a:srgbClr val="E0F2FE"/>
          </a:solidFill>
          <a:ln w="16000">
            <a:solidFill>
              <a:srgbClr val="38BDF8"/>
            </a:solidFill>
          </a:ln>
        </p:spPr>
        <p:txBody>
          <a:bodyPr/>
          <a:lstStyle/>
          <a:p/>
        </p:txBody>
      </p:sp>
      <p:sp>
        <p:nvSpPr>
          <p:cNvPr id="10" name="Text 10"/>
          <p:cNvSpPr txBox="1"/>
          <p:nvPr/>
        </p:nvSpPr>
        <p:spPr>
          <a:xfrm>
            <a:off x="3785615" y="1517904"/>
            <a:ext cx="230428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b="1" dirty="0">
                <a:solidFill>
                  <a:srgbClr val="38BDF8"/>
                </a:solidFill>
                <a:latin typeface="JetBrains Mono"/>
                <a:ea typeface="JetBrains Mono"/>
                <a:cs typeface="JetBrains Mono"/>
              </a:rPr>
              <a:t xml:space="preserve">worker</a:t>
            </a:r>
            <a:endParaRPr lang="ru-RU" sz="1200" dirty="0"/>
          </a:p>
        </p:txBody>
      </p:sp>
      <p:sp>
        <p:nvSpPr>
          <p:cNvPr id="11" name="Text 11"/>
          <p:cNvSpPr txBox="1"/>
          <p:nvPr/>
        </p:nvSpPr>
        <p:spPr>
          <a:xfrm>
            <a:off x="3785615" y="1828800"/>
            <a:ext cx="2304287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checks + RAII</a:t>
            </a:r>
            <a:endParaRPr lang="ru-RU" sz="1200" dirty="0"/>
          </a:p>
        </p:txBody>
      </p:sp>
      <p:sp>
        <p:nvSpPr>
          <p:cNvPr id="12" name="Shape 12"/>
          <p:cNvSpPr/>
          <p:nvPr/>
        </p:nvSpPr>
        <p:spPr>
          <a:xfrm>
            <a:off x="6537960" y="1417320"/>
            <a:ext cx="2560320" cy="1143000"/>
          </a:xfrm>
          <a:prstGeom prst="roundRect">
            <a:avLst/>
          </a:prstGeom>
          <a:solidFill>
            <a:srgbClr val="E0F2FE"/>
          </a:solidFill>
          <a:ln w="16000">
            <a:solidFill>
              <a:srgbClr val="38BDF8"/>
            </a:solidFill>
          </a:ln>
        </p:spPr>
        <p:txBody>
          <a:bodyPr/>
          <a:lstStyle/>
          <a:p/>
        </p:txBody>
      </p:sp>
      <p:sp>
        <p:nvSpPr>
          <p:cNvPr id="13" name="Text 13"/>
          <p:cNvSpPr txBox="1"/>
          <p:nvPr/>
        </p:nvSpPr>
        <p:spPr>
          <a:xfrm>
            <a:off x="6665976" y="1517904"/>
            <a:ext cx="230428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b="1" dirty="0">
                <a:solidFill>
                  <a:srgbClr val="38BDF8"/>
                </a:solidFill>
                <a:latin typeface="JetBrains Mono"/>
                <a:ea typeface="JetBrains Mono"/>
                <a:cs typeface="JetBrains Mono"/>
              </a:rPr>
              <a:t xml:space="preserve">result</a:t>
            </a:r>
            <a:endParaRPr lang="ru-RU" sz="1200" dirty="0"/>
          </a:p>
        </p:txBody>
      </p:sp>
      <p:sp>
        <p:nvSpPr>
          <p:cNvPr id="14" name="Text 14"/>
          <p:cNvSpPr txBox="1"/>
          <p:nvPr/>
        </p:nvSpPr>
        <p:spPr>
          <a:xfrm>
            <a:off x="6665976" y="1828800"/>
            <a:ext cx="2304287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success / error /</a:t>
            </a:r>
            <a:endParaRPr lang="ru-RU" sz="1200" dirty="0"/>
          </a:p>
          <a:p>
            <a:pPr algn="l"/>
            <a:r>
              <a:rPr lang="ru-RU" sz="12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cancelled</a:t>
            </a:r>
            <a:endParaRPr lang="ru-RU" sz="1200" dirty="0"/>
          </a:p>
        </p:txBody>
      </p:sp>
      <p:sp>
        <p:nvSpPr>
          <p:cNvPr id="15" name="Shape 15"/>
          <p:cNvSpPr/>
          <p:nvPr/>
        </p:nvSpPr>
        <p:spPr>
          <a:xfrm>
            <a:off x="3657600" y="3429000"/>
            <a:ext cx="2560320" cy="1143000"/>
          </a:xfrm>
          <a:prstGeom prst="roundRect">
            <a:avLst/>
          </a:prstGeom>
          <a:solidFill>
            <a:srgbClr val="DCFCE7"/>
          </a:solidFill>
          <a:ln w="16000">
            <a:solidFill>
              <a:srgbClr val="34D399"/>
            </a:solidFill>
          </a:ln>
        </p:spPr>
        <p:txBody>
          <a:bodyPr/>
          <a:lstStyle/>
          <a:p/>
        </p:txBody>
      </p:sp>
      <p:sp>
        <p:nvSpPr>
          <p:cNvPr id="16" name="Text 16"/>
          <p:cNvSpPr txBox="1"/>
          <p:nvPr/>
        </p:nvSpPr>
        <p:spPr>
          <a:xfrm>
            <a:off x="3785615" y="3529584"/>
            <a:ext cx="230428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b="1" dirty="0">
                <a:solidFill>
                  <a:srgbClr val="34D399"/>
                </a:solidFill>
                <a:latin typeface="JetBrains Mono"/>
                <a:ea typeface="JetBrains Mono"/>
                <a:cs typeface="JetBrains Mono"/>
              </a:rPr>
              <a:t xml:space="preserve">owner</a:t>
            </a:r>
            <a:endParaRPr lang="ru-RU" sz="1200" dirty="0"/>
          </a:p>
        </p:txBody>
      </p:sp>
      <p:sp>
        <p:nvSpPr>
          <p:cNvPr id="17" name="Text 17"/>
          <p:cNvSpPr txBox="1"/>
          <p:nvPr/>
        </p:nvSpPr>
        <p:spPr>
          <a:xfrm>
            <a:off x="3785615" y="3840480"/>
            <a:ext cx="2304287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weak_ptr.lock()</a:t>
            </a:r>
            <a:endParaRPr lang="ru-RU" sz="1200" dirty="0"/>
          </a:p>
        </p:txBody>
      </p:sp>
      <p:cxnSp>
        <p:nvCxnSpPr>
          <p:cNvPr id="18" name="Arrow 18"/>
          <p:cNvCxnSpPr/>
          <p:nvPr/>
        </p:nvCxnSpPr>
        <p:spPr>
          <a:xfrm>
            <a:off x="3401568" y="1993392"/>
            <a:ext cx="182880" cy="0"/>
          </a:xfrm>
          <a:prstGeom prst="line">
            <a:avLst/>
          </a:prstGeom>
          <a:ln w="24000">
            <a:solidFill>
              <a:srgbClr val="7DD3FC"/>
            </a:solidFill>
            <a:headEnd type="triangle"/>
          </a:ln>
        </p:spPr>
      </p:cxnSp>
      <p:cxnSp>
        <p:nvCxnSpPr>
          <p:cNvPr id="19" name="Arrow 19"/>
          <p:cNvCxnSpPr/>
          <p:nvPr/>
        </p:nvCxnSpPr>
        <p:spPr>
          <a:xfrm>
            <a:off x="6281928" y="1993392"/>
            <a:ext cx="182880" cy="0"/>
          </a:xfrm>
          <a:prstGeom prst="line">
            <a:avLst/>
          </a:prstGeom>
          <a:ln w="24000">
            <a:solidFill>
              <a:srgbClr val="7DD3FC"/>
            </a:solidFill>
            <a:headEnd type="triangle"/>
          </a:ln>
        </p:spPr>
      </p:cxnSp>
      <p:cxnSp>
        <p:nvCxnSpPr>
          <p:cNvPr id="20" name="Arrow 20"/>
          <p:cNvCxnSpPr/>
          <p:nvPr/>
        </p:nvCxnSpPr>
        <p:spPr>
          <a:xfrm>
            <a:off x="4937760" y="2743200"/>
            <a:ext cx="0" cy="594360"/>
          </a:xfrm>
          <a:prstGeom prst="line">
            <a:avLst/>
          </a:prstGeom>
          <a:ln w="24000">
            <a:solidFill>
              <a:srgbClr val="34D399"/>
            </a:solidFill>
            <a:headEnd type="triangle"/>
          </a:ln>
        </p:spPr>
      </p:cxnSp>
      <p:sp>
        <p:nvSpPr>
          <p:cNvPr id="21" name="Page 21"/>
          <p:cNvSpPr txBox="1"/>
          <p:nvPr/>
        </p:nvSpPr>
        <p:spPr>
          <a:xfrm>
            <a:off x="10287000" y="6510528"/>
            <a:ext cx="6400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r"/>
            <a:r>
              <a:rPr lang="ru-RU" sz="900" dirty="0">
                <a:solidFill>
                  <a:srgbClr val="64748B"/>
                </a:solidFill>
                <a:latin typeface="JetBrains Mono"/>
                <a:ea typeface="JetBrains Mono"/>
                <a:cs typeface="JetBrains Mono"/>
              </a:rPr>
              <a:t xml:space="preserve">23</a:t>
            </a:r>
            <a:endParaRPr lang="ru-RU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 4"/>
          <p:cNvSpPr txBox="1"/>
          <p:nvPr/>
        </p:nvSpPr>
        <p:spPr>
          <a:xfrm>
            <a:off x="502920" y="201168"/>
            <a:ext cx="1065276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2400" b="1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Состояния cancellable loading</a:t>
            </a:r>
            <a:endParaRPr lang="ru-RU" sz="2400" dirty="0"/>
          </a:p>
        </p:txBody>
      </p:sp>
      <p:sp>
        <p:nvSpPr>
          <p:cNvPr id="5" name="Subtitle 5"/>
          <p:cNvSpPr txBox="1"/>
          <p:nvPr/>
        </p:nvSpPr>
        <p:spPr>
          <a:xfrm>
            <a:off x="530352" y="749808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100" dirty="0">
                <a:solidFill>
                  <a:srgbClr val="475569"/>
                </a:solidFill>
                <a:latin typeface="JetBrains Mono"/>
                <a:ea typeface="JetBrains Mono"/>
                <a:cs typeface="JetBrains Mono"/>
              </a:rPr>
              <a:t xml:space="preserve">Отмена - это штатный результат, а не авария</a:t>
            </a:r>
            <a:endParaRPr lang="ru-RU" sz="1100" dirty="0"/>
          </a:p>
        </p:txBody>
      </p:sp>
      <p:sp>
        <p:nvSpPr>
          <p:cNvPr id="6" name="Shape 6"/>
          <p:cNvSpPr/>
          <p:nvPr/>
        </p:nvSpPr>
        <p:spPr>
          <a:xfrm>
            <a:off x="731520" y="2057400"/>
            <a:ext cx="2057400" cy="1143000"/>
          </a:xfrm>
          <a:prstGeom prst="roundRect">
            <a:avLst/>
          </a:prstGeom>
          <a:solidFill>
            <a:srgbClr val="F3E8FF"/>
          </a:solidFill>
          <a:ln w="16000">
            <a:solidFill>
              <a:srgbClr val="A78BFA"/>
            </a:solidFill>
          </a:ln>
        </p:spPr>
        <p:txBody>
          <a:bodyPr/>
          <a:lstStyle/>
          <a:p/>
        </p:txBody>
      </p:sp>
      <p:sp>
        <p:nvSpPr>
          <p:cNvPr id="7" name="Text 7"/>
          <p:cNvSpPr txBox="1"/>
          <p:nvPr/>
        </p:nvSpPr>
        <p:spPr>
          <a:xfrm>
            <a:off x="859536" y="2157984"/>
            <a:ext cx="180136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b="1" dirty="0">
                <a:solidFill>
                  <a:srgbClr val="A78BFA"/>
                </a:solidFill>
                <a:latin typeface="JetBrains Mono"/>
                <a:ea typeface="JetBrains Mono"/>
                <a:cs typeface="JetBrains Mono"/>
              </a:rPr>
              <a:t xml:space="preserve">queued</a:t>
            </a:r>
            <a:endParaRPr lang="ru-RU" sz="1200" dirty="0"/>
          </a:p>
        </p:txBody>
      </p:sp>
      <p:sp>
        <p:nvSpPr>
          <p:cNvPr id="8" name="Text 8"/>
          <p:cNvSpPr txBox="1"/>
          <p:nvPr/>
        </p:nvSpPr>
        <p:spPr>
          <a:xfrm>
            <a:off x="859536" y="2468880"/>
            <a:ext cx="1801368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задача ждет</a:t>
            </a:r>
            <a:endParaRPr lang="ru-RU" sz="1200" dirty="0"/>
          </a:p>
        </p:txBody>
      </p:sp>
      <p:cxnSp>
        <p:nvCxnSpPr>
          <p:cNvPr id="9" name="Arrow 9"/>
          <p:cNvCxnSpPr/>
          <p:nvPr/>
        </p:nvCxnSpPr>
        <p:spPr>
          <a:xfrm>
            <a:off x="2834640" y="2633472"/>
            <a:ext cx="411480" cy="0"/>
          </a:xfrm>
          <a:prstGeom prst="line">
            <a:avLst/>
          </a:prstGeom>
          <a:ln w="24000">
            <a:solidFill>
              <a:srgbClr val="C084FC"/>
            </a:solidFill>
            <a:headEnd type="triangle"/>
          </a:ln>
        </p:spPr>
      </p:cxnSp>
      <p:sp>
        <p:nvSpPr>
          <p:cNvPr id="10" name="Shape 10"/>
          <p:cNvSpPr/>
          <p:nvPr/>
        </p:nvSpPr>
        <p:spPr>
          <a:xfrm>
            <a:off x="3383280" y="2057400"/>
            <a:ext cx="2057400" cy="1143000"/>
          </a:xfrm>
          <a:prstGeom prst="roundRect">
            <a:avLst/>
          </a:prstGeom>
          <a:solidFill>
            <a:srgbClr val="F3E8FF"/>
          </a:solidFill>
          <a:ln w="16000">
            <a:solidFill>
              <a:srgbClr val="A78BFA"/>
            </a:solidFill>
          </a:ln>
        </p:spPr>
        <p:txBody>
          <a:bodyPr/>
          <a:lstStyle/>
          <a:p/>
        </p:txBody>
      </p:sp>
      <p:sp>
        <p:nvSpPr>
          <p:cNvPr id="11" name="Text 11"/>
          <p:cNvSpPr txBox="1"/>
          <p:nvPr/>
        </p:nvSpPr>
        <p:spPr>
          <a:xfrm>
            <a:off x="3511296" y="2157984"/>
            <a:ext cx="180136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b="1" dirty="0">
                <a:solidFill>
                  <a:srgbClr val="A78BFA"/>
                </a:solidFill>
                <a:latin typeface="JetBrains Mono"/>
                <a:ea typeface="JetBrains Mono"/>
                <a:cs typeface="JetBrains Mono"/>
              </a:rPr>
              <a:t xml:space="preserve">running</a:t>
            </a:r>
            <a:endParaRPr lang="ru-RU" sz="1200" dirty="0"/>
          </a:p>
        </p:txBody>
      </p:sp>
      <p:sp>
        <p:nvSpPr>
          <p:cNvPr id="12" name="Text 12"/>
          <p:cNvSpPr txBox="1"/>
          <p:nvPr/>
        </p:nvSpPr>
        <p:spPr>
          <a:xfrm>
            <a:off x="3511296" y="2468880"/>
            <a:ext cx="1801368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грузит пачками</a:t>
            </a:r>
            <a:endParaRPr lang="ru-RU" sz="1200" dirty="0"/>
          </a:p>
        </p:txBody>
      </p:sp>
      <p:cxnSp>
        <p:nvCxnSpPr>
          <p:cNvPr id="13" name="Arrow 13"/>
          <p:cNvCxnSpPr/>
          <p:nvPr/>
        </p:nvCxnSpPr>
        <p:spPr>
          <a:xfrm>
            <a:off x="5486400" y="2633472"/>
            <a:ext cx="411479" cy="0"/>
          </a:xfrm>
          <a:prstGeom prst="line">
            <a:avLst/>
          </a:prstGeom>
          <a:ln w="24000">
            <a:solidFill>
              <a:srgbClr val="C084FC"/>
            </a:solidFill>
            <a:headEnd type="triangle"/>
          </a:ln>
        </p:spPr>
      </p:cxnSp>
      <p:sp>
        <p:nvSpPr>
          <p:cNvPr id="14" name="Shape 14"/>
          <p:cNvSpPr/>
          <p:nvPr/>
        </p:nvSpPr>
        <p:spPr>
          <a:xfrm>
            <a:off x="6035040" y="2057400"/>
            <a:ext cx="2057400" cy="1143000"/>
          </a:xfrm>
          <a:prstGeom prst="roundRect">
            <a:avLst/>
          </a:prstGeom>
          <a:solidFill>
            <a:srgbClr val="F3E8FF"/>
          </a:solidFill>
          <a:ln w="16000">
            <a:solidFill>
              <a:srgbClr val="A78BFA"/>
            </a:solidFill>
          </a:ln>
        </p:spPr>
        <p:txBody>
          <a:bodyPr/>
          <a:lstStyle/>
          <a:p/>
        </p:txBody>
      </p:sp>
      <p:sp>
        <p:nvSpPr>
          <p:cNvPr id="15" name="Text 15"/>
          <p:cNvSpPr txBox="1"/>
          <p:nvPr/>
        </p:nvSpPr>
        <p:spPr>
          <a:xfrm>
            <a:off x="6163055" y="2157984"/>
            <a:ext cx="180136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b="1" dirty="0">
                <a:solidFill>
                  <a:srgbClr val="A78BFA"/>
                </a:solidFill>
                <a:latin typeface="JetBrains Mono"/>
                <a:ea typeface="JetBrains Mono"/>
                <a:cs typeface="JetBrains Mono"/>
              </a:rPr>
              <a:t xml:space="preserve">cancelling</a:t>
            </a:r>
            <a:endParaRPr lang="ru-RU" sz="1200" dirty="0"/>
          </a:p>
        </p:txBody>
      </p:sp>
      <p:sp>
        <p:nvSpPr>
          <p:cNvPr id="16" name="Text 16"/>
          <p:cNvSpPr txBox="1"/>
          <p:nvPr/>
        </p:nvSpPr>
        <p:spPr>
          <a:xfrm>
            <a:off x="6163055" y="2468880"/>
            <a:ext cx="1801368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доходит до safe</a:t>
            </a:r>
            <a:endParaRPr lang="ru-RU" sz="1200" dirty="0"/>
          </a:p>
          <a:p>
            <a:pPr algn="l"/>
            <a:r>
              <a:rPr lang="ru-RU" sz="12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point</a:t>
            </a:r>
            <a:endParaRPr lang="ru-RU" sz="1200" dirty="0"/>
          </a:p>
        </p:txBody>
      </p:sp>
      <p:cxnSp>
        <p:nvCxnSpPr>
          <p:cNvPr id="17" name="Arrow 17"/>
          <p:cNvCxnSpPr/>
          <p:nvPr/>
        </p:nvCxnSpPr>
        <p:spPr>
          <a:xfrm>
            <a:off x="8138160" y="2633472"/>
            <a:ext cx="411480" cy="0"/>
          </a:xfrm>
          <a:prstGeom prst="line">
            <a:avLst/>
          </a:prstGeom>
          <a:ln w="24000">
            <a:solidFill>
              <a:srgbClr val="C084FC"/>
            </a:solidFill>
            <a:headEnd type="triangle"/>
          </a:ln>
        </p:spPr>
      </p:cxnSp>
      <p:sp>
        <p:nvSpPr>
          <p:cNvPr id="18" name="Shape 18"/>
          <p:cNvSpPr/>
          <p:nvPr/>
        </p:nvSpPr>
        <p:spPr>
          <a:xfrm>
            <a:off x="8686800" y="2057400"/>
            <a:ext cx="2057400" cy="1143000"/>
          </a:xfrm>
          <a:prstGeom prst="roundRect">
            <a:avLst/>
          </a:prstGeom>
          <a:solidFill>
            <a:srgbClr val="F3E8FF"/>
          </a:solidFill>
          <a:ln w="16000">
            <a:solidFill>
              <a:srgbClr val="A78BFA"/>
            </a:solidFill>
          </a:ln>
        </p:spPr>
        <p:txBody>
          <a:bodyPr/>
          <a:lstStyle/>
          <a:p/>
        </p:txBody>
      </p:sp>
      <p:sp>
        <p:nvSpPr>
          <p:cNvPr id="19" name="Text 19"/>
          <p:cNvSpPr txBox="1"/>
          <p:nvPr/>
        </p:nvSpPr>
        <p:spPr>
          <a:xfrm>
            <a:off x="8814816" y="2157984"/>
            <a:ext cx="180136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b="1" dirty="0">
                <a:solidFill>
                  <a:srgbClr val="A78BFA"/>
                </a:solidFill>
                <a:latin typeface="JetBrains Mono"/>
                <a:ea typeface="JetBrains Mono"/>
                <a:cs typeface="JetBrains Mono"/>
              </a:rPr>
              <a:t xml:space="preserve">done</a:t>
            </a:r>
            <a:endParaRPr lang="ru-RU" sz="1200" dirty="0"/>
          </a:p>
        </p:txBody>
      </p:sp>
      <p:sp>
        <p:nvSpPr>
          <p:cNvPr id="20" name="Text 20"/>
          <p:cNvSpPr txBox="1"/>
          <p:nvPr/>
        </p:nvSpPr>
        <p:spPr>
          <a:xfrm>
            <a:off x="8814816" y="2468880"/>
            <a:ext cx="1801368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result</a:t>
            </a:r>
            <a:endParaRPr lang="ru-RU" sz="1200" dirty="0"/>
          </a:p>
        </p:txBody>
      </p:sp>
      <p:sp>
        <p:nvSpPr>
          <p:cNvPr id="21" name="Text 21"/>
          <p:cNvSpPr txBox="1"/>
          <p:nvPr/>
        </p:nvSpPr>
        <p:spPr>
          <a:xfrm>
            <a:off x="914400" y="4315968"/>
            <a:ext cx="91440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ctr"/>
            <a:r>
              <a:rPr lang="ru-RU" sz="1600" dirty="0">
                <a:solidFill>
                  <a:srgbClr val="6B21A8"/>
                </a:solidFill>
                <a:latin typeface="JetBrains Mono"/>
                <a:ea typeface="JetBrains Mono"/>
                <a:cs typeface="JetBrains Mono"/>
              </a:rPr>
              <a:t xml:space="preserve">done может означать: success, failure или cancelled.</a:t>
            </a:r>
            <a:endParaRPr lang="ru-RU" sz="1600" dirty="0"/>
          </a:p>
        </p:txBody>
      </p:sp>
      <p:sp>
        <p:nvSpPr>
          <p:cNvPr id="22" name="Page 22"/>
          <p:cNvSpPr txBox="1"/>
          <p:nvPr/>
        </p:nvSpPr>
        <p:spPr>
          <a:xfrm>
            <a:off x="10287000" y="6510528"/>
            <a:ext cx="6400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r"/>
            <a:r>
              <a:rPr lang="ru-RU" sz="900" dirty="0">
                <a:solidFill>
                  <a:srgbClr val="64748B"/>
                </a:solidFill>
                <a:latin typeface="JetBrains Mono"/>
                <a:ea typeface="JetBrains Mono"/>
                <a:cs typeface="JetBrains Mono"/>
              </a:rPr>
              <a:t xml:space="preserve">24</a:t>
            </a:r>
            <a:endParaRPr lang="ru-RU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 4"/>
          <p:cNvSpPr txBox="1"/>
          <p:nvPr/>
        </p:nvSpPr>
        <p:spPr>
          <a:xfrm>
            <a:off x="502920" y="201168"/>
            <a:ext cx="1065276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2400" b="1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Main queue: только крупные события</a:t>
            </a:r>
            <a:endParaRPr lang="ru-RU" sz="2400" dirty="0"/>
          </a:p>
        </p:txBody>
      </p:sp>
      <p:sp>
        <p:nvSpPr>
          <p:cNvPr id="5" name="Subtitle 5"/>
          <p:cNvSpPr txBox="1"/>
          <p:nvPr/>
        </p:nvSpPr>
        <p:spPr>
          <a:xfrm>
            <a:off x="530352" y="749808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100" dirty="0">
                <a:solidFill>
                  <a:srgbClr val="475569"/>
                </a:solidFill>
                <a:latin typeface="JetBrains Mono"/>
                <a:ea typeface="JetBrains Mono"/>
                <a:cs typeface="JetBrains Mono"/>
              </a:rPr>
              <a:t xml:space="preserve">Не привязывайте каждую мелкую загрузку к FPS</a:t>
            </a:r>
            <a:endParaRPr lang="ru-RU" sz="1100" dirty="0"/>
          </a:p>
        </p:txBody>
      </p:sp>
      <p:sp>
        <p:nvSpPr>
          <p:cNvPr id="6" name="Shape 6"/>
          <p:cNvSpPr/>
          <p:nvPr/>
        </p:nvSpPr>
        <p:spPr>
          <a:xfrm>
            <a:off x="777240" y="1645920"/>
            <a:ext cx="2926080" cy="1234440"/>
          </a:xfrm>
          <a:prstGeom prst="roundRect">
            <a:avLst/>
          </a:prstGeom>
          <a:solidFill>
            <a:srgbClr val="FFE4E6"/>
          </a:solidFill>
          <a:ln w="16000">
            <a:solidFill>
              <a:srgbClr val="FB7185"/>
            </a:solidFill>
          </a:ln>
        </p:spPr>
        <p:txBody>
          <a:bodyPr/>
          <a:lstStyle/>
          <a:p/>
        </p:txBody>
      </p:sp>
      <p:sp>
        <p:nvSpPr>
          <p:cNvPr id="7" name="Text 7"/>
          <p:cNvSpPr txBox="1"/>
          <p:nvPr/>
        </p:nvSpPr>
        <p:spPr>
          <a:xfrm>
            <a:off x="905256" y="1746504"/>
            <a:ext cx="267004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b="1" dirty="0">
                <a:solidFill>
                  <a:srgbClr val="FB7185"/>
                </a:solidFill>
                <a:latin typeface="JetBrains Mono"/>
                <a:ea typeface="JetBrains Mono"/>
                <a:cs typeface="JetBrains Mono"/>
              </a:rPr>
              <a:t xml:space="preserve">плохо</a:t>
            </a:r>
            <a:endParaRPr lang="ru-RU" sz="1200" dirty="0"/>
          </a:p>
        </p:txBody>
      </p:sp>
      <p:sp>
        <p:nvSpPr>
          <p:cNvPr id="8" name="Text 8"/>
          <p:cNvSpPr txBox="1"/>
          <p:nvPr/>
        </p:nvSpPr>
        <p:spPr>
          <a:xfrm>
            <a:off x="905256" y="2057400"/>
            <a:ext cx="2670048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texture готова -&gt; main -&gt;</a:t>
            </a:r>
            <a:endParaRPr lang="ru-RU" sz="1200" dirty="0"/>
          </a:p>
          <a:p>
            <a:pPr algn="l"/>
            <a:r>
              <a:rPr lang="ru-RU" sz="12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следующая texture</a:t>
            </a:r>
            <a:endParaRPr lang="ru-RU" sz="1200" dirty="0"/>
          </a:p>
        </p:txBody>
      </p:sp>
      <p:sp>
        <p:nvSpPr>
          <p:cNvPr id="9" name="Shape 9"/>
          <p:cNvSpPr/>
          <p:nvPr/>
        </p:nvSpPr>
        <p:spPr>
          <a:xfrm>
            <a:off x="4206240" y="1645920"/>
            <a:ext cx="2926080" cy="1234440"/>
          </a:xfrm>
          <a:prstGeom prst="roundRect">
            <a:avLst/>
          </a:prstGeom>
          <a:solidFill>
            <a:srgbClr val="DCFCE7"/>
          </a:solidFill>
          <a:ln w="16000">
            <a:solidFill>
              <a:srgbClr val="34D399"/>
            </a:solidFill>
          </a:ln>
        </p:spPr>
        <p:txBody>
          <a:bodyPr/>
          <a:lstStyle/>
          <a:p/>
        </p:txBody>
      </p:sp>
      <p:sp>
        <p:nvSpPr>
          <p:cNvPr id="10" name="Text 10"/>
          <p:cNvSpPr txBox="1"/>
          <p:nvPr/>
        </p:nvSpPr>
        <p:spPr>
          <a:xfrm>
            <a:off x="4334255" y="1746504"/>
            <a:ext cx="267004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b="1" dirty="0">
                <a:solidFill>
                  <a:srgbClr val="34D399"/>
                </a:solidFill>
                <a:latin typeface="JetBrains Mono"/>
                <a:ea typeface="JetBrains Mono"/>
                <a:cs typeface="JetBrains Mono"/>
              </a:rPr>
              <a:t xml:space="preserve">лучше</a:t>
            </a:r>
            <a:endParaRPr lang="ru-RU" sz="1200" dirty="0"/>
          </a:p>
        </p:txBody>
      </p:sp>
      <p:sp>
        <p:nvSpPr>
          <p:cNvPr id="11" name="Text 11"/>
          <p:cNvSpPr txBox="1"/>
          <p:nvPr/>
        </p:nvSpPr>
        <p:spPr>
          <a:xfrm>
            <a:off x="4334255" y="2057400"/>
            <a:ext cx="2670048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worker queue запускает</a:t>
            </a:r>
            <a:endParaRPr lang="ru-RU" sz="1200" dirty="0"/>
          </a:p>
          <a:p>
            <a:pPr algn="l"/>
            <a:r>
              <a:rPr lang="ru-RU" sz="12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следующую сразу</a:t>
            </a:r>
            <a:endParaRPr lang="ru-RU" sz="1200" dirty="0"/>
          </a:p>
        </p:txBody>
      </p:sp>
      <p:sp>
        <p:nvSpPr>
          <p:cNvPr id="12" name="Shape 12"/>
          <p:cNvSpPr/>
          <p:nvPr/>
        </p:nvSpPr>
        <p:spPr>
          <a:xfrm>
            <a:off x="7635240" y="1645920"/>
            <a:ext cx="2606040" cy="1234440"/>
          </a:xfrm>
          <a:prstGeom prst="roundRect">
            <a:avLst/>
          </a:prstGeom>
          <a:solidFill>
            <a:srgbClr val="E0F2FE"/>
          </a:solidFill>
          <a:ln w="16000">
            <a:solidFill>
              <a:srgbClr val="38BDF8"/>
            </a:solidFill>
          </a:ln>
        </p:spPr>
        <p:txBody>
          <a:bodyPr/>
          <a:lstStyle/>
          <a:p/>
        </p:txBody>
      </p:sp>
      <p:sp>
        <p:nvSpPr>
          <p:cNvPr id="13" name="Text 13"/>
          <p:cNvSpPr txBox="1"/>
          <p:nvPr/>
        </p:nvSpPr>
        <p:spPr>
          <a:xfrm>
            <a:off x="7763256" y="1746504"/>
            <a:ext cx="235000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b="1" dirty="0">
                <a:solidFill>
                  <a:srgbClr val="38BDF8"/>
                </a:solidFill>
                <a:latin typeface="JetBrains Mono"/>
                <a:ea typeface="JetBrains Mono"/>
                <a:cs typeface="JetBrains Mono"/>
              </a:rPr>
              <a:t xml:space="preserve">main</a:t>
            </a:r>
            <a:endParaRPr lang="ru-RU" sz="1200" dirty="0"/>
          </a:p>
        </p:txBody>
      </p:sp>
      <p:sp>
        <p:nvSpPr>
          <p:cNvPr id="14" name="Text 14"/>
          <p:cNvSpPr txBox="1"/>
          <p:nvPr/>
        </p:nvSpPr>
        <p:spPr>
          <a:xfrm>
            <a:off x="7763256" y="2057400"/>
            <a:ext cx="2350008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получает «уровень</a:t>
            </a:r>
            <a:endParaRPr lang="ru-RU" sz="1200" dirty="0"/>
          </a:p>
          <a:p>
            <a:pPr algn="l"/>
            <a:r>
              <a:rPr lang="ru-RU" sz="12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готов»</a:t>
            </a:r>
            <a:endParaRPr lang="ru-RU" sz="1200" dirty="0"/>
          </a:p>
        </p:txBody>
      </p:sp>
      <p:sp>
        <p:nvSpPr>
          <p:cNvPr id="15" name="Text 15"/>
          <p:cNvSpPr txBox="1"/>
          <p:nvPr/>
        </p:nvSpPr>
        <p:spPr>
          <a:xfrm>
            <a:off x="777240" y="3931920"/>
            <a:ext cx="96012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ctr"/>
            <a:r>
              <a:rPr lang="ru-RU" sz="1600" dirty="0">
                <a:solidFill>
                  <a:srgbClr val="92400E"/>
                </a:solidFill>
                <a:latin typeface="JetBrains Mono"/>
                <a:ea typeface="JetBrains Mono"/>
                <a:cs typeface="JetBrains Mono"/>
              </a:rPr>
              <a:t xml:space="preserve">Сигнал на main раз в кадр - нормально для крупных фаз, плохо для сотен мелких зависимых задач.</a:t>
            </a:r>
            <a:endParaRPr lang="ru-RU" sz="1600" dirty="0"/>
          </a:p>
        </p:txBody>
      </p:sp>
      <p:sp>
        <p:nvSpPr>
          <p:cNvPr id="16" name="Page 16"/>
          <p:cNvSpPr txBox="1"/>
          <p:nvPr/>
        </p:nvSpPr>
        <p:spPr>
          <a:xfrm>
            <a:off x="10287000" y="6510528"/>
            <a:ext cx="6400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r"/>
            <a:r>
              <a:rPr lang="ru-RU" sz="900" dirty="0">
                <a:solidFill>
                  <a:srgbClr val="64748B"/>
                </a:solidFill>
                <a:latin typeface="JetBrains Mono"/>
                <a:ea typeface="JetBrains Mono"/>
                <a:cs typeface="JetBrains Mono"/>
              </a:rPr>
              <a:t xml:space="preserve">25</a:t>
            </a:r>
            <a:endParaRPr lang="ru-RU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 4"/>
          <p:cNvSpPr txBox="1"/>
          <p:nvPr/>
        </p:nvSpPr>
        <p:spPr>
          <a:xfrm>
            <a:off x="502920" y="201168"/>
            <a:ext cx="1065276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2400" b="1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Как зависимость задач упирается в FPS</a:t>
            </a:r>
            <a:endParaRPr lang="ru-RU" sz="2400" dirty="0"/>
          </a:p>
        </p:txBody>
      </p:sp>
      <p:sp>
        <p:nvSpPr>
          <p:cNvPr id="5" name="Subtitle 5"/>
          <p:cNvSpPr txBox="1"/>
          <p:nvPr/>
        </p:nvSpPr>
        <p:spPr>
          <a:xfrm>
            <a:off x="530352" y="749808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100" dirty="0">
                <a:solidFill>
                  <a:srgbClr val="475569"/>
                </a:solidFill>
                <a:latin typeface="JetBrains Mono"/>
                <a:ea typeface="JetBrains Mono"/>
                <a:cs typeface="JetBrains Mono"/>
              </a:rPr>
              <a:t xml:space="preserve">Если следующая загрузка стартует только из main queue</a:t>
            </a:r>
            <a:endParaRPr lang="ru-RU" sz="1100" dirty="0"/>
          </a:p>
        </p:txBody>
      </p:sp>
      <p:sp>
        <p:nvSpPr>
          <p:cNvPr id="6" name="Text 6"/>
          <p:cNvSpPr txBox="1"/>
          <p:nvPr/>
        </p:nvSpPr>
        <p:spPr>
          <a:xfrm>
            <a:off x="685800" y="1463040"/>
            <a:ext cx="10012680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ctr"/>
            <a:r>
              <a:rPr lang="ru-RU" sz="1800" b="1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texture A готова -&gt; событие main -&gt; кадр -&gt; старт texture B</a:t>
            </a:r>
            <a:endParaRPr lang="ru-RU" sz="1800" dirty="0"/>
          </a:p>
        </p:txBody>
      </p:sp>
      <p:sp>
        <p:nvSpPr>
          <p:cNvPr id="7" name="Shape 7"/>
          <p:cNvSpPr/>
          <p:nvPr/>
        </p:nvSpPr>
        <p:spPr>
          <a:xfrm>
            <a:off x="914400" y="2743200"/>
            <a:ext cx="1234440" cy="640080"/>
          </a:xfrm>
          <a:prstGeom prst="roundRect">
            <a:avLst/>
          </a:prstGeom>
          <a:solidFill>
            <a:srgbClr val="FFFFFF"/>
          </a:solidFill>
          <a:ln w="16000">
            <a:solidFill>
              <a:srgbClr val="64748B"/>
            </a:solidFill>
          </a:ln>
        </p:spPr>
        <p:txBody>
          <a:bodyPr/>
          <a:lstStyle/>
          <a:p/>
        </p:txBody>
      </p:sp>
      <p:sp>
        <p:nvSpPr>
          <p:cNvPr id="8" name="Text 8"/>
          <p:cNvSpPr txBox="1"/>
          <p:nvPr/>
        </p:nvSpPr>
        <p:spPr>
          <a:xfrm>
            <a:off x="914400" y="2880360"/>
            <a:ext cx="12344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ctr"/>
            <a:r>
              <a:rPr lang="ru-RU" sz="900" dirty="0">
                <a:solidFill>
                  <a:srgbClr val="475569"/>
                </a:solidFill>
                <a:latin typeface="JetBrains Mono"/>
                <a:ea typeface="JetBrains Mono"/>
                <a:cs typeface="JetBrains Mono"/>
              </a:rPr>
              <a:t xml:space="preserve">frame 1</a:t>
            </a:r>
            <a:endParaRPr lang="ru-RU" sz="900" dirty="0"/>
          </a:p>
        </p:txBody>
      </p:sp>
      <p:sp>
        <p:nvSpPr>
          <p:cNvPr id="9" name="Circle 9"/>
          <p:cNvSpPr/>
          <p:nvPr/>
        </p:nvSpPr>
        <p:spPr>
          <a:xfrm>
            <a:off x="1298448" y="2057400"/>
            <a:ext cx="457200" cy="457200"/>
          </a:xfrm>
          <a:prstGeom prst="ellipse">
            <a:avLst/>
          </a:prstGeom>
          <a:solidFill>
            <a:srgbClr val="FB7185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Shape 10"/>
          <p:cNvSpPr/>
          <p:nvPr/>
        </p:nvSpPr>
        <p:spPr>
          <a:xfrm>
            <a:off x="2514600" y="2743200"/>
            <a:ext cx="1234440" cy="640080"/>
          </a:xfrm>
          <a:prstGeom prst="roundRect">
            <a:avLst/>
          </a:prstGeom>
          <a:solidFill>
            <a:srgbClr val="FFFFFF"/>
          </a:solidFill>
          <a:ln w="16000">
            <a:solidFill>
              <a:srgbClr val="64748B"/>
            </a:solidFill>
          </a:ln>
        </p:spPr>
        <p:txBody>
          <a:bodyPr/>
          <a:lstStyle/>
          <a:p/>
        </p:txBody>
      </p:sp>
      <p:sp>
        <p:nvSpPr>
          <p:cNvPr id="11" name="Text 11"/>
          <p:cNvSpPr txBox="1"/>
          <p:nvPr/>
        </p:nvSpPr>
        <p:spPr>
          <a:xfrm>
            <a:off x="2514600" y="2880360"/>
            <a:ext cx="12344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ctr"/>
            <a:r>
              <a:rPr lang="ru-RU" sz="900" dirty="0">
                <a:solidFill>
                  <a:srgbClr val="475569"/>
                </a:solidFill>
                <a:latin typeface="JetBrains Mono"/>
                <a:ea typeface="JetBrains Mono"/>
                <a:cs typeface="JetBrains Mono"/>
              </a:rPr>
              <a:t xml:space="preserve">frame 2</a:t>
            </a:r>
            <a:endParaRPr lang="ru-RU" sz="900" dirty="0"/>
          </a:p>
        </p:txBody>
      </p:sp>
      <p:sp>
        <p:nvSpPr>
          <p:cNvPr id="12" name="Circle 12"/>
          <p:cNvSpPr/>
          <p:nvPr/>
        </p:nvSpPr>
        <p:spPr>
          <a:xfrm>
            <a:off x="2898648" y="2057400"/>
            <a:ext cx="457200" cy="457200"/>
          </a:xfrm>
          <a:prstGeom prst="ellipse">
            <a:avLst/>
          </a:prstGeom>
          <a:solidFill>
            <a:srgbClr val="FB7185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Shape 13"/>
          <p:cNvSpPr/>
          <p:nvPr/>
        </p:nvSpPr>
        <p:spPr>
          <a:xfrm>
            <a:off x="4114800" y="2743200"/>
            <a:ext cx="1234440" cy="640080"/>
          </a:xfrm>
          <a:prstGeom prst="roundRect">
            <a:avLst/>
          </a:prstGeom>
          <a:solidFill>
            <a:srgbClr val="FFFFFF"/>
          </a:solidFill>
          <a:ln w="16000">
            <a:solidFill>
              <a:srgbClr val="64748B"/>
            </a:solidFill>
          </a:ln>
        </p:spPr>
        <p:txBody>
          <a:bodyPr/>
          <a:lstStyle/>
          <a:p/>
        </p:txBody>
      </p:sp>
      <p:sp>
        <p:nvSpPr>
          <p:cNvPr id="14" name="Text 14"/>
          <p:cNvSpPr txBox="1"/>
          <p:nvPr/>
        </p:nvSpPr>
        <p:spPr>
          <a:xfrm>
            <a:off x="4114800" y="2880360"/>
            <a:ext cx="12344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ctr"/>
            <a:r>
              <a:rPr lang="ru-RU" sz="900" dirty="0">
                <a:solidFill>
                  <a:srgbClr val="475569"/>
                </a:solidFill>
                <a:latin typeface="JetBrains Mono"/>
                <a:ea typeface="JetBrains Mono"/>
                <a:cs typeface="JetBrains Mono"/>
              </a:rPr>
              <a:t xml:space="preserve">frame 3</a:t>
            </a:r>
            <a:endParaRPr lang="ru-RU" sz="900" dirty="0"/>
          </a:p>
        </p:txBody>
      </p:sp>
      <p:sp>
        <p:nvSpPr>
          <p:cNvPr id="15" name="Circle 15"/>
          <p:cNvSpPr/>
          <p:nvPr/>
        </p:nvSpPr>
        <p:spPr>
          <a:xfrm>
            <a:off x="4498848" y="2057400"/>
            <a:ext cx="457200" cy="457200"/>
          </a:xfrm>
          <a:prstGeom prst="ellipse">
            <a:avLst/>
          </a:prstGeom>
          <a:solidFill>
            <a:srgbClr val="FB7185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Shape 16"/>
          <p:cNvSpPr/>
          <p:nvPr/>
        </p:nvSpPr>
        <p:spPr>
          <a:xfrm>
            <a:off x="5715000" y="2743200"/>
            <a:ext cx="1234440" cy="640080"/>
          </a:xfrm>
          <a:prstGeom prst="roundRect">
            <a:avLst/>
          </a:prstGeom>
          <a:solidFill>
            <a:srgbClr val="FFFFFF"/>
          </a:solidFill>
          <a:ln w="16000">
            <a:solidFill>
              <a:srgbClr val="64748B"/>
            </a:solidFill>
          </a:ln>
        </p:spPr>
        <p:txBody>
          <a:bodyPr/>
          <a:lstStyle/>
          <a:p/>
        </p:txBody>
      </p:sp>
      <p:sp>
        <p:nvSpPr>
          <p:cNvPr id="17" name="Text 17"/>
          <p:cNvSpPr txBox="1"/>
          <p:nvPr/>
        </p:nvSpPr>
        <p:spPr>
          <a:xfrm>
            <a:off x="5715000" y="2880360"/>
            <a:ext cx="12344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ctr"/>
            <a:r>
              <a:rPr lang="ru-RU" sz="900" dirty="0">
                <a:solidFill>
                  <a:srgbClr val="475569"/>
                </a:solidFill>
                <a:latin typeface="JetBrains Mono"/>
                <a:ea typeface="JetBrains Mono"/>
                <a:cs typeface="JetBrains Mono"/>
              </a:rPr>
              <a:t xml:space="preserve">frame 4</a:t>
            </a:r>
            <a:endParaRPr lang="ru-RU" sz="900" dirty="0"/>
          </a:p>
        </p:txBody>
      </p:sp>
      <p:sp>
        <p:nvSpPr>
          <p:cNvPr id="18" name="Circle 18"/>
          <p:cNvSpPr/>
          <p:nvPr/>
        </p:nvSpPr>
        <p:spPr>
          <a:xfrm>
            <a:off x="6099048" y="2057400"/>
            <a:ext cx="457200" cy="457200"/>
          </a:xfrm>
          <a:prstGeom prst="ellipse">
            <a:avLst/>
          </a:prstGeom>
          <a:solidFill>
            <a:srgbClr val="FB7185"/>
          </a:solidFill>
          <a:ln>
            <a:noFill/>
          </a:ln>
        </p:spPr>
        <p:txBody>
          <a:bodyPr/>
          <a:lstStyle/>
          <a:p/>
        </p:txBody>
      </p:sp>
      <p:sp>
        <p:nvSpPr>
          <p:cNvPr id="19" name="Shape 19"/>
          <p:cNvSpPr/>
          <p:nvPr/>
        </p:nvSpPr>
        <p:spPr>
          <a:xfrm>
            <a:off x="7315200" y="2743200"/>
            <a:ext cx="1234440" cy="640080"/>
          </a:xfrm>
          <a:prstGeom prst="roundRect">
            <a:avLst/>
          </a:prstGeom>
          <a:solidFill>
            <a:srgbClr val="FFFFFF"/>
          </a:solidFill>
          <a:ln w="16000">
            <a:solidFill>
              <a:srgbClr val="64748B"/>
            </a:solidFill>
          </a:ln>
        </p:spPr>
        <p:txBody>
          <a:bodyPr/>
          <a:lstStyle/>
          <a:p/>
        </p:txBody>
      </p:sp>
      <p:sp>
        <p:nvSpPr>
          <p:cNvPr id="20" name="Text 20"/>
          <p:cNvSpPr txBox="1"/>
          <p:nvPr/>
        </p:nvSpPr>
        <p:spPr>
          <a:xfrm>
            <a:off x="7315200" y="2880360"/>
            <a:ext cx="12344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ctr"/>
            <a:r>
              <a:rPr lang="ru-RU" sz="900" dirty="0">
                <a:solidFill>
                  <a:srgbClr val="475569"/>
                </a:solidFill>
                <a:latin typeface="JetBrains Mono"/>
                <a:ea typeface="JetBrains Mono"/>
                <a:cs typeface="JetBrains Mono"/>
              </a:rPr>
              <a:t xml:space="preserve">frame 5</a:t>
            </a:r>
            <a:endParaRPr lang="ru-RU" sz="900" dirty="0"/>
          </a:p>
        </p:txBody>
      </p:sp>
      <p:sp>
        <p:nvSpPr>
          <p:cNvPr id="21" name="Shape 21"/>
          <p:cNvSpPr/>
          <p:nvPr/>
        </p:nvSpPr>
        <p:spPr>
          <a:xfrm>
            <a:off x="8915400" y="2743200"/>
            <a:ext cx="1234440" cy="640080"/>
          </a:xfrm>
          <a:prstGeom prst="roundRect">
            <a:avLst/>
          </a:prstGeom>
          <a:solidFill>
            <a:srgbClr val="FFFFFF"/>
          </a:solidFill>
          <a:ln w="16000">
            <a:solidFill>
              <a:srgbClr val="64748B"/>
            </a:solidFill>
          </a:ln>
        </p:spPr>
        <p:txBody>
          <a:bodyPr/>
          <a:lstStyle/>
          <a:p/>
        </p:txBody>
      </p:sp>
      <p:sp>
        <p:nvSpPr>
          <p:cNvPr id="22" name="Text 22"/>
          <p:cNvSpPr txBox="1"/>
          <p:nvPr/>
        </p:nvSpPr>
        <p:spPr>
          <a:xfrm>
            <a:off x="8915400" y="2880360"/>
            <a:ext cx="12344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ctr"/>
            <a:r>
              <a:rPr lang="ru-RU" sz="900" dirty="0">
                <a:solidFill>
                  <a:srgbClr val="475569"/>
                </a:solidFill>
                <a:latin typeface="JetBrains Mono"/>
                <a:ea typeface="JetBrains Mono"/>
                <a:cs typeface="JetBrains Mono"/>
              </a:rPr>
              <a:t xml:space="preserve">frame 6</a:t>
            </a:r>
            <a:endParaRPr lang="ru-RU" sz="900" dirty="0"/>
          </a:p>
        </p:txBody>
      </p:sp>
      <p:sp>
        <p:nvSpPr>
          <p:cNvPr id="23" name="Text 23"/>
          <p:cNvSpPr txBox="1"/>
          <p:nvPr/>
        </p:nvSpPr>
        <p:spPr>
          <a:xfrm>
            <a:off x="868680" y="4206240"/>
            <a:ext cx="941832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ctr"/>
            <a:r>
              <a:rPr lang="ru-RU" sz="1700" b="1" dirty="0">
                <a:solidFill>
                  <a:srgbClr val="991B1B"/>
                </a:solidFill>
                <a:latin typeface="JetBrains Mono"/>
                <a:ea typeface="JetBrains Mono"/>
                <a:cs typeface="JetBrains Mono"/>
              </a:rPr>
              <a:t xml:space="preserve">Итог: максимум около 60 таких переходов в секунду при 60 FPS.</a:t>
            </a:r>
            <a:endParaRPr lang="ru-RU" sz="1700" dirty="0"/>
          </a:p>
        </p:txBody>
      </p:sp>
      <p:sp>
        <p:nvSpPr>
          <p:cNvPr id="24" name="Page 24"/>
          <p:cNvSpPr txBox="1"/>
          <p:nvPr/>
        </p:nvSpPr>
        <p:spPr>
          <a:xfrm>
            <a:off x="10287000" y="6510528"/>
            <a:ext cx="6400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r"/>
            <a:r>
              <a:rPr lang="ru-RU" sz="900" dirty="0">
                <a:solidFill>
                  <a:srgbClr val="64748B"/>
                </a:solidFill>
                <a:latin typeface="JetBrains Mono"/>
                <a:ea typeface="JetBrains Mono"/>
                <a:cs typeface="JetBrains Mono"/>
              </a:rPr>
              <a:t xml:space="preserve">26</a:t>
            </a:r>
            <a:endParaRPr lang="ru-RU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 4"/>
          <p:cNvSpPr txBox="1"/>
          <p:nvPr/>
        </p:nvSpPr>
        <p:spPr>
          <a:xfrm>
            <a:off x="502920" y="201168"/>
            <a:ext cx="1065276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2400" b="1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Когда результат A влияет на задачу B</a:t>
            </a:r>
            <a:endParaRPr lang="ru-RU" sz="2400" dirty="0"/>
          </a:p>
        </p:txBody>
      </p:sp>
      <p:sp>
        <p:nvSpPr>
          <p:cNvPr id="5" name="Subtitle 5"/>
          <p:cNvSpPr txBox="1"/>
          <p:nvPr/>
        </p:nvSpPr>
        <p:spPr>
          <a:xfrm>
            <a:off x="530352" y="749808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100" dirty="0">
                <a:solidFill>
                  <a:srgbClr val="475569"/>
                </a:solidFill>
                <a:latin typeface="JetBrains Mono"/>
                <a:ea typeface="JetBrains Mono"/>
                <a:cs typeface="JetBrains Mono"/>
              </a:rPr>
              <a:t xml:space="preserve">Опасность: граф зависимостей спрятан в callback'ах</a:t>
            </a:r>
            <a:endParaRPr lang="ru-RU" sz="1100" dirty="0"/>
          </a:p>
        </p:txBody>
      </p:sp>
      <p:sp>
        <p:nvSpPr>
          <p:cNvPr id="6" name="Shape 6"/>
          <p:cNvSpPr/>
          <p:nvPr/>
        </p:nvSpPr>
        <p:spPr>
          <a:xfrm>
            <a:off x="822960" y="1600200"/>
            <a:ext cx="2468880" cy="1143000"/>
          </a:xfrm>
          <a:prstGeom prst="roundRect">
            <a:avLst/>
          </a:prstGeom>
          <a:solidFill>
            <a:srgbClr val="F3E8FF"/>
          </a:solidFill>
          <a:ln w="16000">
            <a:solidFill>
              <a:srgbClr val="A78BFA"/>
            </a:solidFill>
          </a:ln>
        </p:spPr>
        <p:txBody>
          <a:bodyPr/>
          <a:lstStyle/>
          <a:p/>
        </p:txBody>
      </p:sp>
      <p:sp>
        <p:nvSpPr>
          <p:cNvPr id="7" name="Text 7"/>
          <p:cNvSpPr txBox="1"/>
          <p:nvPr/>
        </p:nvSpPr>
        <p:spPr>
          <a:xfrm>
            <a:off x="950976" y="1700784"/>
            <a:ext cx="221284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b="1" dirty="0">
                <a:solidFill>
                  <a:srgbClr val="A78BFA"/>
                </a:solidFill>
                <a:latin typeface="JetBrains Mono"/>
                <a:ea typeface="JetBrains Mono"/>
                <a:cs typeface="JetBrains Mono"/>
              </a:rPr>
              <a:t xml:space="preserve">load manifest</a:t>
            </a:r>
            <a:endParaRPr lang="ru-RU" sz="1200" dirty="0"/>
          </a:p>
        </p:txBody>
      </p:sp>
      <p:sp>
        <p:nvSpPr>
          <p:cNvPr id="8" name="Text 8"/>
          <p:cNvSpPr txBox="1"/>
          <p:nvPr/>
        </p:nvSpPr>
        <p:spPr>
          <a:xfrm>
            <a:off x="950976" y="2011680"/>
            <a:ext cx="2212848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получили список</a:t>
            </a:r>
            <a:endParaRPr lang="ru-RU" sz="1200" dirty="0"/>
          </a:p>
          <a:p>
            <a:pPr algn="l"/>
            <a:r>
              <a:rPr lang="ru-RU" sz="12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текстур</a:t>
            </a:r>
            <a:endParaRPr lang="ru-RU" sz="1200" dirty="0"/>
          </a:p>
        </p:txBody>
      </p:sp>
      <p:sp>
        <p:nvSpPr>
          <p:cNvPr id="9" name="Shape 9"/>
          <p:cNvSpPr/>
          <p:nvPr/>
        </p:nvSpPr>
        <p:spPr>
          <a:xfrm>
            <a:off x="3794760" y="1600200"/>
            <a:ext cx="2468880" cy="1143000"/>
          </a:xfrm>
          <a:prstGeom prst="roundRect">
            <a:avLst/>
          </a:prstGeom>
          <a:solidFill>
            <a:srgbClr val="F3E8FF"/>
          </a:solidFill>
          <a:ln w="16000">
            <a:solidFill>
              <a:srgbClr val="A78BFA"/>
            </a:solidFill>
          </a:ln>
        </p:spPr>
        <p:txBody>
          <a:bodyPr/>
          <a:lstStyle/>
          <a:p/>
        </p:txBody>
      </p:sp>
      <p:sp>
        <p:nvSpPr>
          <p:cNvPr id="10" name="Text 10"/>
          <p:cNvSpPr txBox="1"/>
          <p:nvPr/>
        </p:nvSpPr>
        <p:spPr>
          <a:xfrm>
            <a:off x="3922776" y="1700784"/>
            <a:ext cx="221284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b="1" dirty="0">
                <a:solidFill>
                  <a:srgbClr val="A78BFA"/>
                </a:solidFill>
                <a:latin typeface="JetBrains Mono"/>
                <a:ea typeface="JetBrains Mono"/>
                <a:cs typeface="JetBrains Mono"/>
              </a:rPr>
              <a:t xml:space="preserve">load textures</a:t>
            </a:r>
            <a:endParaRPr lang="ru-RU" sz="1200" dirty="0"/>
          </a:p>
        </p:txBody>
      </p:sp>
      <p:sp>
        <p:nvSpPr>
          <p:cNvPr id="11" name="Text 11"/>
          <p:cNvSpPr txBox="1"/>
          <p:nvPr/>
        </p:nvSpPr>
        <p:spPr>
          <a:xfrm>
            <a:off x="3922776" y="2011680"/>
            <a:ext cx="2212848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зависит от manifest</a:t>
            </a:r>
            <a:endParaRPr lang="ru-RU" sz="1200" dirty="0"/>
          </a:p>
        </p:txBody>
      </p:sp>
      <p:sp>
        <p:nvSpPr>
          <p:cNvPr id="12" name="Shape 12"/>
          <p:cNvSpPr/>
          <p:nvPr/>
        </p:nvSpPr>
        <p:spPr>
          <a:xfrm>
            <a:off x="6766560" y="1600200"/>
            <a:ext cx="2468880" cy="1143000"/>
          </a:xfrm>
          <a:prstGeom prst="roundRect">
            <a:avLst/>
          </a:prstGeom>
          <a:solidFill>
            <a:srgbClr val="F3E8FF"/>
          </a:solidFill>
          <a:ln w="16000">
            <a:solidFill>
              <a:srgbClr val="A78BFA"/>
            </a:solidFill>
          </a:ln>
        </p:spPr>
        <p:txBody>
          <a:bodyPr/>
          <a:lstStyle/>
          <a:p/>
        </p:txBody>
      </p:sp>
      <p:sp>
        <p:nvSpPr>
          <p:cNvPr id="13" name="Text 13"/>
          <p:cNvSpPr txBox="1"/>
          <p:nvPr/>
        </p:nvSpPr>
        <p:spPr>
          <a:xfrm>
            <a:off x="6894576" y="1700784"/>
            <a:ext cx="221284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b="1" dirty="0">
                <a:solidFill>
                  <a:srgbClr val="A78BFA"/>
                </a:solidFill>
                <a:latin typeface="JetBrains Mono"/>
                <a:ea typeface="JetBrains Mono"/>
                <a:cs typeface="JetBrains Mono"/>
              </a:rPr>
              <a:t xml:space="preserve">create material</a:t>
            </a:r>
            <a:endParaRPr lang="ru-RU" sz="1200" dirty="0"/>
          </a:p>
        </p:txBody>
      </p:sp>
      <p:sp>
        <p:nvSpPr>
          <p:cNvPr id="14" name="Text 14"/>
          <p:cNvSpPr txBox="1"/>
          <p:nvPr/>
        </p:nvSpPr>
        <p:spPr>
          <a:xfrm>
            <a:off x="6894576" y="2011680"/>
            <a:ext cx="2212848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зависит от textures</a:t>
            </a:r>
            <a:endParaRPr lang="ru-RU" sz="1200" dirty="0"/>
          </a:p>
        </p:txBody>
      </p:sp>
      <p:cxnSp>
        <p:nvCxnSpPr>
          <p:cNvPr id="15" name="Arrow 15"/>
          <p:cNvCxnSpPr/>
          <p:nvPr/>
        </p:nvCxnSpPr>
        <p:spPr>
          <a:xfrm>
            <a:off x="3364992" y="2176272"/>
            <a:ext cx="338328" cy="0"/>
          </a:xfrm>
          <a:prstGeom prst="line">
            <a:avLst/>
          </a:prstGeom>
          <a:ln w="24000">
            <a:solidFill>
              <a:srgbClr val="C084FC"/>
            </a:solidFill>
            <a:headEnd type="triangle"/>
          </a:ln>
        </p:spPr>
      </p:cxnSp>
      <p:cxnSp>
        <p:nvCxnSpPr>
          <p:cNvPr id="16" name="Arrow 16"/>
          <p:cNvCxnSpPr/>
          <p:nvPr/>
        </p:nvCxnSpPr>
        <p:spPr>
          <a:xfrm>
            <a:off x="6336792" y="2176272"/>
            <a:ext cx="338328" cy="0"/>
          </a:xfrm>
          <a:prstGeom prst="line">
            <a:avLst/>
          </a:prstGeom>
          <a:ln w="24000">
            <a:solidFill>
              <a:srgbClr val="C084FC"/>
            </a:solidFill>
            <a:headEnd type="triangle"/>
          </a:ln>
        </p:spPr>
      </p:cxnSp>
      <p:sp>
        <p:nvSpPr>
          <p:cNvPr id="17" name="Text 17"/>
          <p:cNvSpPr txBox="1"/>
          <p:nvPr/>
        </p:nvSpPr>
        <p:spPr>
          <a:xfrm>
            <a:off x="777240" y="4041648"/>
            <a:ext cx="96012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ctr"/>
            <a:r>
              <a:rPr lang="ru-RU" sz="1600" dirty="0">
                <a:solidFill>
                  <a:srgbClr val="6B21A8"/>
                </a:solidFill>
                <a:latin typeface="JetBrains Mono"/>
                <a:ea typeface="JetBrains Mono"/>
                <a:cs typeface="JetBrains Mono"/>
              </a:rPr>
              <a:t xml:space="preserve">Если каждый переход идет через main, граф загрузки начинает тикать с частотой игры.</a:t>
            </a:r>
            <a:endParaRPr lang="ru-RU" sz="1600" dirty="0"/>
          </a:p>
        </p:txBody>
      </p:sp>
      <p:sp>
        <p:nvSpPr>
          <p:cNvPr id="18" name="Page 18"/>
          <p:cNvSpPr txBox="1"/>
          <p:nvPr/>
        </p:nvSpPr>
        <p:spPr>
          <a:xfrm>
            <a:off x="10287000" y="6510528"/>
            <a:ext cx="6400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r"/>
            <a:r>
              <a:rPr lang="ru-RU" sz="900" dirty="0">
                <a:solidFill>
                  <a:srgbClr val="64748B"/>
                </a:solidFill>
                <a:latin typeface="JetBrains Mono"/>
                <a:ea typeface="JetBrains Mono"/>
                <a:cs typeface="JetBrains Mono"/>
              </a:rPr>
              <a:t xml:space="preserve">27</a:t>
            </a:r>
            <a:endParaRPr lang="ru-RU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 4"/>
          <p:cNvSpPr txBox="1"/>
          <p:nvPr/>
        </p:nvSpPr>
        <p:spPr>
          <a:xfrm>
            <a:off x="502920" y="201168"/>
            <a:ext cx="1065276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2400" b="1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Render thread и контекст графики</a:t>
            </a:r>
            <a:endParaRPr lang="ru-RU" sz="2400" dirty="0"/>
          </a:p>
        </p:txBody>
      </p:sp>
      <p:sp>
        <p:nvSpPr>
          <p:cNvPr id="5" name="Subtitle 5"/>
          <p:cNvSpPr txBox="1"/>
          <p:nvPr/>
        </p:nvSpPr>
        <p:spPr>
          <a:xfrm>
            <a:off x="530352" y="749808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100" dirty="0">
                <a:solidFill>
                  <a:srgbClr val="475569"/>
                </a:solidFill>
                <a:latin typeface="JetBrains Mono"/>
                <a:ea typeface="JetBrains Mono"/>
                <a:cs typeface="JetBrains Mono"/>
              </a:rPr>
              <a:t xml:space="preserve">Еще одна причина не блокировать закрытие</a:t>
            </a:r>
            <a:endParaRPr lang="ru-RU" sz="1100" dirty="0"/>
          </a:p>
        </p:txBody>
      </p:sp>
      <p:sp>
        <p:nvSpPr>
          <p:cNvPr id="6" name="Shape 6"/>
          <p:cNvSpPr/>
          <p:nvPr/>
        </p:nvSpPr>
        <p:spPr>
          <a:xfrm>
            <a:off x="868680" y="1508760"/>
            <a:ext cx="2788920" cy="1143000"/>
          </a:xfrm>
          <a:prstGeom prst="roundRect">
            <a:avLst/>
          </a:prstGeom>
          <a:solidFill>
            <a:srgbClr val="E0F2FE"/>
          </a:solidFill>
          <a:ln w="16000">
            <a:solidFill>
              <a:srgbClr val="38BDF8"/>
            </a:solidFill>
          </a:ln>
        </p:spPr>
        <p:txBody>
          <a:bodyPr/>
          <a:lstStyle/>
          <a:p/>
        </p:txBody>
      </p:sp>
      <p:sp>
        <p:nvSpPr>
          <p:cNvPr id="7" name="Text 7"/>
          <p:cNvSpPr txBox="1"/>
          <p:nvPr/>
        </p:nvSpPr>
        <p:spPr>
          <a:xfrm>
            <a:off x="996695" y="1609344"/>
            <a:ext cx="253288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b="1" dirty="0">
                <a:solidFill>
                  <a:srgbClr val="38BDF8"/>
                </a:solidFill>
                <a:latin typeface="JetBrains Mono"/>
                <a:ea typeface="JetBrains Mono"/>
                <a:cs typeface="JetBrains Mono"/>
              </a:rPr>
              <a:t xml:space="preserve">main</a:t>
            </a:r>
            <a:endParaRPr lang="ru-RU" sz="1200" dirty="0"/>
          </a:p>
        </p:txBody>
      </p:sp>
      <p:sp>
        <p:nvSpPr>
          <p:cNvPr id="8" name="Text 8"/>
          <p:cNvSpPr txBox="1"/>
          <p:nvPr/>
        </p:nvSpPr>
        <p:spPr>
          <a:xfrm>
            <a:off x="996695" y="1920240"/>
            <a:ext cx="2532887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закрывает приложение</a:t>
            </a:r>
            <a:endParaRPr lang="ru-RU" sz="1200" dirty="0"/>
          </a:p>
        </p:txBody>
      </p:sp>
      <p:sp>
        <p:nvSpPr>
          <p:cNvPr id="9" name="Shape 9"/>
          <p:cNvSpPr/>
          <p:nvPr/>
        </p:nvSpPr>
        <p:spPr>
          <a:xfrm>
            <a:off x="4297680" y="1508760"/>
            <a:ext cx="2788920" cy="1143000"/>
          </a:xfrm>
          <a:prstGeom prst="roundRect">
            <a:avLst/>
          </a:prstGeom>
          <a:solidFill>
            <a:srgbClr val="E0F2FE"/>
          </a:solidFill>
          <a:ln w="16000">
            <a:solidFill>
              <a:srgbClr val="38BDF8"/>
            </a:solidFill>
          </a:ln>
        </p:spPr>
        <p:txBody>
          <a:bodyPr/>
          <a:lstStyle/>
          <a:p/>
        </p:txBody>
      </p:sp>
      <p:sp>
        <p:nvSpPr>
          <p:cNvPr id="10" name="Text 10"/>
          <p:cNvSpPr txBox="1"/>
          <p:nvPr/>
        </p:nvSpPr>
        <p:spPr>
          <a:xfrm>
            <a:off x="4425696" y="1609344"/>
            <a:ext cx="253288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b="1" dirty="0">
                <a:solidFill>
                  <a:srgbClr val="38BDF8"/>
                </a:solidFill>
                <a:latin typeface="JetBrains Mono"/>
                <a:ea typeface="JetBrains Mono"/>
                <a:cs typeface="JetBrains Mono"/>
              </a:rPr>
              <a:t xml:space="preserve">render</a:t>
            </a:r>
            <a:endParaRPr lang="ru-RU" sz="1200" dirty="0"/>
          </a:p>
        </p:txBody>
      </p:sp>
      <p:sp>
        <p:nvSpPr>
          <p:cNvPr id="11" name="Text 11"/>
          <p:cNvSpPr txBox="1"/>
          <p:nvPr/>
        </p:nvSpPr>
        <p:spPr>
          <a:xfrm>
            <a:off x="4425696" y="1920240"/>
            <a:ext cx="2532887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держит OpenGL context</a:t>
            </a:r>
            <a:endParaRPr lang="ru-RU" sz="1200" dirty="0"/>
          </a:p>
        </p:txBody>
      </p:sp>
      <p:sp>
        <p:nvSpPr>
          <p:cNvPr id="12" name="Shape 12"/>
          <p:cNvSpPr/>
          <p:nvPr/>
        </p:nvSpPr>
        <p:spPr>
          <a:xfrm>
            <a:off x="7726679" y="1508760"/>
            <a:ext cx="2606040" cy="1143000"/>
          </a:xfrm>
          <a:prstGeom prst="roundRect">
            <a:avLst/>
          </a:prstGeom>
          <a:solidFill>
            <a:srgbClr val="E0F2FE"/>
          </a:solidFill>
          <a:ln w="16000">
            <a:solidFill>
              <a:srgbClr val="38BDF8"/>
            </a:solidFill>
          </a:ln>
        </p:spPr>
        <p:txBody>
          <a:bodyPr/>
          <a:lstStyle/>
          <a:p/>
        </p:txBody>
      </p:sp>
      <p:sp>
        <p:nvSpPr>
          <p:cNvPr id="13" name="Text 13"/>
          <p:cNvSpPr txBox="1"/>
          <p:nvPr/>
        </p:nvSpPr>
        <p:spPr>
          <a:xfrm>
            <a:off x="7854696" y="1609344"/>
            <a:ext cx="235000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b="1" dirty="0">
                <a:solidFill>
                  <a:srgbClr val="38BDF8"/>
                </a:solidFill>
                <a:latin typeface="JetBrains Mono"/>
                <a:ea typeface="JetBrains Mono"/>
                <a:cs typeface="JetBrains Mono"/>
              </a:rPr>
              <a:t xml:space="preserve">loader</a:t>
            </a:r>
            <a:endParaRPr lang="ru-RU" sz="1200" dirty="0"/>
          </a:p>
        </p:txBody>
      </p:sp>
      <p:sp>
        <p:nvSpPr>
          <p:cNvPr id="14" name="Text 14"/>
          <p:cNvSpPr txBox="1"/>
          <p:nvPr/>
        </p:nvSpPr>
        <p:spPr>
          <a:xfrm>
            <a:off x="7854696" y="1920240"/>
            <a:ext cx="2350008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ждет texture upload</a:t>
            </a:r>
            <a:endParaRPr lang="ru-RU" sz="1200" dirty="0"/>
          </a:p>
        </p:txBody>
      </p:sp>
      <p:cxnSp>
        <p:nvCxnSpPr>
          <p:cNvPr id="15" name="Arrow 15"/>
          <p:cNvCxnSpPr/>
          <p:nvPr/>
        </p:nvCxnSpPr>
        <p:spPr>
          <a:xfrm>
            <a:off x="3703320" y="2084831"/>
            <a:ext cx="502920" cy="0"/>
          </a:xfrm>
          <a:prstGeom prst="line">
            <a:avLst/>
          </a:prstGeom>
          <a:ln w="24000">
            <a:solidFill>
              <a:srgbClr val="7DD3FC"/>
            </a:solidFill>
            <a:headEnd type="triangle"/>
          </a:ln>
        </p:spPr>
      </p:cxnSp>
      <p:cxnSp>
        <p:nvCxnSpPr>
          <p:cNvPr id="16" name="Arrow 16"/>
          <p:cNvCxnSpPr/>
          <p:nvPr/>
        </p:nvCxnSpPr>
        <p:spPr>
          <a:xfrm>
            <a:off x="7132320" y="2084831"/>
            <a:ext cx="502920" cy="0"/>
          </a:xfrm>
          <a:prstGeom prst="line">
            <a:avLst/>
          </a:prstGeom>
          <a:ln w="24000">
            <a:solidFill>
              <a:srgbClr val="7DD3FC"/>
            </a:solidFill>
            <a:headEnd type="triangle"/>
          </a:ln>
        </p:spPr>
      </p:cxnSp>
      <p:sp>
        <p:nvSpPr>
          <p:cNvPr id="17" name="Text 17"/>
          <p:cNvSpPr txBox="1"/>
          <p:nvPr/>
        </p:nvSpPr>
        <p:spPr>
          <a:xfrm>
            <a:off x="822960" y="3913632"/>
            <a:ext cx="950976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ctr"/>
            <a:r>
              <a:rPr lang="ru-RU" sz="1800" b="1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Цикл ожиданий между потоками превращает «закрыть приложение» в ANR.</a:t>
            </a:r>
            <a:endParaRPr lang="ru-RU" sz="1800" dirty="0"/>
          </a:p>
        </p:txBody>
      </p:sp>
      <p:sp>
        <p:nvSpPr>
          <p:cNvPr id="18" name="Page 18"/>
          <p:cNvSpPr txBox="1"/>
          <p:nvPr/>
        </p:nvSpPr>
        <p:spPr>
          <a:xfrm>
            <a:off x="10287000" y="6510528"/>
            <a:ext cx="6400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r"/>
            <a:r>
              <a:rPr lang="ru-RU" sz="900" dirty="0">
                <a:solidFill>
                  <a:srgbClr val="64748B"/>
                </a:solidFill>
                <a:latin typeface="JetBrains Mono"/>
                <a:ea typeface="JetBrains Mono"/>
                <a:cs typeface="JetBrains Mono"/>
              </a:rPr>
              <a:t xml:space="preserve">28</a:t>
            </a:r>
            <a:endParaRPr lang="ru-RU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 4"/>
          <p:cNvSpPr txBox="1"/>
          <p:nvPr/>
        </p:nvSpPr>
        <p:spPr>
          <a:xfrm>
            <a:off x="502920" y="201168"/>
            <a:ext cx="1065276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2400" b="1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Минимальный протокол результата</a:t>
            </a:r>
            <a:endParaRPr lang="ru-RU" sz="2400" dirty="0"/>
          </a:p>
        </p:txBody>
      </p:sp>
      <p:sp>
        <p:nvSpPr>
          <p:cNvPr id="5" name="Subtitle 5"/>
          <p:cNvSpPr txBox="1"/>
          <p:nvPr/>
        </p:nvSpPr>
        <p:spPr>
          <a:xfrm>
            <a:off x="530352" y="749808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100" dirty="0">
                <a:solidFill>
                  <a:srgbClr val="475569"/>
                </a:solidFill>
                <a:latin typeface="JetBrains Mono"/>
                <a:ea typeface="JetBrains Mono"/>
                <a:cs typeface="JetBrains Mono"/>
              </a:rPr>
              <a:t xml:space="preserve">Main должен получить не только «готово»</a:t>
            </a:r>
            <a:endParaRPr lang="ru-RU" sz="1100" dirty="0"/>
          </a:p>
        </p:txBody>
      </p:sp>
      <p:sp>
        <p:nvSpPr>
          <p:cNvPr id="6" name="Shape 6"/>
          <p:cNvSpPr/>
          <p:nvPr/>
        </p:nvSpPr>
        <p:spPr>
          <a:xfrm>
            <a:off x="822960" y="1417320"/>
            <a:ext cx="4297680" cy="1143000"/>
          </a:xfrm>
          <a:prstGeom prst="roundRect">
            <a:avLst/>
          </a:prstGeom>
          <a:solidFill>
            <a:srgbClr val="DCFCE7"/>
          </a:solidFill>
          <a:ln w="16000">
            <a:solidFill>
              <a:srgbClr val="34D399"/>
            </a:solidFill>
          </a:ln>
        </p:spPr>
        <p:txBody>
          <a:bodyPr/>
          <a:lstStyle/>
          <a:p/>
        </p:txBody>
      </p:sp>
      <p:sp>
        <p:nvSpPr>
          <p:cNvPr id="7" name="Text 7"/>
          <p:cNvSpPr txBox="1"/>
          <p:nvPr/>
        </p:nvSpPr>
        <p:spPr>
          <a:xfrm>
            <a:off x="950976" y="1517904"/>
            <a:ext cx="404164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b="1" dirty="0">
                <a:solidFill>
                  <a:srgbClr val="34D399"/>
                </a:solidFill>
                <a:latin typeface="JetBrains Mono"/>
                <a:ea typeface="JetBrains Mono"/>
                <a:cs typeface="JetBrains Mono"/>
              </a:rPr>
              <a:t xml:space="preserve">success</a:t>
            </a:r>
            <a:endParaRPr lang="ru-RU" sz="1200" dirty="0"/>
          </a:p>
        </p:txBody>
      </p:sp>
      <p:sp>
        <p:nvSpPr>
          <p:cNvPr id="8" name="Text 8"/>
          <p:cNvSpPr txBox="1"/>
          <p:nvPr/>
        </p:nvSpPr>
        <p:spPr>
          <a:xfrm>
            <a:off x="950976" y="1828800"/>
            <a:ext cx="4041648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ресурсы готовы</a:t>
            </a:r>
            <a:endParaRPr lang="ru-RU" sz="1200" dirty="0"/>
          </a:p>
        </p:txBody>
      </p:sp>
      <p:sp>
        <p:nvSpPr>
          <p:cNvPr id="9" name="Shape 9"/>
          <p:cNvSpPr/>
          <p:nvPr/>
        </p:nvSpPr>
        <p:spPr>
          <a:xfrm>
            <a:off x="5760720" y="1417320"/>
            <a:ext cx="4297680" cy="1143000"/>
          </a:xfrm>
          <a:prstGeom prst="roundRect">
            <a:avLst/>
          </a:prstGeom>
          <a:solidFill>
            <a:srgbClr val="DCFCE7"/>
          </a:solidFill>
          <a:ln w="16000">
            <a:solidFill>
              <a:srgbClr val="34D399"/>
            </a:solidFill>
          </a:ln>
        </p:spPr>
        <p:txBody>
          <a:bodyPr/>
          <a:lstStyle/>
          <a:p/>
        </p:txBody>
      </p:sp>
      <p:sp>
        <p:nvSpPr>
          <p:cNvPr id="10" name="Text 10"/>
          <p:cNvSpPr txBox="1"/>
          <p:nvPr/>
        </p:nvSpPr>
        <p:spPr>
          <a:xfrm>
            <a:off x="5888736" y="1517904"/>
            <a:ext cx="404164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b="1" dirty="0">
                <a:solidFill>
                  <a:srgbClr val="34D399"/>
                </a:solidFill>
                <a:latin typeface="JetBrains Mono"/>
                <a:ea typeface="JetBrains Mono"/>
                <a:cs typeface="JetBrains Mono"/>
              </a:rPr>
              <a:t xml:space="preserve">failure</a:t>
            </a:r>
            <a:endParaRPr lang="ru-RU" sz="1200" dirty="0"/>
          </a:p>
        </p:txBody>
      </p:sp>
      <p:sp>
        <p:nvSpPr>
          <p:cNvPr id="11" name="Text 11"/>
          <p:cNvSpPr txBox="1"/>
          <p:nvPr/>
        </p:nvSpPr>
        <p:spPr>
          <a:xfrm>
            <a:off x="5888736" y="1828800"/>
            <a:ext cx="4041648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ошибка с диагностикой</a:t>
            </a:r>
            <a:endParaRPr lang="ru-RU" sz="1200" dirty="0"/>
          </a:p>
        </p:txBody>
      </p:sp>
      <p:sp>
        <p:nvSpPr>
          <p:cNvPr id="12" name="Shape 12"/>
          <p:cNvSpPr/>
          <p:nvPr/>
        </p:nvSpPr>
        <p:spPr>
          <a:xfrm>
            <a:off x="822960" y="3108960"/>
            <a:ext cx="4297680" cy="1143000"/>
          </a:xfrm>
          <a:prstGeom prst="roundRect">
            <a:avLst/>
          </a:prstGeom>
          <a:solidFill>
            <a:srgbClr val="DCFCE7"/>
          </a:solidFill>
          <a:ln w="16000">
            <a:solidFill>
              <a:srgbClr val="34D399"/>
            </a:solidFill>
          </a:ln>
        </p:spPr>
        <p:txBody>
          <a:bodyPr/>
          <a:lstStyle/>
          <a:p/>
        </p:txBody>
      </p:sp>
      <p:sp>
        <p:nvSpPr>
          <p:cNvPr id="13" name="Text 13"/>
          <p:cNvSpPr txBox="1"/>
          <p:nvPr/>
        </p:nvSpPr>
        <p:spPr>
          <a:xfrm>
            <a:off x="950976" y="3209544"/>
            <a:ext cx="404164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b="1" dirty="0">
                <a:solidFill>
                  <a:srgbClr val="34D399"/>
                </a:solidFill>
                <a:latin typeface="JetBrains Mono"/>
                <a:ea typeface="JetBrains Mono"/>
                <a:cs typeface="JetBrains Mono"/>
              </a:rPr>
              <a:t xml:space="preserve">cancelled</a:t>
            </a:r>
            <a:endParaRPr lang="ru-RU" sz="1200" dirty="0"/>
          </a:p>
        </p:txBody>
      </p:sp>
      <p:sp>
        <p:nvSpPr>
          <p:cNvPr id="14" name="Text 14"/>
          <p:cNvSpPr txBox="1"/>
          <p:nvPr/>
        </p:nvSpPr>
        <p:spPr>
          <a:xfrm>
            <a:off x="950976" y="3520440"/>
            <a:ext cx="4041648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владелец передумал</a:t>
            </a:r>
            <a:endParaRPr lang="ru-RU" sz="1200" dirty="0"/>
          </a:p>
        </p:txBody>
      </p:sp>
      <p:sp>
        <p:nvSpPr>
          <p:cNvPr id="15" name="Shape 15"/>
          <p:cNvSpPr/>
          <p:nvPr/>
        </p:nvSpPr>
        <p:spPr>
          <a:xfrm>
            <a:off x="5760720" y="3108960"/>
            <a:ext cx="4297680" cy="1143000"/>
          </a:xfrm>
          <a:prstGeom prst="roundRect">
            <a:avLst/>
          </a:prstGeom>
          <a:solidFill>
            <a:srgbClr val="DCFCE7"/>
          </a:solidFill>
          <a:ln w="16000">
            <a:solidFill>
              <a:srgbClr val="34D399"/>
            </a:solidFill>
          </a:ln>
        </p:spPr>
        <p:txBody>
          <a:bodyPr/>
          <a:lstStyle/>
          <a:p/>
        </p:txBody>
      </p:sp>
      <p:sp>
        <p:nvSpPr>
          <p:cNvPr id="16" name="Text 16"/>
          <p:cNvSpPr txBox="1"/>
          <p:nvPr/>
        </p:nvSpPr>
        <p:spPr>
          <a:xfrm>
            <a:off x="5888736" y="3209544"/>
            <a:ext cx="404164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b="1" dirty="0">
                <a:solidFill>
                  <a:srgbClr val="34D399"/>
                </a:solidFill>
                <a:latin typeface="JetBrains Mono"/>
                <a:ea typeface="JetBrains Mono"/>
                <a:cs typeface="JetBrains Mono"/>
              </a:rPr>
              <a:t xml:space="preserve">owner missing</a:t>
            </a:r>
            <a:endParaRPr lang="ru-RU" sz="1200" dirty="0"/>
          </a:p>
        </p:txBody>
      </p:sp>
      <p:sp>
        <p:nvSpPr>
          <p:cNvPr id="17" name="Text 17"/>
          <p:cNvSpPr txBox="1"/>
          <p:nvPr/>
        </p:nvSpPr>
        <p:spPr>
          <a:xfrm>
            <a:off x="5888736" y="3520440"/>
            <a:ext cx="4041648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weak_ptr не залочился</a:t>
            </a:r>
            <a:endParaRPr lang="ru-RU" sz="1200" dirty="0"/>
          </a:p>
        </p:txBody>
      </p:sp>
      <p:sp>
        <p:nvSpPr>
          <p:cNvPr id="18" name="Page 18"/>
          <p:cNvSpPr txBox="1"/>
          <p:nvPr/>
        </p:nvSpPr>
        <p:spPr>
          <a:xfrm>
            <a:off x="10287000" y="6510528"/>
            <a:ext cx="6400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r"/>
            <a:r>
              <a:rPr lang="ru-RU" sz="900" dirty="0">
                <a:solidFill>
                  <a:srgbClr val="64748B"/>
                </a:solidFill>
                <a:latin typeface="JetBrains Mono"/>
                <a:ea typeface="JetBrains Mono"/>
                <a:cs typeface="JetBrains Mono"/>
              </a:rPr>
              <a:t xml:space="preserve">29</a:t>
            </a:r>
            <a:endParaRPr lang="ru-RU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 4"/>
          <p:cNvSpPr txBox="1"/>
          <p:nvPr/>
        </p:nvSpPr>
        <p:spPr>
          <a:xfrm>
            <a:off x="502920" y="201168"/>
            <a:ext cx="1065276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2400" b="1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Как вернуть результат из worker</a:t>
            </a:r>
            <a:endParaRPr lang="ru-RU" sz="2400" dirty="0"/>
          </a:p>
        </p:txBody>
      </p:sp>
      <p:sp>
        <p:nvSpPr>
          <p:cNvPr id="5" name="Subtitle 5"/>
          <p:cNvSpPr txBox="1"/>
          <p:nvPr/>
        </p:nvSpPr>
        <p:spPr>
          <a:xfrm>
            <a:off x="530352" y="749808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100" dirty="0">
                <a:solidFill>
                  <a:srgbClr val="475569"/>
                </a:solidFill>
                <a:latin typeface="JetBrains Mono"/>
                <a:ea typeface="JetBrains Mono"/>
                <a:cs typeface="JetBrains Mono"/>
              </a:rPr>
              <a:t xml:space="preserve">Есть несколько вариантов, у каждого своя цена</a:t>
            </a:r>
            <a:endParaRPr lang="ru-RU" sz="1100" dirty="0"/>
          </a:p>
        </p:txBody>
      </p:sp>
      <p:sp>
        <p:nvSpPr>
          <p:cNvPr id="6" name="Shape 6"/>
          <p:cNvSpPr/>
          <p:nvPr/>
        </p:nvSpPr>
        <p:spPr>
          <a:xfrm>
            <a:off x="822960" y="1417320"/>
            <a:ext cx="4297680" cy="1143000"/>
          </a:xfrm>
          <a:prstGeom prst="roundRect">
            <a:avLst/>
          </a:prstGeom>
          <a:solidFill>
            <a:srgbClr val="E0F2FE"/>
          </a:solidFill>
          <a:ln w="16000">
            <a:solidFill>
              <a:srgbClr val="38BDF8"/>
            </a:solidFill>
          </a:ln>
        </p:spPr>
        <p:txBody>
          <a:bodyPr/>
          <a:lstStyle/>
          <a:p/>
        </p:txBody>
      </p:sp>
      <p:sp>
        <p:nvSpPr>
          <p:cNvPr id="7" name="Text 7"/>
          <p:cNvSpPr txBox="1"/>
          <p:nvPr/>
        </p:nvSpPr>
        <p:spPr>
          <a:xfrm>
            <a:off x="950976" y="1517904"/>
            <a:ext cx="404164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b="1" dirty="0">
                <a:solidFill>
                  <a:srgbClr val="38BDF8"/>
                </a:solidFill>
                <a:latin typeface="JetBrains Mono"/>
                <a:ea typeface="JetBrains Mono"/>
                <a:cs typeface="JetBrains Mono"/>
              </a:rPr>
              <a:t xml:space="preserve">std::future</a:t>
            </a:r>
            <a:endParaRPr lang="ru-RU" sz="1200" dirty="0"/>
          </a:p>
        </p:txBody>
      </p:sp>
      <p:sp>
        <p:nvSpPr>
          <p:cNvPr id="8" name="Text 8"/>
          <p:cNvSpPr txBox="1"/>
          <p:nvPr/>
        </p:nvSpPr>
        <p:spPr>
          <a:xfrm>
            <a:off x="950976" y="1828800"/>
            <a:ext cx="4041648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get(), wait(), wait_for()</a:t>
            </a:r>
            <a:endParaRPr lang="ru-RU" sz="1200" dirty="0"/>
          </a:p>
        </p:txBody>
      </p:sp>
      <p:sp>
        <p:nvSpPr>
          <p:cNvPr id="9" name="Shape 9"/>
          <p:cNvSpPr/>
          <p:nvPr/>
        </p:nvSpPr>
        <p:spPr>
          <a:xfrm>
            <a:off x="5760720" y="1417320"/>
            <a:ext cx="4297680" cy="1143000"/>
          </a:xfrm>
          <a:prstGeom prst="roundRect">
            <a:avLst/>
          </a:prstGeom>
          <a:solidFill>
            <a:srgbClr val="F3E8FF"/>
          </a:solidFill>
          <a:ln w="16000">
            <a:solidFill>
              <a:srgbClr val="A78BFA"/>
            </a:solidFill>
          </a:ln>
        </p:spPr>
        <p:txBody>
          <a:bodyPr/>
          <a:lstStyle/>
          <a:p/>
        </p:txBody>
      </p:sp>
      <p:sp>
        <p:nvSpPr>
          <p:cNvPr id="10" name="Text 10"/>
          <p:cNvSpPr txBox="1"/>
          <p:nvPr/>
        </p:nvSpPr>
        <p:spPr>
          <a:xfrm>
            <a:off x="5888736" y="1517904"/>
            <a:ext cx="404164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b="1" dirty="0">
                <a:solidFill>
                  <a:srgbClr val="A78BFA"/>
                </a:solidFill>
                <a:latin typeface="JetBrains Mono"/>
                <a:ea typeface="JetBrains Mono"/>
                <a:cs typeface="JetBrains Mono"/>
              </a:rPr>
              <a:t xml:space="preserve">main queue</a:t>
            </a:r>
            <a:endParaRPr lang="ru-RU" sz="1200" dirty="0"/>
          </a:p>
        </p:txBody>
      </p:sp>
      <p:sp>
        <p:nvSpPr>
          <p:cNvPr id="11" name="Text 11"/>
          <p:cNvSpPr txBox="1"/>
          <p:nvPr/>
        </p:nvSpPr>
        <p:spPr>
          <a:xfrm>
            <a:off x="5888736" y="1828800"/>
            <a:ext cx="4041648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callback на следующем кадре</a:t>
            </a:r>
            <a:endParaRPr lang="ru-RU" sz="1200" dirty="0"/>
          </a:p>
        </p:txBody>
      </p:sp>
      <p:sp>
        <p:nvSpPr>
          <p:cNvPr id="12" name="Shape 12"/>
          <p:cNvSpPr/>
          <p:nvPr/>
        </p:nvSpPr>
        <p:spPr>
          <a:xfrm>
            <a:off x="822960" y="3108960"/>
            <a:ext cx="4297680" cy="1143000"/>
          </a:xfrm>
          <a:prstGeom prst="roundRect">
            <a:avLst/>
          </a:prstGeom>
          <a:solidFill>
            <a:srgbClr val="FEF3C7"/>
          </a:solidFill>
          <a:ln w="16000">
            <a:solidFill>
              <a:srgbClr val="FBBF24"/>
            </a:solidFill>
          </a:ln>
        </p:spPr>
        <p:txBody>
          <a:bodyPr/>
          <a:lstStyle/>
          <a:p/>
        </p:txBody>
      </p:sp>
      <p:sp>
        <p:nvSpPr>
          <p:cNvPr id="13" name="Text 13"/>
          <p:cNvSpPr txBox="1"/>
          <p:nvPr/>
        </p:nvSpPr>
        <p:spPr>
          <a:xfrm>
            <a:off x="950976" y="3209544"/>
            <a:ext cx="404164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b="1" dirty="0">
                <a:solidFill>
                  <a:srgbClr val="FBBF24"/>
                </a:solidFill>
                <a:latin typeface="JetBrains Mono"/>
                <a:ea typeface="JetBrains Mono"/>
                <a:cs typeface="JetBrains Mono"/>
              </a:rPr>
              <a:t xml:space="preserve">shared object</a:t>
            </a:r>
            <a:endParaRPr lang="ru-RU" sz="1200" dirty="0"/>
          </a:p>
        </p:txBody>
      </p:sp>
      <p:sp>
        <p:nvSpPr>
          <p:cNvPr id="14" name="Text 14"/>
          <p:cNvSpPr txBox="1"/>
          <p:nvPr/>
        </p:nvSpPr>
        <p:spPr>
          <a:xfrm>
            <a:off x="950976" y="3520440"/>
            <a:ext cx="4041648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данные под mutex</a:t>
            </a:r>
            <a:endParaRPr lang="ru-RU" sz="1200" dirty="0"/>
          </a:p>
        </p:txBody>
      </p:sp>
      <p:sp>
        <p:nvSpPr>
          <p:cNvPr id="15" name="Shape 15"/>
          <p:cNvSpPr/>
          <p:nvPr/>
        </p:nvSpPr>
        <p:spPr>
          <a:xfrm>
            <a:off x="5760720" y="3108960"/>
            <a:ext cx="4297680" cy="1143000"/>
          </a:xfrm>
          <a:prstGeom prst="roundRect">
            <a:avLst/>
          </a:prstGeom>
          <a:solidFill>
            <a:srgbClr val="DCFCE7"/>
          </a:solidFill>
          <a:ln w="16000">
            <a:solidFill>
              <a:srgbClr val="34D399"/>
            </a:solidFill>
          </a:ln>
        </p:spPr>
        <p:txBody>
          <a:bodyPr/>
          <a:lstStyle/>
          <a:p/>
        </p:txBody>
      </p:sp>
      <p:sp>
        <p:nvSpPr>
          <p:cNvPr id="16" name="Text 16"/>
          <p:cNvSpPr txBox="1"/>
          <p:nvPr/>
        </p:nvSpPr>
        <p:spPr>
          <a:xfrm>
            <a:off x="5888736" y="3209544"/>
            <a:ext cx="404164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b="1" dirty="0">
                <a:solidFill>
                  <a:srgbClr val="34D399"/>
                </a:solidFill>
                <a:latin typeface="JetBrains Mono"/>
                <a:ea typeface="JetBrains Mono"/>
                <a:cs typeface="JetBrains Mono"/>
              </a:rPr>
              <a:t xml:space="preserve">typed result</a:t>
            </a:r>
            <a:endParaRPr lang="ru-RU" sz="1200" dirty="0"/>
          </a:p>
        </p:txBody>
      </p:sp>
      <p:sp>
        <p:nvSpPr>
          <p:cNvPr id="17" name="Text 17"/>
          <p:cNvSpPr txBox="1"/>
          <p:nvPr/>
        </p:nvSpPr>
        <p:spPr>
          <a:xfrm>
            <a:off x="5888736" y="3520440"/>
            <a:ext cx="4041648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success / error / cancelled</a:t>
            </a:r>
            <a:endParaRPr lang="ru-RU" sz="1200" dirty="0"/>
          </a:p>
        </p:txBody>
      </p:sp>
      <p:sp>
        <p:nvSpPr>
          <p:cNvPr id="18" name="Text 18"/>
          <p:cNvSpPr txBox="1"/>
          <p:nvPr/>
        </p:nvSpPr>
        <p:spPr>
          <a:xfrm>
            <a:off x="868680" y="4709160"/>
            <a:ext cx="941832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ctr"/>
            <a:r>
              <a:rPr lang="ru-RU" sz="1400" dirty="0">
                <a:solidFill>
                  <a:srgbClr val="475569"/>
                </a:solidFill>
                <a:latin typeface="JetBrains Mono"/>
                <a:ea typeface="JetBrains Mono"/>
                <a:cs typeface="JetBrains Mono"/>
              </a:rPr>
              <a:t xml:space="preserve">Главное правило: main не должен блокироваться, пока ждет результат.</a:t>
            </a:r>
            <a:endParaRPr lang="ru-RU" sz="1400" dirty="0"/>
          </a:p>
        </p:txBody>
      </p:sp>
      <p:sp>
        <p:nvSpPr>
          <p:cNvPr id="19" name="Page 19"/>
          <p:cNvSpPr txBox="1"/>
          <p:nvPr/>
        </p:nvSpPr>
        <p:spPr>
          <a:xfrm>
            <a:off x="10287000" y="6510528"/>
            <a:ext cx="6400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r"/>
            <a:r>
              <a:rPr lang="ru-RU" sz="900" dirty="0">
                <a:solidFill>
                  <a:srgbClr val="64748B"/>
                </a:solidFill>
                <a:latin typeface="JetBrains Mono"/>
                <a:ea typeface="JetBrains Mono"/>
                <a:cs typeface="JetBrains Mono"/>
              </a:rPr>
              <a:t xml:space="preserve">30</a:t>
            </a:r>
            <a:endParaRPr lang="ru-RU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 4"/>
          <p:cNvSpPr txBox="1"/>
          <p:nvPr/>
        </p:nvSpPr>
        <p:spPr>
          <a:xfrm>
            <a:off x="502920" y="201168"/>
            <a:ext cx="1065276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2400" b="1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packaged_task + future</a:t>
            </a:r>
            <a:endParaRPr lang="ru-RU" sz="2400" dirty="0"/>
          </a:p>
        </p:txBody>
      </p:sp>
      <p:sp>
        <p:nvSpPr>
          <p:cNvPr id="5" name="Subtitle 5"/>
          <p:cNvSpPr txBox="1"/>
          <p:nvPr/>
        </p:nvSpPr>
        <p:spPr>
          <a:xfrm>
            <a:off x="530352" y="749808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100" dirty="0">
                <a:solidFill>
                  <a:srgbClr val="475569"/>
                </a:solidFill>
                <a:latin typeface="JetBrains Mono"/>
                <a:ea typeface="JetBrains Mono"/>
                <a:cs typeface="JetBrains Mono"/>
              </a:rPr>
              <a:t xml:space="preserve">Стандартная библиотека умеет переносить значение и исключение</a:t>
            </a:r>
            <a:endParaRPr lang="ru-RU" sz="1100" dirty="0"/>
          </a:p>
        </p:txBody>
      </p:sp>
      <p:sp>
        <p:nvSpPr>
          <p:cNvPr id="6" name="RichText 6"/>
          <p:cNvSpPr txBox="1"/>
          <p:nvPr/>
        </p:nvSpPr>
        <p:spPr>
          <a:xfrm>
            <a:off x="384048" y="1060704"/>
            <a:ext cx="10387584" cy="5349240"/>
          </a:xfrm>
          <a:prstGeom prst="roundRect">
            <a:avLst/>
          </a:prstGeom>
          <a:solidFill>
            <a:srgbClr val="FFFFFF"/>
          </a:solidFill>
          <a:ln w="14000">
            <a:solidFill>
              <a:srgbClr val="94A3B8"/>
            </a:solidFill>
          </a:ln>
        </p:spPr>
        <p:txBody>
          <a:bodyPr wrap="none" lIns="85000" tIns="85000" rIns="85000" bIns="85000" anchor="mid"/>
          <a:lstStyle/>
          <a:p>
            <a:pPr algn="l"/>
            <a:r>
              <a:rPr lang="ru-RU" sz="1600" dirty="0">
                <a:solidFill>
                  <a:srgbClr val="7C3AED"/>
                </a:solidFill>
                <a:latin typeface="JetBrains Mono"/>
                <a:ea typeface="JetBrains Mono"/>
                <a:cs typeface="JetBrains Mono"/>
              </a:rPr>
              <a:t xml:space="preserve">std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: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:</a:t>
            </a:r>
            <a:r>
              <a:rPr lang="ru-RU" sz="1600" dirty="0">
                <a:solidFill>
                  <a:srgbClr val="7C3AED"/>
                </a:solidFill>
                <a:latin typeface="JetBrains Mono"/>
                <a:ea typeface="JetBrains Mono"/>
                <a:cs typeface="JetBrains Mono"/>
              </a:rPr>
              <a:t xml:space="preserve">packaged_task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&lt;</a:t>
            </a:r>
            <a:r>
              <a:rPr lang="ru-RU" sz="16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om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: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:</a:t>
            </a:r>
            <a:r>
              <a:rPr lang="ru-RU" sz="1600" dirty="0">
                <a:solidFill>
                  <a:srgbClr val="7C3AED"/>
                </a:solidFill>
                <a:latin typeface="JetBrains Mono"/>
                <a:ea typeface="JetBrains Mono"/>
                <a:cs typeface="JetBrains Mono"/>
              </a:rPr>
              <a:t xml:space="preserve">data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(</a:t>
            </a:r>
            <a:r>
              <a:rPr lang="ru-RU" sz="1600" dirty="0">
                <a:solidFill>
                  <a:srgbClr val="7C3AED"/>
                </a:solidFill>
                <a:latin typeface="JetBrains Mono"/>
                <a:ea typeface="JetBrains Mono"/>
                <a:cs typeface="JetBrains Mono"/>
              </a:rPr>
              <a:t xml:space="preserve">std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: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:</a:t>
            </a:r>
            <a:r>
              <a:rPr lang="ru-RU" sz="1600" dirty="0">
                <a:solidFill>
                  <a:srgbClr val="7C3AED"/>
                </a:solidFill>
                <a:latin typeface="JetBrains Mono"/>
                <a:ea typeface="JetBrains Mono"/>
                <a:cs typeface="JetBrains Mono"/>
              </a:rPr>
              <a:t xml:space="preserve">stop_token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)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&gt;</a:t>
            </a:r>
            <a:r>
              <a:rPr lang="ru-RU" sz="16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</a:t>
            </a:r>
            <a:r>
              <a:rPr lang="ru-RU" sz="1600" dirty="0">
                <a:solidFill>
                  <a:srgbClr val="0F766E"/>
                </a:solidFill>
                <a:latin typeface="JetBrains Mono"/>
                <a:ea typeface="JetBrains Mono"/>
                <a:cs typeface="JetBrains Mono"/>
              </a:rPr>
              <a:t xml:space="preserve">task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(</a:t>
            </a:r>
            <a:endParaRPr lang="ru-RU" sz="1600" dirty="0"/>
          </a:p>
          <a:p>
            <a:pPr algn="l"/>
            <a:r>
              <a:rPr lang="ru-RU" sz="16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   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[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]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(</a:t>
            </a:r>
            <a:r>
              <a:rPr lang="ru-RU" sz="1600" dirty="0">
                <a:solidFill>
                  <a:srgbClr val="7C3AED"/>
                </a:solidFill>
                <a:latin typeface="JetBrains Mono"/>
                <a:ea typeface="JetBrains Mono"/>
                <a:cs typeface="JetBrains Mono"/>
              </a:rPr>
              <a:t xml:space="preserve">std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: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:</a:t>
            </a:r>
            <a:r>
              <a:rPr lang="ru-RU" sz="1600" dirty="0">
                <a:solidFill>
                  <a:srgbClr val="7C3AED"/>
                </a:solidFill>
                <a:latin typeface="JetBrains Mono"/>
                <a:ea typeface="JetBrains Mono"/>
                <a:cs typeface="JetBrains Mono"/>
              </a:rPr>
              <a:t xml:space="preserve">stop_token</a:t>
            </a:r>
            <a:r>
              <a:rPr lang="ru-RU" sz="16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</a:t>
            </a:r>
            <a:r>
              <a:rPr lang="ru-RU" sz="16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stoken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)</a:t>
            </a:r>
            <a:r>
              <a:rPr lang="ru-RU" sz="16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-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&gt;</a:t>
            </a:r>
            <a:r>
              <a:rPr lang="ru-RU" sz="16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</a:t>
            </a:r>
            <a:r>
              <a:rPr lang="ru-RU" sz="16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om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: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:</a:t>
            </a:r>
            <a:r>
              <a:rPr lang="ru-RU" sz="1600" dirty="0">
                <a:solidFill>
                  <a:srgbClr val="7C3AED"/>
                </a:solidFill>
                <a:latin typeface="JetBrains Mono"/>
                <a:ea typeface="JetBrains Mono"/>
                <a:cs typeface="JetBrains Mono"/>
              </a:rPr>
              <a:t xml:space="preserve">data</a:t>
            </a:r>
            <a:r>
              <a:rPr lang="ru-RU" sz="16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{</a:t>
            </a:r>
            <a:endParaRPr lang="ru-RU" sz="1600" dirty="0"/>
          </a:p>
          <a:p>
            <a:pPr algn="l"/>
            <a:r>
              <a:rPr lang="ru-RU" sz="16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       </a:t>
            </a:r>
            <a:r>
              <a:rPr lang="ru-RU" sz="1600" b="1" dirty="0">
                <a:solidFill>
                  <a:srgbClr val="2563EB"/>
                </a:solidFill>
                <a:latin typeface="JetBrains Mono"/>
                <a:ea typeface="JetBrains Mono"/>
                <a:cs typeface="JetBrains Mono"/>
              </a:rPr>
              <a:t xml:space="preserve">if</a:t>
            </a:r>
            <a:r>
              <a:rPr lang="ru-RU" sz="16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(</a:t>
            </a:r>
            <a:r>
              <a:rPr lang="ru-RU" sz="16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stoken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.</a:t>
            </a:r>
            <a:r>
              <a:rPr lang="ru-RU" sz="1600" dirty="0">
                <a:solidFill>
                  <a:srgbClr val="0F766E"/>
                </a:solidFill>
                <a:latin typeface="JetBrains Mono"/>
                <a:ea typeface="JetBrains Mono"/>
                <a:cs typeface="JetBrains Mono"/>
              </a:rPr>
              <a:t xml:space="preserve">stop_requested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(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)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)</a:t>
            </a:r>
            <a:r>
              <a:rPr lang="ru-RU" sz="16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{</a:t>
            </a:r>
            <a:endParaRPr lang="ru-RU" sz="1600" dirty="0"/>
          </a:p>
          <a:p>
            <a:pPr algn="l"/>
            <a:r>
              <a:rPr lang="ru-RU" sz="16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           </a:t>
            </a:r>
            <a:r>
              <a:rPr lang="ru-RU" sz="1600" b="1" dirty="0">
                <a:solidFill>
                  <a:srgbClr val="2563EB"/>
                </a:solidFill>
                <a:latin typeface="JetBrains Mono"/>
                <a:ea typeface="JetBrains Mono"/>
                <a:cs typeface="JetBrains Mono"/>
              </a:rPr>
              <a:t xml:space="preserve">return</a:t>
            </a:r>
            <a:r>
              <a:rPr lang="ru-RU" sz="16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{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}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;</a:t>
            </a:r>
            <a:endParaRPr lang="ru-RU" sz="1600" dirty="0"/>
          </a:p>
          <a:p>
            <a:pPr algn="l"/>
            <a:r>
              <a:rPr lang="ru-RU" sz="16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       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}</a:t>
            </a:r>
            <a:endParaRPr lang="ru-RU" sz="1600" dirty="0"/>
          </a:p>
          <a:p>
            <a:pPr algn="l"/>
            <a:r>
              <a:rPr lang="ru-RU" sz="16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</a:t>
            </a:r>
            <a:endParaRPr lang="ru-RU" sz="1600" dirty="0"/>
          </a:p>
          <a:p>
            <a:pPr algn="l"/>
            <a:r>
              <a:rPr lang="ru-RU" sz="16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       </a:t>
            </a:r>
            <a:r>
              <a:rPr lang="ru-RU" sz="1600" b="1" dirty="0">
                <a:solidFill>
                  <a:srgbClr val="2563EB"/>
                </a:solidFill>
                <a:latin typeface="JetBrains Mono"/>
                <a:ea typeface="JetBrains Mono"/>
                <a:cs typeface="JetBrains Mono"/>
              </a:rPr>
              <a:t xml:space="preserve">if</a:t>
            </a:r>
            <a:r>
              <a:rPr lang="ru-RU" sz="16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(</a:t>
            </a:r>
            <a:r>
              <a:rPr lang="ru-RU" sz="1600" dirty="0">
                <a:solidFill>
                  <a:srgbClr val="0F766E"/>
                </a:solidFill>
                <a:latin typeface="JetBrains Mono"/>
                <a:ea typeface="JetBrains Mono"/>
                <a:cs typeface="JetBrains Mono"/>
              </a:rPr>
              <a:t xml:space="preserve">something_bad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(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)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)</a:t>
            </a:r>
            <a:r>
              <a:rPr lang="ru-RU" sz="16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{</a:t>
            </a:r>
            <a:endParaRPr lang="ru-RU" sz="1600" dirty="0"/>
          </a:p>
          <a:p>
            <a:pPr algn="l"/>
            <a:r>
              <a:rPr lang="ru-RU" sz="16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           </a:t>
            </a:r>
            <a:r>
              <a:rPr lang="ru-RU" sz="1600" b="1" dirty="0">
                <a:solidFill>
                  <a:srgbClr val="2563EB"/>
                </a:solidFill>
                <a:latin typeface="JetBrains Mono"/>
                <a:ea typeface="JetBrains Mono"/>
                <a:cs typeface="JetBrains Mono"/>
              </a:rPr>
              <a:t xml:space="preserve">throw</a:t>
            </a:r>
            <a:r>
              <a:rPr lang="ru-RU" sz="16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</a:t>
            </a:r>
            <a:r>
              <a:rPr lang="ru-RU" sz="1600" dirty="0">
                <a:solidFill>
                  <a:srgbClr val="7C3AED"/>
                </a:solidFill>
                <a:latin typeface="JetBrains Mono"/>
                <a:ea typeface="JetBrains Mono"/>
                <a:cs typeface="JetBrains Mono"/>
              </a:rPr>
              <a:t xml:space="preserve">std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: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:</a:t>
            </a:r>
            <a:r>
              <a:rPr lang="ru-RU" sz="1600" dirty="0">
                <a:solidFill>
                  <a:srgbClr val="7C3AED"/>
                </a:solidFill>
                <a:latin typeface="JetBrains Mono"/>
                <a:ea typeface="JetBrains Mono"/>
                <a:cs typeface="JetBrains Mono"/>
              </a:rPr>
              <a:t xml:space="preserve">runtime_error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(</a:t>
            </a:r>
            <a:r>
              <a:rPr lang="ru-RU" sz="1600" dirty="0">
                <a:solidFill>
                  <a:srgbClr val="15803D"/>
                </a:solidFill>
                <a:latin typeface="JetBrains Mono"/>
                <a:ea typeface="JetBrains Mono"/>
                <a:cs typeface="JetBrains Mono"/>
              </a:rPr>
              <a:t xml:space="preserve">"load failed"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)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;</a:t>
            </a:r>
            <a:endParaRPr lang="ru-RU" sz="1600" dirty="0"/>
          </a:p>
          <a:p>
            <a:pPr algn="l"/>
            <a:r>
              <a:rPr lang="ru-RU" sz="16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       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}</a:t>
            </a:r>
            <a:endParaRPr lang="ru-RU" sz="1600" dirty="0"/>
          </a:p>
          <a:p>
            <a:pPr algn="l"/>
            <a:r>
              <a:rPr lang="ru-RU" sz="16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</a:t>
            </a:r>
            <a:endParaRPr lang="ru-RU" sz="1600" dirty="0"/>
          </a:p>
          <a:p>
            <a:pPr algn="l"/>
            <a:r>
              <a:rPr lang="ru-RU" sz="16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       </a:t>
            </a:r>
            <a:r>
              <a:rPr lang="ru-RU" sz="1600" b="1" dirty="0">
                <a:solidFill>
                  <a:srgbClr val="2563EB"/>
                </a:solidFill>
                <a:latin typeface="JetBrains Mono"/>
                <a:ea typeface="JetBrains Mono"/>
                <a:cs typeface="JetBrains Mono"/>
              </a:rPr>
              <a:t xml:space="preserve">return</a:t>
            </a:r>
            <a:r>
              <a:rPr lang="ru-RU" sz="16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</a:t>
            </a:r>
            <a:r>
              <a:rPr lang="ru-RU" sz="1600" dirty="0">
                <a:solidFill>
                  <a:srgbClr val="0F766E"/>
                </a:solidFill>
                <a:latin typeface="JetBrains Mono"/>
                <a:ea typeface="JetBrains Mono"/>
                <a:cs typeface="JetBrains Mono"/>
              </a:rPr>
              <a:t xml:space="preserve">make_loaded_data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(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)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;</a:t>
            </a:r>
            <a:endParaRPr lang="ru-RU" sz="1600" dirty="0"/>
          </a:p>
          <a:p>
            <a:pPr algn="l"/>
            <a:r>
              <a:rPr lang="ru-RU" sz="16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   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}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)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;</a:t>
            </a:r>
            <a:endParaRPr lang="ru-RU" sz="1600" dirty="0"/>
          </a:p>
          <a:p>
            <a:pPr algn="l"/>
            <a:r>
              <a:rPr lang="ru-RU" sz="16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</a:t>
            </a:r>
            <a:endParaRPr lang="ru-RU" sz="1600" dirty="0"/>
          </a:p>
          <a:p>
            <a:pPr algn="l"/>
            <a:r>
              <a:rPr lang="ru-RU" sz="1600" dirty="0">
                <a:solidFill>
                  <a:srgbClr val="7C3AED"/>
                </a:solidFill>
                <a:latin typeface="JetBrains Mono"/>
                <a:ea typeface="JetBrains Mono"/>
                <a:cs typeface="JetBrains Mono"/>
              </a:rPr>
              <a:t xml:space="preserve">std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: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:</a:t>
            </a:r>
            <a:r>
              <a:rPr lang="ru-RU" sz="1600" dirty="0">
                <a:solidFill>
                  <a:srgbClr val="7C3AED"/>
                </a:solidFill>
                <a:latin typeface="JetBrains Mono"/>
                <a:ea typeface="JetBrains Mono"/>
                <a:cs typeface="JetBrains Mono"/>
              </a:rPr>
              <a:t xml:space="preserve">future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&lt;</a:t>
            </a:r>
            <a:r>
              <a:rPr lang="ru-RU" sz="16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om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: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:</a:t>
            </a:r>
            <a:r>
              <a:rPr lang="ru-RU" sz="1600" dirty="0">
                <a:solidFill>
                  <a:srgbClr val="7C3AED"/>
                </a:solidFill>
                <a:latin typeface="JetBrains Mono"/>
                <a:ea typeface="JetBrains Mono"/>
                <a:cs typeface="JetBrains Mono"/>
              </a:rPr>
              <a:t xml:space="preserve">data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&gt;</a:t>
            </a:r>
            <a:r>
              <a:rPr lang="ru-RU" sz="16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</a:t>
            </a:r>
            <a:r>
              <a:rPr lang="ru-RU" sz="1600" dirty="0">
                <a:solidFill>
                  <a:srgbClr val="7C3AED"/>
                </a:solidFill>
                <a:latin typeface="JetBrains Mono"/>
                <a:ea typeface="JetBrains Mono"/>
                <a:cs typeface="JetBrains Mono"/>
              </a:rPr>
              <a:t xml:space="preserve">future</a:t>
            </a:r>
            <a:r>
              <a:rPr lang="ru-RU" sz="16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=</a:t>
            </a:r>
            <a:r>
              <a:rPr lang="ru-RU" sz="16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</a:t>
            </a:r>
            <a:r>
              <a:rPr lang="ru-RU" sz="16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task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.</a:t>
            </a:r>
            <a:r>
              <a:rPr lang="ru-RU" sz="1600" dirty="0">
                <a:solidFill>
                  <a:srgbClr val="0F766E"/>
                </a:solidFill>
                <a:latin typeface="JetBrains Mono"/>
                <a:ea typeface="JetBrains Mono"/>
                <a:cs typeface="JetBrains Mono"/>
              </a:rPr>
              <a:t xml:space="preserve">get_future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(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)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;</a:t>
            </a:r>
            <a:endParaRPr lang="ru-RU" sz="1600" dirty="0"/>
          </a:p>
          <a:p>
            <a:pPr algn="l"/>
            <a:r>
              <a:rPr lang="ru-RU" sz="1600" dirty="0">
                <a:solidFill>
                  <a:srgbClr val="7C3AED"/>
                </a:solidFill>
                <a:latin typeface="JetBrains Mono"/>
                <a:ea typeface="JetBrains Mono"/>
                <a:cs typeface="JetBrains Mono"/>
              </a:rPr>
              <a:t xml:space="preserve">std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: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:</a:t>
            </a:r>
            <a:r>
              <a:rPr lang="ru-RU" sz="1600" dirty="0">
                <a:solidFill>
                  <a:srgbClr val="7C3AED"/>
                </a:solidFill>
                <a:latin typeface="JetBrains Mono"/>
                <a:ea typeface="JetBrains Mono"/>
                <a:cs typeface="JetBrains Mono"/>
              </a:rPr>
              <a:t xml:space="preserve">jthread</a:t>
            </a:r>
            <a:r>
              <a:rPr lang="ru-RU" sz="16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</a:t>
            </a:r>
            <a:r>
              <a:rPr lang="ru-RU" sz="1600" dirty="0">
                <a:solidFill>
                  <a:srgbClr val="0F766E"/>
                </a:solidFill>
                <a:latin typeface="JetBrains Mono"/>
                <a:ea typeface="JetBrains Mono"/>
                <a:cs typeface="JetBrains Mono"/>
              </a:rPr>
              <a:t xml:space="preserve">worker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(</a:t>
            </a:r>
            <a:r>
              <a:rPr lang="ru-RU" sz="1600" dirty="0">
                <a:solidFill>
                  <a:srgbClr val="7C3AED"/>
                </a:solidFill>
                <a:latin typeface="JetBrains Mono"/>
                <a:ea typeface="JetBrains Mono"/>
                <a:cs typeface="JetBrains Mono"/>
              </a:rPr>
              <a:t xml:space="preserve">std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: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:</a:t>
            </a:r>
            <a:r>
              <a:rPr lang="ru-RU" sz="1600" dirty="0">
                <a:solidFill>
                  <a:srgbClr val="0F766E"/>
                </a:solidFill>
                <a:latin typeface="JetBrains Mono"/>
                <a:ea typeface="JetBrains Mono"/>
                <a:cs typeface="JetBrains Mono"/>
              </a:rPr>
              <a:t xml:space="preserve">move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(</a:t>
            </a:r>
            <a:r>
              <a:rPr lang="ru-RU" sz="16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task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)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)</a:t>
            </a:r>
            <a:r>
              <a:rPr lang="ru-RU" sz="16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;</a:t>
            </a:r>
            <a:endParaRPr lang="ru-RU" sz="1600" dirty="0"/>
          </a:p>
        </p:txBody>
      </p:sp>
      <p:sp>
        <p:nvSpPr>
          <p:cNvPr id="7" name="Page 7"/>
          <p:cNvSpPr txBox="1"/>
          <p:nvPr/>
        </p:nvSpPr>
        <p:spPr>
          <a:xfrm>
            <a:off x="10287000" y="6510528"/>
            <a:ext cx="6400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r"/>
            <a:r>
              <a:rPr lang="ru-RU" sz="900" dirty="0">
                <a:solidFill>
                  <a:srgbClr val="64748B"/>
                </a:solidFill>
                <a:latin typeface="JetBrains Mono"/>
                <a:ea typeface="JetBrains Mono"/>
                <a:cs typeface="JetBrains Mono"/>
              </a:rPr>
              <a:t xml:space="preserve">31</a:t>
            </a:r>
            <a:endParaRPr lang="ru-RU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 4"/>
          <p:cNvSpPr txBox="1"/>
          <p:nvPr/>
        </p:nvSpPr>
        <p:spPr>
          <a:xfrm>
            <a:off x="502920" y="201168"/>
            <a:ext cx="1065276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2400" b="1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future: не блокируем main</a:t>
            </a:r>
            <a:endParaRPr lang="ru-RU" sz="2400" dirty="0"/>
          </a:p>
        </p:txBody>
      </p:sp>
      <p:sp>
        <p:nvSpPr>
          <p:cNvPr id="5" name="Subtitle 5"/>
          <p:cNvSpPr txBox="1"/>
          <p:nvPr/>
        </p:nvSpPr>
        <p:spPr>
          <a:xfrm>
            <a:off x="530352" y="749808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100" dirty="0">
                <a:solidFill>
                  <a:srgbClr val="475569"/>
                </a:solidFill>
                <a:latin typeface="JetBrains Mono"/>
                <a:ea typeface="JetBrains Mono"/>
                <a:cs typeface="JetBrains Mono"/>
              </a:rPr>
              <a:t xml:space="preserve">Состояние можно проверить без ожидания</a:t>
            </a:r>
            <a:endParaRPr lang="ru-RU" sz="1100" dirty="0"/>
          </a:p>
        </p:txBody>
      </p:sp>
      <p:sp>
        <p:nvSpPr>
          <p:cNvPr id="6" name="RichText 6"/>
          <p:cNvSpPr txBox="1"/>
          <p:nvPr/>
        </p:nvSpPr>
        <p:spPr>
          <a:xfrm>
            <a:off x="384048" y="1060704"/>
            <a:ext cx="10387584" cy="5349240"/>
          </a:xfrm>
          <a:prstGeom prst="roundRect">
            <a:avLst/>
          </a:prstGeom>
          <a:solidFill>
            <a:srgbClr val="FFFFFF"/>
          </a:solidFill>
          <a:ln w="14000">
            <a:solidFill>
              <a:srgbClr val="94A3B8"/>
            </a:solidFill>
          </a:ln>
        </p:spPr>
        <p:txBody>
          <a:bodyPr wrap="none" lIns="85000" tIns="85000" rIns="85000" bIns="85000" anchor="mid"/>
          <a:lstStyle/>
          <a:p>
            <a:pPr algn="l"/>
            <a:r>
              <a:rPr lang="ru-RU" sz="1800" b="1" dirty="0">
                <a:solidFill>
                  <a:srgbClr val="2563EB"/>
                </a:solidFill>
                <a:latin typeface="JetBrains Mono"/>
                <a:ea typeface="JetBrains Mono"/>
                <a:cs typeface="JetBrains Mono"/>
              </a:rPr>
              <a:t xml:space="preserve">using</a:t>
            </a:r>
            <a:r>
              <a:rPr lang="ru-RU" sz="18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</a:t>
            </a:r>
            <a:r>
              <a:rPr lang="ru-RU" sz="1800" b="1" dirty="0">
                <a:solidFill>
                  <a:srgbClr val="2563EB"/>
                </a:solidFill>
                <a:latin typeface="JetBrains Mono"/>
                <a:ea typeface="JetBrains Mono"/>
                <a:cs typeface="JetBrains Mono"/>
              </a:rPr>
              <a:t xml:space="preserve">namespace</a:t>
            </a:r>
            <a:r>
              <a:rPr lang="ru-RU" sz="18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</a:t>
            </a:r>
            <a:r>
              <a:rPr lang="ru-RU" sz="1800" dirty="0">
                <a:solidFill>
                  <a:srgbClr val="7C3AED"/>
                </a:solidFill>
                <a:latin typeface="JetBrains Mono"/>
                <a:ea typeface="JetBrains Mono"/>
                <a:cs typeface="JetBrains Mono"/>
              </a:rPr>
              <a:t xml:space="preserve">std</a:t>
            </a:r>
            <a:r>
              <a:rPr lang="ru-RU" sz="18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:</a:t>
            </a:r>
            <a:r>
              <a:rPr lang="ru-RU" sz="18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:</a:t>
            </a:r>
            <a:r>
              <a:rPr lang="ru-RU" sz="1800" dirty="0">
                <a:solidFill>
                  <a:srgbClr val="7C3AED"/>
                </a:solidFill>
                <a:latin typeface="JetBrains Mono"/>
                <a:ea typeface="JetBrains Mono"/>
                <a:cs typeface="JetBrains Mono"/>
              </a:rPr>
              <a:t xml:space="preserve">chrono_literals</a:t>
            </a:r>
            <a:r>
              <a:rPr lang="ru-RU" sz="18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;</a:t>
            </a:r>
            <a:endParaRPr lang="ru-RU" sz="1800" dirty="0"/>
          </a:p>
          <a:p>
            <a:pPr algn="l"/>
            <a:r>
              <a:rPr lang="ru-RU" sz="18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</a:t>
            </a:r>
            <a:endParaRPr lang="ru-RU" sz="1800" dirty="0"/>
          </a:p>
          <a:p>
            <a:pPr algn="l"/>
            <a:r>
              <a:rPr lang="ru-RU" sz="1800" b="1" dirty="0">
                <a:solidFill>
                  <a:srgbClr val="2563EB"/>
                </a:solidFill>
                <a:latin typeface="JetBrains Mono"/>
                <a:ea typeface="JetBrains Mono"/>
                <a:cs typeface="JetBrains Mono"/>
              </a:rPr>
              <a:t xml:space="preserve">auto</a:t>
            </a:r>
            <a:r>
              <a:rPr lang="ru-RU" sz="18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</a:t>
            </a:r>
            <a:r>
              <a:rPr lang="ru-RU" sz="18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status</a:t>
            </a:r>
            <a:r>
              <a:rPr lang="ru-RU" sz="18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</a:t>
            </a:r>
            <a:r>
              <a:rPr lang="ru-RU" sz="18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=</a:t>
            </a:r>
            <a:r>
              <a:rPr lang="ru-RU" sz="18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</a:t>
            </a:r>
            <a:r>
              <a:rPr lang="ru-RU" sz="1800" dirty="0">
                <a:solidFill>
                  <a:srgbClr val="7C3AED"/>
                </a:solidFill>
                <a:latin typeface="JetBrains Mono"/>
                <a:ea typeface="JetBrains Mono"/>
                <a:cs typeface="JetBrains Mono"/>
              </a:rPr>
              <a:t xml:space="preserve">future</a:t>
            </a:r>
            <a:r>
              <a:rPr lang="ru-RU" sz="18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.</a:t>
            </a:r>
            <a:r>
              <a:rPr lang="ru-RU" sz="1800" dirty="0">
                <a:solidFill>
                  <a:srgbClr val="0F766E"/>
                </a:solidFill>
                <a:latin typeface="JetBrains Mono"/>
                <a:ea typeface="JetBrains Mono"/>
                <a:cs typeface="JetBrains Mono"/>
              </a:rPr>
              <a:t xml:space="preserve">wait_for</a:t>
            </a:r>
            <a:r>
              <a:rPr lang="ru-RU" sz="18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(</a:t>
            </a:r>
            <a:r>
              <a:rPr lang="ru-RU" sz="1800" dirty="0">
                <a:solidFill>
                  <a:srgbClr val="B45309"/>
                </a:solidFill>
                <a:latin typeface="JetBrains Mono"/>
                <a:ea typeface="JetBrains Mono"/>
                <a:cs typeface="JetBrains Mono"/>
              </a:rPr>
              <a:t xml:space="preserve">0s</a:t>
            </a:r>
            <a:r>
              <a:rPr lang="ru-RU" sz="18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)</a:t>
            </a:r>
            <a:r>
              <a:rPr lang="ru-RU" sz="18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;</a:t>
            </a:r>
            <a:endParaRPr lang="ru-RU" sz="1800" dirty="0"/>
          </a:p>
          <a:p>
            <a:pPr algn="l"/>
            <a:r>
              <a:rPr lang="ru-RU" sz="1800" b="1" dirty="0">
                <a:solidFill>
                  <a:srgbClr val="2563EB"/>
                </a:solidFill>
                <a:latin typeface="JetBrains Mono"/>
                <a:ea typeface="JetBrains Mono"/>
                <a:cs typeface="JetBrains Mono"/>
              </a:rPr>
              <a:t xml:space="preserve">if</a:t>
            </a:r>
            <a:r>
              <a:rPr lang="ru-RU" sz="18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</a:t>
            </a:r>
            <a:r>
              <a:rPr lang="ru-RU" sz="18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(</a:t>
            </a:r>
            <a:r>
              <a:rPr lang="ru-RU" sz="18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status</a:t>
            </a:r>
            <a:r>
              <a:rPr lang="ru-RU" sz="18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</a:t>
            </a:r>
            <a:r>
              <a:rPr lang="ru-RU" sz="18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=</a:t>
            </a:r>
            <a:r>
              <a:rPr lang="ru-RU" sz="18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=</a:t>
            </a:r>
            <a:r>
              <a:rPr lang="ru-RU" sz="18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</a:t>
            </a:r>
            <a:r>
              <a:rPr lang="ru-RU" sz="1800" dirty="0">
                <a:solidFill>
                  <a:srgbClr val="7C3AED"/>
                </a:solidFill>
                <a:latin typeface="JetBrains Mono"/>
                <a:ea typeface="JetBrains Mono"/>
                <a:cs typeface="JetBrains Mono"/>
              </a:rPr>
              <a:t xml:space="preserve">std</a:t>
            </a:r>
            <a:r>
              <a:rPr lang="ru-RU" sz="18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:</a:t>
            </a:r>
            <a:r>
              <a:rPr lang="ru-RU" sz="18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:</a:t>
            </a:r>
            <a:r>
              <a:rPr lang="ru-RU" sz="18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future_status</a:t>
            </a:r>
            <a:r>
              <a:rPr lang="ru-RU" sz="18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:</a:t>
            </a:r>
            <a:r>
              <a:rPr lang="ru-RU" sz="18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:</a:t>
            </a:r>
            <a:r>
              <a:rPr lang="ru-RU" sz="18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ready</a:t>
            </a:r>
            <a:r>
              <a:rPr lang="ru-RU" sz="18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)</a:t>
            </a:r>
            <a:r>
              <a:rPr lang="ru-RU" sz="18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</a:t>
            </a:r>
            <a:r>
              <a:rPr lang="ru-RU" sz="18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{</a:t>
            </a:r>
            <a:endParaRPr lang="ru-RU" sz="1800" dirty="0"/>
          </a:p>
          <a:p>
            <a:pPr algn="l"/>
            <a:r>
              <a:rPr lang="ru-RU" sz="18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   </a:t>
            </a:r>
            <a:r>
              <a:rPr lang="ru-RU" sz="1800" b="1" dirty="0">
                <a:solidFill>
                  <a:srgbClr val="2563EB"/>
                </a:solidFill>
                <a:latin typeface="JetBrains Mono"/>
                <a:ea typeface="JetBrains Mono"/>
                <a:cs typeface="JetBrains Mono"/>
              </a:rPr>
              <a:t xml:space="preserve">try</a:t>
            </a:r>
            <a:r>
              <a:rPr lang="ru-RU" sz="18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</a:t>
            </a:r>
            <a:r>
              <a:rPr lang="ru-RU" sz="18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{</a:t>
            </a:r>
            <a:endParaRPr lang="ru-RU" sz="1800" dirty="0"/>
          </a:p>
          <a:p>
            <a:pPr algn="l"/>
            <a:r>
              <a:rPr lang="ru-RU" sz="18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       </a:t>
            </a:r>
            <a:r>
              <a:rPr lang="ru-RU" sz="18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om</a:t>
            </a:r>
            <a:r>
              <a:rPr lang="ru-RU" sz="18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:</a:t>
            </a:r>
            <a:r>
              <a:rPr lang="ru-RU" sz="18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:</a:t>
            </a:r>
            <a:r>
              <a:rPr lang="ru-RU" sz="1800" dirty="0">
                <a:solidFill>
                  <a:srgbClr val="7C3AED"/>
                </a:solidFill>
                <a:latin typeface="JetBrains Mono"/>
                <a:ea typeface="JetBrains Mono"/>
                <a:cs typeface="JetBrains Mono"/>
              </a:rPr>
              <a:t xml:space="preserve">data</a:t>
            </a:r>
            <a:r>
              <a:rPr lang="ru-RU" sz="18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</a:t>
            </a:r>
            <a:r>
              <a:rPr lang="ru-RU" sz="1800" dirty="0">
                <a:solidFill>
                  <a:srgbClr val="7C3AED"/>
                </a:solidFill>
                <a:latin typeface="JetBrains Mono"/>
                <a:ea typeface="JetBrains Mono"/>
                <a:cs typeface="JetBrains Mono"/>
              </a:rPr>
              <a:t xml:space="preserve">data</a:t>
            </a:r>
            <a:r>
              <a:rPr lang="ru-RU" sz="18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</a:t>
            </a:r>
            <a:r>
              <a:rPr lang="ru-RU" sz="18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=</a:t>
            </a:r>
            <a:r>
              <a:rPr lang="ru-RU" sz="18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</a:t>
            </a:r>
            <a:r>
              <a:rPr lang="ru-RU" sz="1800" dirty="0">
                <a:solidFill>
                  <a:srgbClr val="7C3AED"/>
                </a:solidFill>
                <a:latin typeface="JetBrains Mono"/>
                <a:ea typeface="JetBrains Mono"/>
                <a:cs typeface="JetBrains Mono"/>
              </a:rPr>
              <a:t xml:space="preserve">future</a:t>
            </a:r>
            <a:r>
              <a:rPr lang="ru-RU" sz="18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.</a:t>
            </a:r>
            <a:r>
              <a:rPr lang="ru-RU" sz="1800" dirty="0">
                <a:solidFill>
                  <a:srgbClr val="0F766E"/>
                </a:solidFill>
                <a:latin typeface="JetBrains Mono"/>
                <a:ea typeface="JetBrains Mono"/>
                <a:cs typeface="JetBrains Mono"/>
              </a:rPr>
              <a:t xml:space="preserve">get</a:t>
            </a:r>
            <a:r>
              <a:rPr lang="ru-RU" sz="18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(</a:t>
            </a:r>
            <a:r>
              <a:rPr lang="ru-RU" sz="18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)</a:t>
            </a:r>
            <a:r>
              <a:rPr lang="ru-RU" sz="18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;</a:t>
            </a:r>
            <a:endParaRPr lang="ru-RU" sz="1800" dirty="0"/>
          </a:p>
          <a:p>
            <a:pPr algn="l"/>
            <a:r>
              <a:rPr lang="ru-RU" sz="18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       </a:t>
            </a:r>
            <a:r>
              <a:rPr lang="ru-RU" sz="1800" dirty="0">
                <a:solidFill>
                  <a:srgbClr val="0F766E"/>
                </a:solidFill>
                <a:latin typeface="JetBrains Mono"/>
                <a:ea typeface="JetBrains Mono"/>
                <a:cs typeface="JetBrains Mono"/>
              </a:rPr>
              <a:t xml:space="preserve">apply_loaded_data</a:t>
            </a:r>
            <a:r>
              <a:rPr lang="ru-RU" sz="18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(</a:t>
            </a:r>
            <a:r>
              <a:rPr lang="ru-RU" sz="1800" dirty="0">
                <a:solidFill>
                  <a:srgbClr val="7C3AED"/>
                </a:solidFill>
                <a:latin typeface="JetBrains Mono"/>
                <a:ea typeface="JetBrains Mono"/>
                <a:cs typeface="JetBrains Mono"/>
              </a:rPr>
              <a:t xml:space="preserve">std</a:t>
            </a:r>
            <a:r>
              <a:rPr lang="ru-RU" sz="18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:</a:t>
            </a:r>
            <a:r>
              <a:rPr lang="ru-RU" sz="18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:</a:t>
            </a:r>
            <a:r>
              <a:rPr lang="ru-RU" sz="1800" dirty="0">
                <a:solidFill>
                  <a:srgbClr val="0F766E"/>
                </a:solidFill>
                <a:latin typeface="JetBrains Mono"/>
                <a:ea typeface="JetBrains Mono"/>
                <a:cs typeface="JetBrains Mono"/>
              </a:rPr>
              <a:t xml:space="preserve">move</a:t>
            </a:r>
            <a:r>
              <a:rPr lang="ru-RU" sz="18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(</a:t>
            </a:r>
            <a:r>
              <a:rPr lang="ru-RU" sz="1800" dirty="0">
                <a:solidFill>
                  <a:srgbClr val="7C3AED"/>
                </a:solidFill>
                <a:latin typeface="JetBrains Mono"/>
                <a:ea typeface="JetBrains Mono"/>
                <a:cs typeface="JetBrains Mono"/>
              </a:rPr>
              <a:t xml:space="preserve">data</a:t>
            </a:r>
            <a:r>
              <a:rPr lang="ru-RU" sz="18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)</a:t>
            </a:r>
            <a:r>
              <a:rPr lang="ru-RU" sz="18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)</a:t>
            </a:r>
            <a:r>
              <a:rPr lang="ru-RU" sz="18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;</a:t>
            </a:r>
            <a:endParaRPr lang="ru-RU" sz="1800" dirty="0"/>
          </a:p>
          <a:p>
            <a:pPr algn="l"/>
            <a:r>
              <a:rPr lang="ru-RU" sz="18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   </a:t>
            </a:r>
            <a:r>
              <a:rPr lang="ru-RU" sz="18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}</a:t>
            </a:r>
            <a:r>
              <a:rPr lang="ru-RU" sz="18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</a:t>
            </a:r>
            <a:r>
              <a:rPr lang="ru-RU" sz="1800" b="1" dirty="0">
                <a:solidFill>
                  <a:srgbClr val="2563EB"/>
                </a:solidFill>
                <a:latin typeface="JetBrains Mono"/>
                <a:ea typeface="JetBrains Mono"/>
                <a:cs typeface="JetBrains Mono"/>
              </a:rPr>
              <a:t xml:space="preserve">catch</a:t>
            </a:r>
            <a:r>
              <a:rPr lang="ru-RU" sz="18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</a:t>
            </a:r>
            <a:r>
              <a:rPr lang="ru-RU" sz="18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(</a:t>
            </a:r>
            <a:r>
              <a:rPr lang="ru-RU" sz="1800" b="1" dirty="0">
                <a:solidFill>
                  <a:srgbClr val="2563EB"/>
                </a:solidFill>
                <a:latin typeface="JetBrains Mono"/>
                <a:ea typeface="JetBrains Mono"/>
                <a:cs typeface="JetBrains Mono"/>
              </a:rPr>
              <a:t xml:space="preserve">const</a:t>
            </a:r>
            <a:r>
              <a:rPr lang="ru-RU" sz="18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</a:t>
            </a:r>
            <a:r>
              <a:rPr lang="ru-RU" sz="1800" dirty="0">
                <a:solidFill>
                  <a:srgbClr val="7C3AED"/>
                </a:solidFill>
                <a:latin typeface="JetBrains Mono"/>
                <a:ea typeface="JetBrains Mono"/>
                <a:cs typeface="JetBrains Mono"/>
              </a:rPr>
              <a:t xml:space="preserve">std</a:t>
            </a:r>
            <a:r>
              <a:rPr lang="ru-RU" sz="18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:</a:t>
            </a:r>
            <a:r>
              <a:rPr lang="ru-RU" sz="18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:</a:t>
            </a:r>
            <a:r>
              <a:rPr lang="ru-RU" sz="1800" dirty="0">
                <a:solidFill>
                  <a:srgbClr val="7C3AED"/>
                </a:solidFill>
                <a:latin typeface="JetBrains Mono"/>
                <a:ea typeface="JetBrains Mono"/>
                <a:cs typeface="JetBrains Mono"/>
              </a:rPr>
              <a:t xml:space="preserve">exception</a:t>
            </a:r>
            <a:r>
              <a:rPr lang="ru-RU" sz="18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&amp;</a:t>
            </a:r>
            <a:r>
              <a:rPr lang="ru-RU" sz="18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</a:t>
            </a:r>
            <a:r>
              <a:rPr lang="ru-RU" sz="18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e</a:t>
            </a:r>
            <a:r>
              <a:rPr lang="ru-RU" sz="18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)</a:t>
            </a:r>
            <a:r>
              <a:rPr lang="ru-RU" sz="18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</a:t>
            </a:r>
            <a:r>
              <a:rPr lang="ru-RU" sz="18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{</a:t>
            </a:r>
            <a:endParaRPr lang="ru-RU" sz="1800" dirty="0"/>
          </a:p>
          <a:p>
            <a:pPr algn="l"/>
            <a:r>
              <a:rPr lang="ru-RU" sz="18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       </a:t>
            </a:r>
            <a:r>
              <a:rPr lang="ru-RU" sz="1800" dirty="0">
                <a:solidFill>
                  <a:srgbClr val="0F766E"/>
                </a:solidFill>
                <a:latin typeface="JetBrains Mono"/>
                <a:ea typeface="JetBrains Mono"/>
                <a:cs typeface="JetBrains Mono"/>
              </a:rPr>
              <a:t xml:space="preserve">show_load_error</a:t>
            </a:r>
            <a:r>
              <a:rPr lang="ru-RU" sz="18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(</a:t>
            </a:r>
            <a:r>
              <a:rPr lang="ru-RU" sz="18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e</a:t>
            </a:r>
            <a:r>
              <a:rPr lang="ru-RU" sz="18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.</a:t>
            </a:r>
            <a:r>
              <a:rPr lang="ru-RU" sz="1800" dirty="0">
                <a:solidFill>
                  <a:srgbClr val="0F766E"/>
                </a:solidFill>
                <a:latin typeface="JetBrains Mono"/>
                <a:ea typeface="JetBrains Mono"/>
                <a:cs typeface="JetBrains Mono"/>
              </a:rPr>
              <a:t xml:space="preserve">what</a:t>
            </a:r>
            <a:r>
              <a:rPr lang="ru-RU" sz="18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(</a:t>
            </a:r>
            <a:r>
              <a:rPr lang="ru-RU" sz="18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)</a:t>
            </a:r>
            <a:r>
              <a:rPr lang="ru-RU" sz="18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)</a:t>
            </a:r>
            <a:r>
              <a:rPr lang="ru-RU" sz="18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;</a:t>
            </a:r>
            <a:endParaRPr lang="ru-RU" sz="1800" dirty="0"/>
          </a:p>
          <a:p>
            <a:pPr algn="l"/>
            <a:r>
              <a:rPr lang="ru-RU" sz="18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   </a:t>
            </a:r>
            <a:r>
              <a:rPr lang="ru-RU" sz="18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}</a:t>
            </a:r>
            <a:endParaRPr lang="ru-RU" sz="1800" dirty="0"/>
          </a:p>
          <a:p>
            <a:pPr algn="l"/>
            <a:r>
              <a:rPr lang="ru-RU" sz="1800" dirty="0">
                <a:solidFill>
                  <a:srgbClr val="334155"/>
                </a:solidFill>
                <a:latin typeface="JetBrains Mono"/>
                <a:ea typeface="JetBrains Mono"/>
                <a:cs typeface="JetBrains Mono"/>
              </a:rPr>
              <a:t xml:space="preserve">}</a:t>
            </a:r>
            <a:endParaRPr lang="ru-RU" sz="1800" dirty="0"/>
          </a:p>
          <a:p>
            <a:pPr algn="l"/>
            <a:r>
              <a:rPr lang="ru-RU" sz="18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 </a:t>
            </a:r>
            <a:endParaRPr lang="ru-RU" sz="1800" dirty="0"/>
          </a:p>
          <a:p>
            <a:pPr algn="l"/>
            <a:r>
              <a:rPr lang="ru-RU" sz="1800" i="1" dirty="0">
                <a:solidFill>
                  <a:srgbClr val="64748B"/>
                </a:solidFill>
                <a:latin typeface="JetBrains Mono"/>
                <a:ea typeface="JetBrains Mono"/>
                <a:cs typeface="JetBrains Mono"/>
              </a:rPr>
              <a:t xml:space="preserve">// future.get() перебросит исключение из worker.</a:t>
            </a:r>
            <a:endParaRPr lang="ru-RU" sz="1800" dirty="0"/>
          </a:p>
        </p:txBody>
      </p:sp>
      <p:sp>
        <p:nvSpPr>
          <p:cNvPr id="7" name="Page 7"/>
          <p:cNvSpPr txBox="1"/>
          <p:nvPr/>
        </p:nvSpPr>
        <p:spPr>
          <a:xfrm>
            <a:off x="10287000" y="6510528"/>
            <a:ext cx="6400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r"/>
            <a:r>
              <a:rPr lang="ru-RU" sz="900" dirty="0">
                <a:solidFill>
                  <a:srgbClr val="64748B"/>
                </a:solidFill>
                <a:latin typeface="JetBrains Mono"/>
                <a:ea typeface="JetBrains Mono"/>
                <a:cs typeface="JetBrains Mono"/>
              </a:rPr>
              <a:t xml:space="preserve">32</a:t>
            </a:r>
            <a:endParaRPr lang="ru-RU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 4"/>
          <p:cNvSpPr txBox="1"/>
          <p:nvPr/>
        </p:nvSpPr>
        <p:spPr>
          <a:xfrm>
            <a:off x="502920" y="201168"/>
            <a:ext cx="1065276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2400" b="1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Отмена + future</a:t>
            </a:r>
            <a:endParaRPr lang="ru-RU" sz="2400" dirty="0"/>
          </a:p>
        </p:txBody>
      </p:sp>
      <p:sp>
        <p:nvSpPr>
          <p:cNvPr id="5" name="Subtitle 5"/>
          <p:cNvSpPr txBox="1"/>
          <p:nvPr/>
        </p:nvSpPr>
        <p:spPr>
          <a:xfrm>
            <a:off x="530352" y="749808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100" dirty="0">
                <a:solidFill>
                  <a:srgbClr val="475569"/>
                </a:solidFill>
                <a:latin typeface="JetBrains Mono"/>
                <a:ea typeface="JetBrains Mono"/>
                <a:cs typeface="JetBrains Mono"/>
              </a:rPr>
              <a:t xml:space="preserve">request_stop() просит worker завершиться, result все равно типизирован</a:t>
            </a:r>
            <a:endParaRPr lang="ru-RU" sz="1100" dirty="0"/>
          </a:p>
        </p:txBody>
      </p:sp>
      <p:sp>
        <p:nvSpPr>
          <p:cNvPr id="6" name="Shape 6"/>
          <p:cNvSpPr/>
          <p:nvPr/>
        </p:nvSpPr>
        <p:spPr>
          <a:xfrm>
            <a:off x="868680" y="1554480"/>
            <a:ext cx="2788920" cy="1143000"/>
          </a:xfrm>
          <a:prstGeom prst="roundRect">
            <a:avLst/>
          </a:prstGeom>
          <a:solidFill>
            <a:srgbClr val="F3E8FF"/>
          </a:solidFill>
          <a:ln w="16000">
            <a:solidFill>
              <a:srgbClr val="A78BFA"/>
            </a:solidFill>
          </a:ln>
        </p:spPr>
        <p:txBody>
          <a:bodyPr/>
          <a:lstStyle/>
          <a:p/>
        </p:txBody>
      </p:sp>
      <p:sp>
        <p:nvSpPr>
          <p:cNvPr id="7" name="Text 7"/>
          <p:cNvSpPr txBox="1"/>
          <p:nvPr/>
        </p:nvSpPr>
        <p:spPr>
          <a:xfrm>
            <a:off x="996695" y="1655064"/>
            <a:ext cx="253288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b="1" dirty="0">
                <a:solidFill>
                  <a:srgbClr val="A78BFA"/>
                </a:solidFill>
                <a:latin typeface="JetBrains Mono"/>
                <a:ea typeface="JetBrains Mono"/>
                <a:cs typeface="JetBrains Mono"/>
              </a:rPr>
              <a:t xml:space="preserve">owner</a:t>
            </a:r>
            <a:endParaRPr lang="ru-RU" sz="1200" dirty="0"/>
          </a:p>
        </p:txBody>
      </p:sp>
      <p:sp>
        <p:nvSpPr>
          <p:cNvPr id="8" name="Text 8"/>
          <p:cNvSpPr txBox="1"/>
          <p:nvPr/>
        </p:nvSpPr>
        <p:spPr>
          <a:xfrm>
            <a:off x="996695" y="1965960"/>
            <a:ext cx="2532887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держит handle операции</a:t>
            </a:r>
            <a:endParaRPr lang="ru-RU" sz="1200" dirty="0"/>
          </a:p>
        </p:txBody>
      </p:sp>
      <p:sp>
        <p:nvSpPr>
          <p:cNvPr id="9" name="Shape 9"/>
          <p:cNvSpPr/>
          <p:nvPr/>
        </p:nvSpPr>
        <p:spPr>
          <a:xfrm>
            <a:off x="4206240" y="1554480"/>
            <a:ext cx="2788920" cy="1143000"/>
          </a:xfrm>
          <a:prstGeom prst="roundRect">
            <a:avLst/>
          </a:prstGeom>
          <a:solidFill>
            <a:srgbClr val="F3E8FF"/>
          </a:solidFill>
          <a:ln w="16000">
            <a:solidFill>
              <a:srgbClr val="A78BFA"/>
            </a:solidFill>
          </a:ln>
        </p:spPr>
        <p:txBody>
          <a:bodyPr/>
          <a:lstStyle/>
          <a:p/>
        </p:txBody>
      </p:sp>
      <p:sp>
        <p:nvSpPr>
          <p:cNvPr id="10" name="Text 10"/>
          <p:cNvSpPr txBox="1"/>
          <p:nvPr/>
        </p:nvSpPr>
        <p:spPr>
          <a:xfrm>
            <a:off x="4334255" y="1655064"/>
            <a:ext cx="253288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b="1" dirty="0">
                <a:solidFill>
                  <a:srgbClr val="A78BFA"/>
                </a:solidFill>
                <a:latin typeface="JetBrains Mono"/>
                <a:ea typeface="JetBrains Mono"/>
                <a:cs typeface="JetBrains Mono"/>
              </a:rPr>
              <a:t xml:space="preserve">request_stop()</a:t>
            </a:r>
            <a:endParaRPr lang="ru-RU" sz="1200" dirty="0"/>
          </a:p>
        </p:txBody>
      </p:sp>
      <p:sp>
        <p:nvSpPr>
          <p:cNvPr id="11" name="Text 11"/>
          <p:cNvSpPr txBox="1"/>
          <p:nvPr/>
        </p:nvSpPr>
        <p:spPr>
          <a:xfrm>
            <a:off x="4334255" y="1965960"/>
            <a:ext cx="2532887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сигнал в stop_token</a:t>
            </a:r>
            <a:endParaRPr lang="ru-RU" sz="1200" dirty="0"/>
          </a:p>
        </p:txBody>
      </p:sp>
      <p:sp>
        <p:nvSpPr>
          <p:cNvPr id="12" name="Shape 12"/>
          <p:cNvSpPr/>
          <p:nvPr/>
        </p:nvSpPr>
        <p:spPr>
          <a:xfrm>
            <a:off x="7543800" y="1554480"/>
            <a:ext cx="2788920" cy="1143000"/>
          </a:xfrm>
          <a:prstGeom prst="roundRect">
            <a:avLst/>
          </a:prstGeom>
          <a:solidFill>
            <a:srgbClr val="F3E8FF"/>
          </a:solidFill>
          <a:ln w="16000">
            <a:solidFill>
              <a:srgbClr val="A78BFA"/>
            </a:solidFill>
          </a:ln>
        </p:spPr>
        <p:txBody>
          <a:bodyPr/>
          <a:lstStyle/>
          <a:p/>
        </p:txBody>
      </p:sp>
      <p:sp>
        <p:nvSpPr>
          <p:cNvPr id="13" name="Text 13"/>
          <p:cNvSpPr txBox="1"/>
          <p:nvPr/>
        </p:nvSpPr>
        <p:spPr>
          <a:xfrm>
            <a:off x="7671816" y="1655064"/>
            <a:ext cx="253288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b="1" dirty="0">
                <a:solidFill>
                  <a:srgbClr val="A78BFA"/>
                </a:solidFill>
                <a:latin typeface="JetBrains Mono"/>
                <a:ea typeface="JetBrains Mono"/>
                <a:cs typeface="JetBrains Mono"/>
              </a:rPr>
              <a:t xml:space="preserve">future</a:t>
            </a:r>
            <a:endParaRPr lang="ru-RU" sz="1200" dirty="0"/>
          </a:p>
        </p:txBody>
      </p:sp>
      <p:sp>
        <p:nvSpPr>
          <p:cNvPr id="14" name="Text 14"/>
          <p:cNvSpPr txBox="1"/>
          <p:nvPr/>
        </p:nvSpPr>
        <p:spPr>
          <a:xfrm>
            <a:off x="7671816" y="1965960"/>
            <a:ext cx="2532887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value или exception</a:t>
            </a:r>
            <a:endParaRPr lang="ru-RU" sz="1200" dirty="0"/>
          </a:p>
        </p:txBody>
      </p:sp>
      <p:cxnSp>
        <p:nvCxnSpPr>
          <p:cNvPr id="15" name="Arrow 15"/>
          <p:cNvCxnSpPr/>
          <p:nvPr/>
        </p:nvCxnSpPr>
        <p:spPr>
          <a:xfrm>
            <a:off x="3703320" y="2130552"/>
            <a:ext cx="411480" cy="0"/>
          </a:xfrm>
          <a:prstGeom prst="line">
            <a:avLst/>
          </a:prstGeom>
          <a:ln w="24000">
            <a:solidFill>
              <a:srgbClr val="A78BFA"/>
            </a:solidFill>
            <a:headEnd type="triangle"/>
          </a:ln>
        </p:spPr>
      </p:cxnSp>
      <p:cxnSp>
        <p:nvCxnSpPr>
          <p:cNvPr id="16" name="Arrow 16"/>
          <p:cNvCxnSpPr/>
          <p:nvPr/>
        </p:nvCxnSpPr>
        <p:spPr>
          <a:xfrm>
            <a:off x="7040880" y="2130552"/>
            <a:ext cx="411480" cy="0"/>
          </a:xfrm>
          <a:prstGeom prst="line">
            <a:avLst/>
          </a:prstGeom>
          <a:ln w="24000">
            <a:solidFill>
              <a:srgbClr val="A78BFA"/>
            </a:solidFill>
            <a:headEnd type="triangle"/>
          </a:ln>
        </p:spPr>
      </p:cxnSp>
      <p:sp>
        <p:nvSpPr>
          <p:cNvPr id="17" name="Text 17"/>
          <p:cNvSpPr txBox="1"/>
          <p:nvPr/>
        </p:nvSpPr>
        <p:spPr>
          <a:xfrm>
            <a:off x="868680" y="3977639"/>
            <a:ext cx="941832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ctr"/>
            <a:r>
              <a:rPr lang="ru-RU" sz="1600" dirty="0">
                <a:solidFill>
                  <a:srgbClr val="6B21A8"/>
                </a:solidFill>
                <a:latin typeface="JetBrains Mono"/>
                <a:ea typeface="JetBrains Mono"/>
                <a:cs typeface="JetBrains Mono"/>
              </a:rPr>
              <a:t xml:space="preserve">Даже при исключении у вызывающего кода есть точка, где его можно поймать и превратить в UI-сообщение.</a:t>
            </a:r>
            <a:endParaRPr lang="ru-RU" sz="1600" dirty="0"/>
          </a:p>
        </p:txBody>
      </p:sp>
      <p:sp>
        <p:nvSpPr>
          <p:cNvPr id="18" name="Page 18"/>
          <p:cNvSpPr txBox="1"/>
          <p:nvPr/>
        </p:nvSpPr>
        <p:spPr>
          <a:xfrm>
            <a:off x="10287000" y="6510528"/>
            <a:ext cx="6400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r"/>
            <a:r>
              <a:rPr lang="ru-RU" sz="900" dirty="0">
                <a:solidFill>
                  <a:srgbClr val="64748B"/>
                </a:solidFill>
                <a:latin typeface="JetBrains Mono"/>
                <a:ea typeface="JetBrains Mono"/>
                <a:cs typeface="JetBrains Mono"/>
              </a:rPr>
              <a:t xml:space="preserve">33</a:t>
            </a:r>
            <a:endParaRPr lang="ru-RU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 4"/>
          <p:cNvSpPr txBox="1"/>
          <p:nvPr/>
        </p:nvSpPr>
        <p:spPr>
          <a:xfrm>
            <a:off x="502920" y="201168"/>
            <a:ext cx="1065276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2400" b="1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Альтернативы future</a:t>
            </a:r>
            <a:endParaRPr lang="ru-RU" sz="2400" dirty="0"/>
          </a:p>
        </p:txBody>
      </p:sp>
      <p:sp>
        <p:nvSpPr>
          <p:cNvPr id="5" name="Subtitle 5"/>
          <p:cNvSpPr txBox="1"/>
          <p:nvPr/>
        </p:nvSpPr>
        <p:spPr>
          <a:xfrm>
            <a:off x="530352" y="749808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100" dirty="0">
                <a:solidFill>
                  <a:srgbClr val="475569"/>
                </a:solidFill>
                <a:latin typeface="JetBrains Mono"/>
                <a:ea typeface="JetBrains Mono"/>
                <a:cs typeface="JetBrains Mono"/>
              </a:rPr>
              <a:t xml:space="preserve">Они работают, но синхронизацию придется держать руками</a:t>
            </a:r>
            <a:endParaRPr lang="ru-RU" sz="1100" dirty="0"/>
          </a:p>
        </p:txBody>
      </p:sp>
      <p:sp>
        <p:nvSpPr>
          <p:cNvPr id="6" name="Shape 6"/>
          <p:cNvSpPr/>
          <p:nvPr/>
        </p:nvSpPr>
        <p:spPr>
          <a:xfrm>
            <a:off x="822960" y="1417320"/>
            <a:ext cx="4297680" cy="1143000"/>
          </a:xfrm>
          <a:prstGeom prst="roundRect">
            <a:avLst/>
          </a:prstGeom>
          <a:solidFill>
            <a:srgbClr val="FFE4E6"/>
          </a:solidFill>
          <a:ln w="16000">
            <a:solidFill>
              <a:srgbClr val="FB7185"/>
            </a:solidFill>
          </a:ln>
        </p:spPr>
        <p:txBody>
          <a:bodyPr/>
          <a:lstStyle/>
          <a:p/>
        </p:txBody>
      </p:sp>
      <p:sp>
        <p:nvSpPr>
          <p:cNvPr id="7" name="Text 7"/>
          <p:cNvSpPr txBox="1"/>
          <p:nvPr/>
        </p:nvSpPr>
        <p:spPr>
          <a:xfrm>
            <a:off x="950976" y="1517904"/>
            <a:ext cx="404164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b="1" dirty="0">
                <a:solidFill>
                  <a:srgbClr val="FB7185"/>
                </a:solidFill>
                <a:latin typeface="JetBrains Mono"/>
                <a:ea typeface="JetBrains Mono"/>
                <a:cs typeface="JetBrains Mono"/>
              </a:rPr>
              <a:t xml:space="preserve">объект + mutex</a:t>
            </a:r>
            <a:endParaRPr lang="ru-RU" sz="1200" dirty="0"/>
          </a:p>
        </p:txBody>
      </p:sp>
      <p:sp>
        <p:nvSpPr>
          <p:cNvPr id="8" name="Text 8"/>
          <p:cNvSpPr txBox="1"/>
          <p:nvPr/>
        </p:nvSpPr>
        <p:spPr>
          <a:xfrm>
            <a:off x="950976" y="1828800"/>
            <a:ext cx="4041648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легко ошибиться с lock lifetime</a:t>
            </a:r>
            <a:endParaRPr lang="ru-RU" sz="1200" dirty="0"/>
          </a:p>
        </p:txBody>
      </p:sp>
      <p:sp>
        <p:nvSpPr>
          <p:cNvPr id="9" name="Shape 9"/>
          <p:cNvSpPr/>
          <p:nvPr/>
        </p:nvSpPr>
        <p:spPr>
          <a:xfrm>
            <a:off x="5760720" y="1417320"/>
            <a:ext cx="4297680" cy="1143000"/>
          </a:xfrm>
          <a:prstGeom prst="roundRect">
            <a:avLst/>
          </a:prstGeom>
          <a:solidFill>
            <a:srgbClr val="FFE4E6"/>
          </a:solidFill>
          <a:ln w="16000">
            <a:solidFill>
              <a:srgbClr val="FB7185"/>
            </a:solidFill>
          </a:ln>
        </p:spPr>
        <p:txBody>
          <a:bodyPr/>
          <a:lstStyle/>
          <a:p/>
        </p:txBody>
      </p:sp>
      <p:sp>
        <p:nvSpPr>
          <p:cNvPr id="10" name="Text 10"/>
          <p:cNvSpPr txBox="1"/>
          <p:nvPr/>
        </p:nvSpPr>
        <p:spPr>
          <a:xfrm>
            <a:off x="5888736" y="1517904"/>
            <a:ext cx="404164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b="1" dirty="0">
                <a:solidFill>
                  <a:srgbClr val="FB7185"/>
                </a:solidFill>
                <a:latin typeface="JetBrains Mono"/>
                <a:ea typeface="JetBrains Mono"/>
                <a:cs typeface="JetBrains Mono"/>
              </a:rPr>
              <a:t xml:space="preserve">lambda на main</a:t>
            </a:r>
            <a:endParaRPr lang="ru-RU" sz="1200" dirty="0"/>
          </a:p>
        </p:txBody>
      </p:sp>
      <p:sp>
        <p:nvSpPr>
          <p:cNvPr id="11" name="Text 11"/>
          <p:cNvSpPr txBox="1"/>
          <p:nvPr/>
        </p:nvSpPr>
        <p:spPr>
          <a:xfrm>
            <a:off x="5888736" y="1828800"/>
            <a:ext cx="4041648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результат придет только в кадре</a:t>
            </a:r>
            <a:endParaRPr lang="ru-RU" sz="1200" dirty="0"/>
          </a:p>
        </p:txBody>
      </p:sp>
      <p:sp>
        <p:nvSpPr>
          <p:cNvPr id="12" name="Shape 12"/>
          <p:cNvSpPr/>
          <p:nvPr/>
        </p:nvSpPr>
        <p:spPr>
          <a:xfrm>
            <a:off x="822960" y="3108960"/>
            <a:ext cx="4297680" cy="1143000"/>
          </a:xfrm>
          <a:prstGeom prst="roundRect">
            <a:avLst/>
          </a:prstGeom>
          <a:solidFill>
            <a:srgbClr val="FFE4E6"/>
          </a:solidFill>
          <a:ln w="16000">
            <a:solidFill>
              <a:srgbClr val="FB7185"/>
            </a:solidFill>
          </a:ln>
        </p:spPr>
        <p:txBody>
          <a:bodyPr/>
          <a:lstStyle/>
          <a:p/>
        </p:txBody>
      </p:sp>
      <p:sp>
        <p:nvSpPr>
          <p:cNvPr id="13" name="Text 13"/>
          <p:cNvSpPr txBox="1"/>
          <p:nvPr/>
        </p:nvSpPr>
        <p:spPr>
          <a:xfrm>
            <a:off x="950976" y="3209544"/>
            <a:ext cx="404164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b="1" dirty="0">
                <a:solidFill>
                  <a:srgbClr val="FB7185"/>
                </a:solidFill>
                <a:latin typeface="JetBrains Mono"/>
                <a:ea typeface="JetBrains Mono"/>
                <a:cs typeface="JetBrains Mono"/>
              </a:rPr>
              <a:t xml:space="preserve">сырой buffer</a:t>
            </a:r>
            <a:endParaRPr lang="ru-RU" sz="1200" dirty="0"/>
          </a:p>
        </p:txBody>
      </p:sp>
      <p:sp>
        <p:nvSpPr>
          <p:cNvPr id="14" name="Text 14"/>
          <p:cNvSpPr txBox="1"/>
          <p:nvPr/>
        </p:nvSpPr>
        <p:spPr>
          <a:xfrm>
            <a:off x="950976" y="3520440"/>
            <a:ext cx="4041648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указатель + размер плохо типизированы</a:t>
            </a:r>
            <a:endParaRPr lang="ru-RU" sz="1200" dirty="0"/>
          </a:p>
        </p:txBody>
      </p:sp>
      <p:sp>
        <p:nvSpPr>
          <p:cNvPr id="15" name="Shape 15"/>
          <p:cNvSpPr/>
          <p:nvPr/>
        </p:nvSpPr>
        <p:spPr>
          <a:xfrm>
            <a:off x="5760720" y="3108960"/>
            <a:ext cx="4297680" cy="1143000"/>
          </a:xfrm>
          <a:prstGeom prst="roundRect">
            <a:avLst/>
          </a:prstGeom>
          <a:solidFill>
            <a:srgbClr val="FFE4E6"/>
          </a:solidFill>
          <a:ln w="16000">
            <a:solidFill>
              <a:srgbClr val="FB7185"/>
            </a:solidFill>
          </a:ln>
        </p:spPr>
        <p:txBody>
          <a:bodyPr/>
          <a:lstStyle/>
          <a:p/>
        </p:txBody>
      </p:sp>
      <p:sp>
        <p:nvSpPr>
          <p:cNvPr id="16" name="Text 16"/>
          <p:cNvSpPr txBox="1"/>
          <p:nvPr/>
        </p:nvSpPr>
        <p:spPr>
          <a:xfrm>
            <a:off x="5888736" y="3209544"/>
            <a:ext cx="404164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b="1" dirty="0">
                <a:solidFill>
                  <a:srgbClr val="FB7185"/>
                </a:solidFill>
                <a:latin typeface="JetBrains Mono"/>
                <a:ea typeface="JetBrains Mono"/>
                <a:cs typeface="JetBrains Mono"/>
              </a:rPr>
              <a:t xml:space="preserve">ручные ошибки</a:t>
            </a:r>
            <a:endParaRPr lang="ru-RU" sz="1200" dirty="0"/>
          </a:p>
        </p:txBody>
      </p:sp>
      <p:sp>
        <p:nvSpPr>
          <p:cNvPr id="17" name="Text 17"/>
          <p:cNvSpPr txBox="1"/>
          <p:nvPr/>
        </p:nvSpPr>
        <p:spPr>
          <a:xfrm>
            <a:off x="5888736" y="3520440"/>
            <a:ext cx="4041648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2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нужен единый error channel</a:t>
            </a:r>
            <a:endParaRPr lang="ru-RU" sz="1200" dirty="0"/>
          </a:p>
        </p:txBody>
      </p:sp>
      <p:sp>
        <p:nvSpPr>
          <p:cNvPr id="18" name="Page 18"/>
          <p:cNvSpPr txBox="1"/>
          <p:nvPr/>
        </p:nvSpPr>
        <p:spPr>
          <a:xfrm>
            <a:off x="10287000" y="6510528"/>
            <a:ext cx="6400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r"/>
            <a:r>
              <a:rPr lang="ru-RU" sz="900" dirty="0">
                <a:solidFill>
                  <a:srgbClr val="64748B"/>
                </a:solidFill>
                <a:latin typeface="JetBrains Mono"/>
                <a:ea typeface="JetBrains Mono"/>
                <a:cs typeface="JetBrains Mono"/>
              </a:rPr>
              <a:t xml:space="preserve">34</a:t>
            </a:r>
            <a:endParaRPr lang="ru-RU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 4"/>
          <p:cNvSpPr txBox="1"/>
          <p:nvPr/>
        </p:nvSpPr>
        <p:spPr>
          <a:xfrm>
            <a:off x="502920" y="201168"/>
            <a:ext cx="1065276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2400" b="1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Практический чек-лист</a:t>
            </a:r>
            <a:endParaRPr lang="ru-RU" sz="2400" dirty="0"/>
          </a:p>
        </p:txBody>
      </p:sp>
      <p:sp>
        <p:nvSpPr>
          <p:cNvPr id="5" name="Subtitle 5"/>
          <p:cNvSpPr txBox="1"/>
          <p:nvPr/>
        </p:nvSpPr>
        <p:spPr>
          <a:xfrm>
            <a:off x="530352" y="749808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100" dirty="0">
                <a:solidFill>
                  <a:srgbClr val="475569"/>
                </a:solidFill>
                <a:latin typeface="JetBrains Mono"/>
                <a:ea typeface="JetBrains Mono"/>
                <a:cs typeface="JetBrains Mono"/>
              </a:rPr>
              <a:t xml:space="preserve">Что должно быть в реальной async-загрузке</a:t>
            </a:r>
            <a:endParaRPr lang="ru-RU" sz="1100" dirty="0"/>
          </a:p>
        </p:txBody>
      </p:sp>
      <p:sp>
        <p:nvSpPr>
          <p:cNvPr id="6" name="Text 6"/>
          <p:cNvSpPr txBox="1"/>
          <p:nvPr/>
        </p:nvSpPr>
        <p:spPr>
          <a:xfrm>
            <a:off x="777240" y="1207008"/>
            <a:ext cx="9784080" cy="4572000"/>
          </a:xfrm>
          <a:prstGeom prst="roundRect">
            <a:avLst/>
          </a:prstGeom>
          <a:solidFill>
            <a:srgbClr val="FFFFFF"/>
          </a:solidFill>
          <a:ln w="14000">
            <a:solidFill>
              <a:srgbClr val="FBBF24"/>
            </a:solidFill>
          </a:ln>
        </p:spPr>
        <p:txBody>
          <a:bodyPr wrap="square" lIns="90000" tIns="90000" rIns="90000" bIns="90000" anchor="mid"/>
          <a:lstStyle/>
          <a:p>
            <a:pPr algn="l"/>
            <a:r>
              <a:rPr lang="ru-RU" sz="16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✓ main никогда не делает долгий wait/sleep/join</a:t>
            </a:r>
            <a:endParaRPr lang="ru-RU" sz="1600" dirty="0"/>
          </a:p>
          <a:p>
            <a:pPr algn="l"/>
            <a:r>
              <a:rPr lang="ru-RU" sz="16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✓ у операции есть handle и request_cancel()</a:t>
            </a:r>
            <a:endParaRPr lang="ru-RU" sz="1600" dirty="0"/>
          </a:p>
          <a:p>
            <a:pPr algn="l"/>
            <a:r>
              <a:rPr lang="ru-RU" sz="16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✓ worker регулярно проверяет stop/interruption</a:t>
            </a:r>
            <a:endParaRPr lang="ru-RU" sz="1600" dirty="0"/>
          </a:p>
          <a:p>
            <a:pPr algn="l"/>
            <a:r>
              <a:rPr lang="ru-RU" sz="16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✓ граница worker ловит все исключения</a:t>
            </a:r>
            <a:endParaRPr lang="ru-RU" sz="1600" dirty="0"/>
          </a:p>
          <a:p>
            <a:pPr algn="l"/>
            <a:r>
              <a:rPr lang="ru-RU" sz="16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✓ результат типизирован: success/failure/cancelled</a:t>
            </a:r>
            <a:endParaRPr lang="ru-RU" sz="1600" dirty="0"/>
          </a:p>
          <a:p>
            <a:pPr algn="l"/>
            <a:r>
              <a:rPr lang="ru-RU" sz="16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✓ владельцы передаются через weak_ptr</a:t>
            </a:r>
            <a:endParaRPr lang="ru-RU" sz="1600" dirty="0"/>
          </a:p>
          <a:p>
            <a:pPr algn="l"/>
            <a:r>
              <a:rPr lang="ru-RU" sz="1600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✓ мелкие зависимости не идут через main queue</a:t>
            </a:r>
            <a:endParaRPr lang="ru-RU" sz="1600" dirty="0"/>
          </a:p>
        </p:txBody>
      </p:sp>
      <p:sp>
        <p:nvSpPr>
          <p:cNvPr id="7" name="Page 7"/>
          <p:cNvSpPr txBox="1"/>
          <p:nvPr/>
        </p:nvSpPr>
        <p:spPr>
          <a:xfrm>
            <a:off x="10287000" y="6510528"/>
            <a:ext cx="6400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r"/>
            <a:r>
              <a:rPr lang="ru-RU" sz="900" dirty="0">
                <a:solidFill>
                  <a:srgbClr val="64748B"/>
                </a:solidFill>
                <a:latin typeface="JetBrains Mono"/>
                <a:ea typeface="JetBrains Mono"/>
                <a:cs typeface="JetBrains Mono"/>
              </a:rPr>
              <a:t xml:space="preserve">35</a:t>
            </a:r>
            <a:endParaRPr lang="ru-RU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 4"/>
          <p:cNvSpPr txBox="1"/>
          <p:nvPr/>
        </p:nvSpPr>
        <p:spPr>
          <a:xfrm>
            <a:off x="502920" y="201168"/>
            <a:ext cx="1065276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2400" b="1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Ментальная модель</a:t>
            </a:r>
            <a:endParaRPr lang="ru-RU" sz="2400" dirty="0"/>
          </a:p>
        </p:txBody>
      </p:sp>
      <p:sp>
        <p:nvSpPr>
          <p:cNvPr id="5" name="Subtitle 5"/>
          <p:cNvSpPr txBox="1"/>
          <p:nvPr/>
        </p:nvSpPr>
        <p:spPr>
          <a:xfrm>
            <a:off x="530352" y="749808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l"/>
            <a:r>
              <a:rPr lang="ru-RU" sz="1100" dirty="0">
                <a:solidFill>
                  <a:srgbClr val="475569"/>
                </a:solidFill>
                <a:latin typeface="JetBrains Mono"/>
                <a:ea typeface="JetBrains Mono"/>
                <a:cs typeface="JetBrains Mono"/>
              </a:rPr>
              <a:t xml:space="preserve">Никакой серебряной пули нет</a:t>
            </a:r>
            <a:endParaRPr lang="ru-RU" sz="1100" dirty="0"/>
          </a:p>
        </p:txBody>
      </p:sp>
      <p:sp>
        <p:nvSpPr>
          <p:cNvPr id="6" name="Text 6"/>
          <p:cNvSpPr txBox="1"/>
          <p:nvPr/>
        </p:nvSpPr>
        <p:spPr>
          <a:xfrm>
            <a:off x="777240" y="1444752"/>
            <a:ext cx="9601200" cy="10972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ctr"/>
            <a:r>
              <a:rPr lang="ru-RU" sz="2500" b="1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 xml:space="preserve">Асинхронность не отменяет кооперативность.</a:t>
            </a:r>
            <a:endParaRPr lang="ru-RU" sz="2500" dirty="0"/>
          </a:p>
        </p:txBody>
      </p:sp>
      <p:sp>
        <p:nvSpPr>
          <p:cNvPr id="7" name="Text 7"/>
          <p:cNvSpPr txBox="1"/>
          <p:nvPr/>
        </p:nvSpPr>
        <p:spPr>
          <a:xfrm>
            <a:off x="914400" y="2816352"/>
            <a:ext cx="9326880" cy="1554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ctr"/>
            <a:r>
              <a:rPr lang="ru-RU" sz="1900" dirty="0">
                <a:solidFill>
                  <a:srgbClr val="475569"/>
                </a:solidFill>
                <a:latin typeface="JetBrains Mono"/>
                <a:ea typeface="JetBrains Mono"/>
                <a:cs typeface="JetBrains Mono"/>
              </a:rPr>
              <a:t xml:space="preserve">Потоки работают безопасно только когда вы явно описали владение, отмену, ошибки, очереди и тайминги.</a:t>
            </a:r>
            <a:endParaRPr lang="ru-RU" sz="1900" dirty="0"/>
          </a:p>
        </p:txBody>
      </p:sp>
      <p:sp>
        <p:nvSpPr>
          <p:cNvPr id="8" name="Text 8"/>
          <p:cNvSpPr txBox="1"/>
          <p:nvPr/>
        </p:nvSpPr>
        <p:spPr>
          <a:xfrm>
            <a:off x="1691640" y="489204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ctr"/>
            <a:r>
              <a:rPr lang="ru-RU" sz="1400" dirty="0">
                <a:solidFill>
                  <a:srgbClr val="7DD3FC"/>
                </a:solidFill>
                <a:latin typeface="JetBrains Mono"/>
                <a:ea typeface="JetBrains Mono"/>
                <a:cs typeface="JetBrains Mono"/>
              </a:rPr>
              <a:t xml:space="preserve">Сначала инварианты, потом производительность.</a:t>
            </a:r>
            <a:endParaRPr lang="ru-RU" sz="1400" dirty="0"/>
          </a:p>
        </p:txBody>
      </p:sp>
      <p:sp>
        <p:nvSpPr>
          <p:cNvPr id="9" name="Page 9"/>
          <p:cNvSpPr txBox="1"/>
          <p:nvPr/>
        </p:nvSpPr>
        <p:spPr>
          <a:xfrm>
            <a:off x="10287000" y="6510528"/>
            <a:ext cx="6400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mid"/>
          <a:lstStyle/>
          <a:p>
            <a:pPr algn="r"/>
            <a:r>
              <a:rPr lang="ru-RU" sz="900" dirty="0">
                <a:solidFill>
                  <a:srgbClr val="64748B"/>
                </a:solidFill>
                <a:latin typeface="JetBrains Mono"/>
                <a:ea typeface="JetBrains Mono"/>
                <a:cs typeface="JetBrains Mono"/>
              </a:rPr>
              <a:t xml:space="preserve">36</a:t>
            </a:r>
            <a:endParaRPr lang="ru-RU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syncLoading">
  <a:themeElements>
    <a:clrScheme name="AsyncLoading">
      <a:dk1>
        <a:srgbClr val="0F172A"/>
      </a:dk1>
      <a:lt1>
        <a:srgbClr val="FFFFFF"/>
      </a:lt1>
      <a:dk2>
        <a:srgbClr val="475569"/>
      </a:dk2>
      <a:lt2>
        <a:srgbClr val="F8FAFC"/>
      </a:lt2>
      <a:accent1>
        <a:srgbClr val="7DD3FC"/>
      </a:accent1>
      <a:accent2>
        <a:srgbClr val="A78BFA"/>
      </a:accent2>
      <a:accent3>
        <a:srgbClr val="34D399"/>
      </a:accent3>
      <a:accent4>
        <a:srgbClr val="FBBF24"/>
      </a:accent4>
      <a:accent5>
        <a:srgbClr val="FB7185"/>
      </a:accent5>
      <a:accent6>
        <a:srgbClr val="94A3B8"/>
      </a:accent6>
      <a:hlink>
        <a:srgbClr val="38BDF8"/>
      </a:hlink>
      <a:folHlink>
        <a:srgbClr val="C084FC"/>
      </a:folHlink>
    </a:clrScheme>
    <a:fontScheme name="JetBrainsMono">
      <a:majorFont>
        <a:latin typeface="JetBrains Mono"/>
        <a:ea typeface="JetBrains Mono"/>
        <a:cs typeface="JetBrains Mono"/>
      </a:majorFont>
      <a:minorFont>
        <a:latin typeface="JetBrains Mono"/>
        <a:ea typeface="JetBrains Mono"/>
        <a:cs typeface="JetBrains Mono"/>
      </a:minorFont>
    </a:fontScheme>
    <a:fmtScheme name="Async">
      <a:fillStyleLst>
        <a:solidFill>
          <a:schemeClr val="phClr"/>
        </a:solidFill>
      </a:fillStyleLst>
      <a:lnStyleLst>
        <a:ln w="9525">
          <a:solidFill>
            <a:schemeClr val="phClr"/>
          </a:solidFill>
        </a:ln>
      </a:lnStyleLst>
      <a:effectStyleLst>
        <a:effectStyle/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Cursor generated presentation</Application>
  <PresentationFormat>16:9</PresentationFormat>
  <Slides>36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Асинхронная загрузка без зависаний</dc:title>
  <dc:creator>Cursor</dc:creator>
  <cp:lastModifiedBy>Cursor</cp:lastModifiedBy>
  <dcterms:created xsi:type="dcterms:W3CDTF">2026-05-11T00:00:00Z</dcterms:created>
  <dcterms:modified xsi:type="dcterms:W3CDTF">2026-05-11T00:00:00Z</dcterms:modified>
</cp:coreProperties>
</file>