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notesSz cx="6858000" cy="9144000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defaultTextStyle>
    <a:defPPr>
      <a:defRPr lang="ru-RU">
        <a:latin typeface="JetBrains Mono"/>
        <a:ea typeface="JetBrains Mono"/>
        <a:cs typeface="JetBrains Mono"/>
      </a:defRPr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" Target="slides/slide27.xml"/>
<Relationship Id="rId28" Type="http://schemas.openxmlformats.org/officeDocument/2006/relationships/slide" Target="slides/slide28.xml"/>
<Relationship Id="rId29" Type="http://schemas.openxmlformats.org/officeDocument/2006/relationships/slide" Target="slides/slide29.xml"/>
<Relationship Id="rId30" Type="http://schemas.openxmlformats.org/officeDocument/2006/relationships/slide" Target="slides/slide30.xml"/>
<Relationship Id="rId31" Type="http://schemas.openxmlformats.org/officeDocument/2006/relationships/slide" Target="slides/slide31.xml"/>
  <Relationship Id="rId32" Type="http://schemas.openxmlformats.org/officeDocument/2006/relationships/theme" Target="theme/theme1.xml"/>
  <Relationship Id="rId33" Type="http://schemas.openxmlformats.org/officeDocument/2006/relationships/presProps" Target="presProps.xml"/>
  <Relationship Id="rId34" Type="http://schemas.openxmlformats.org/officeDocument/2006/relationships/viewProps" Target="viewProps.xml"/>
  <Relationship Id="rId35" Type="http://schemas.openxmlformats.org/officeDocument/2006/relationships/tableStyles" Target="tableStyles.xml"/>
</Relationships>
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_rels/slide17.xml.rels><?xml version="1.0" encoding="UTF-8" standalone="yes"?><Relationships xmlns="http://schemas.openxmlformats.org/package/2006/relationships"/>
</file>

<file path=ppt/slides/_rels/slide18.xml.rels><?xml version="1.0" encoding="UTF-8" standalone="yes"?><Relationships xmlns="http://schemas.openxmlformats.org/package/2006/relationships"/>
</file>

<file path=ppt/slides/_rels/slide19.xml.rels><?xml version="1.0" encoding="UTF-8" standalone="yes"?><Relationships xmlns="http://schemas.openxmlformats.org/package/2006/relationships"/>
</file>

<file path=ppt/slides/_rels/slide20.xml.rels><?xml version="1.0" encoding="UTF-8" standalone="yes"?><Relationships xmlns="http://schemas.openxmlformats.org/package/2006/relationships"/>
</file>

<file path=ppt/slides/_rels/slide21.xml.rels><?xml version="1.0" encoding="UTF-8" standalone="yes"?><Relationships xmlns="http://schemas.openxmlformats.org/package/2006/relationships"/>
</file>

<file path=ppt/slides/_rels/slide22.xml.rels><?xml version="1.0" encoding="UTF-8" standalone="yes"?><Relationships xmlns="http://schemas.openxmlformats.org/package/2006/relationships"/>
</file>

<file path=ppt/slides/_rels/slide23.xml.rels><?xml version="1.0" encoding="UTF-8" standalone="yes"?><Relationships xmlns="http://schemas.openxmlformats.org/package/2006/relationships"/>
</file>

<file path=ppt/slides/_rels/slide24.xml.rels><?xml version="1.0" encoding="UTF-8" standalone="yes"?><Relationships xmlns="http://schemas.openxmlformats.org/package/2006/relationships"/>
</file>

<file path=ppt/slides/_rels/slide25.xml.rels><?xml version="1.0" encoding="UTF-8" standalone="yes"?><Relationships xmlns="http://schemas.openxmlformats.org/package/2006/relationships"/>
</file>

<file path=ppt/slides/_rels/slide26.xml.rels><?xml version="1.0" encoding="UTF-8" standalone="yes"?><Relationships xmlns="http://schemas.openxmlformats.org/package/2006/relationships"/>
</file>

<file path=ppt/slides/_rels/slide27.xml.rels><?xml version="1.0" encoding="UTF-8" standalone="yes"?><Relationships xmlns="http://schemas.openxmlformats.org/package/2006/relationships"/>
</file>

<file path=ppt/slides/_rels/slide28.xml.rels><?xml version="1.0" encoding="UTF-8" standalone="yes"?><Relationships xmlns="http://schemas.openxmlformats.org/package/2006/relationships"/>
</file>

<file path=ppt/slides/_rels/slide29.xml.rels><?xml version="1.0" encoding="UTF-8" standalone="yes"?><Relationships xmlns="http://schemas.openxmlformats.org/package/2006/relationships"/>
</file>

<file path=ppt/slides/_rels/slide30.xml.rels><?xml version="1.0" encoding="UTF-8" standalone="yes"?><Relationships xmlns="http://schemas.openxmlformats.org/package/2006/relationships"/>
</file>

<file path=ppt/slides/_rels/slide3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Асинхронная загрузка без зависаний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Главный поток, отмена, исключения, job_pool и FPS</a:t>
            </a:r>
            <a:endParaRPr lang="ru-RU" sz="1100" dirty="0"/>
          </a:p>
        </p:txBody>
      </p:sp>
      <p:sp>
        <p:nvSpPr>
          <p:cNvPr id="6" name="Circle 6"/>
          <p:cNvSpPr/>
          <p:nvPr/>
        </p:nvSpPr>
        <p:spPr>
          <a:xfrm>
            <a:off x="7040880" y="1143000"/>
            <a:ext cx="2377440" cy="2377440"/>
          </a:xfrm>
          <a:prstGeom prst="ellipse">
            <a:avLst/>
          </a:prstGeom>
          <a:solidFill>
            <a:srgbClr val="1E3A8A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Circle 7"/>
          <p:cNvSpPr/>
          <p:nvPr/>
        </p:nvSpPr>
        <p:spPr>
          <a:xfrm>
            <a:off x="7909560" y="2011680"/>
            <a:ext cx="2377440" cy="2377440"/>
          </a:xfrm>
          <a:prstGeom prst="ellipse">
            <a:avLst/>
          </a:prstGeom>
          <a:solidFill>
            <a:srgbClr val="581C87"/>
          </a:solidFill>
          <a:ln w="16000">
            <a:solidFill>
              <a:srgbClr val="C084FC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777240" y="1828800"/>
            <a:ext cx="64008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5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400 МБ ресурсов</a:t>
            </a:r>
            <a:endParaRPr lang="ru-RU" sz="2500" dirty="0"/>
          </a:p>
          <a:p>
            <a:pPr algn="l"/>
            <a:r>
              <a:rPr lang="ru-RU" sz="25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не должны остановить игру</a:t>
            </a:r>
            <a:endParaRPr lang="ru-RU" sz="25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3703320"/>
            <a:ext cx="5715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5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Цель: загрузить в фоне, уметь отменить, не потерять инварианты.</a:t>
            </a:r>
            <a:endParaRPr lang="ru-RU" sz="1500" dirty="0"/>
          </a:p>
        </p:txBody>
      </p:sp>
      <p:sp>
        <p:nvSpPr>
          <p:cNvPr id="10" name="Page 10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01</a:t>
            </a:r>
            <a:endParaRPr lang="ru-RU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Какие вопросы закрываем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После презентации должна сложиться полная картина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685800" y="123444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813816" y="135331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Главный поток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813816" y="162763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почему нельзя долго работать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114800" y="123444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242816" y="135331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tb::job_pool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242816" y="162763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почему не каждая очередь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задач подходит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543800" y="123444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671816" y="135331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Отмена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671816" y="162763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как остановить загрузку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культурно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685800" y="265176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13816" y="277063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Тайминги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813816" y="304495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16 мс, 0.8 с, 2 с, 5 с ANR</a:t>
            </a:r>
            <a:endParaRPr lang="ru-RU" sz="1100" dirty="0"/>
          </a:p>
        </p:txBody>
      </p:sp>
      <p:sp>
        <p:nvSpPr>
          <p:cNvPr id="18" name="Shape 18"/>
          <p:cNvSpPr/>
          <p:nvPr/>
        </p:nvSpPr>
        <p:spPr>
          <a:xfrm>
            <a:off x="4114800" y="265176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242816" y="277063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Потоки</a:t>
            </a:r>
            <a:endParaRPr lang="ru-RU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4242816" y="304495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почему нельзя просто убить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thread</a:t>
            </a:r>
            <a:endParaRPr lang="ru-RU" sz="1100" dirty="0"/>
          </a:p>
        </p:txBody>
      </p:sp>
      <p:sp>
        <p:nvSpPr>
          <p:cNvPr id="21" name="Shape 21"/>
          <p:cNvSpPr/>
          <p:nvPr/>
        </p:nvSpPr>
        <p:spPr>
          <a:xfrm>
            <a:off x="7543800" y="265176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671816" y="277063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Callbacks</a:t>
            </a:r>
            <a:endParaRPr lang="ru-RU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7671816" y="304495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почему try/catch обязателен</a:t>
            </a:r>
            <a:endParaRPr lang="ru-RU" sz="1100" dirty="0"/>
          </a:p>
        </p:txBody>
      </p:sp>
      <p:sp>
        <p:nvSpPr>
          <p:cNvPr id="24" name="Shape 24"/>
          <p:cNvSpPr/>
          <p:nvPr/>
        </p:nvSpPr>
        <p:spPr>
          <a:xfrm>
            <a:off x="685800" y="4069080"/>
            <a:ext cx="2971800" cy="960120"/>
          </a:xfrm>
          <a:prstGeom prst="roundRect">
            <a:avLst/>
          </a:prstGeom>
          <a:solidFill>
            <a:srgbClr val="151F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13816" y="41879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FPS</a:t>
            </a:r>
            <a:endParaRPr lang="ru-RU" sz="1100" dirty="0"/>
          </a:p>
        </p:txBody>
      </p:sp>
      <p:sp>
        <p:nvSpPr>
          <p:cNvPr id="26" name="Text 26"/>
          <p:cNvSpPr txBox="1"/>
          <p:nvPr/>
        </p:nvSpPr>
        <p:spPr>
          <a:xfrm>
            <a:off x="813816" y="4462272"/>
            <a:ext cx="27157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как зависимости задач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упираются в кадры</a:t>
            </a:r>
            <a:endParaRPr lang="ru-RU" sz="1100" dirty="0"/>
          </a:p>
        </p:txBody>
      </p:sp>
      <p:sp>
        <p:nvSpPr>
          <p:cNvPr id="27" name="Page 2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02</a:t>
            </a:r>
            <a:endParaRPr lang="ru-RU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Главный поток: сердце приложения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Он качает события, обновление и рендер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1874519"/>
            <a:ext cx="242316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42416" y="1993391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events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1042416" y="2267712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обработка ввода</a:t>
            </a:r>
            <a:endParaRPr lang="ru-RU" sz="1100" dirty="0"/>
          </a:p>
        </p:txBody>
      </p:sp>
      <p:cxnSp>
        <p:nvCxnSpPr>
          <p:cNvPr id="9" name="Arrow 9"/>
          <p:cNvCxnSpPr/>
          <p:nvPr/>
        </p:nvCxnSpPr>
        <p:spPr>
          <a:xfrm>
            <a:off x="3401568" y="2441448"/>
            <a:ext cx="512063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4114800" y="1874519"/>
            <a:ext cx="242316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4242816" y="1993391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update</a:t>
            </a:r>
            <a:endParaRPr lang="ru-RU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4242816" y="2267712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логика игры</a:t>
            </a:r>
            <a:endParaRPr lang="ru-RU" sz="1100" dirty="0"/>
          </a:p>
        </p:txBody>
      </p:sp>
      <p:cxnSp>
        <p:nvCxnSpPr>
          <p:cNvPr id="13" name="Arrow 13"/>
          <p:cNvCxnSpPr/>
          <p:nvPr/>
        </p:nvCxnSpPr>
        <p:spPr>
          <a:xfrm>
            <a:off x="6601968" y="2441448"/>
            <a:ext cx="512063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7315200" y="1874519"/>
            <a:ext cx="242316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443216" y="1993391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render</a:t>
            </a:r>
            <a:endParaRPr lang="ru-RU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7443216" y="2267712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кадр на экран</a:t>
            </a:r>
            <a:endParaRPr lang="ru-RU" sz="1100" dirty="0"/>
          </a:p>
        </p:txBody>
      </p:sp>
      <p:cxnSp>
        <p:nvCxnSpPr>
          <p:cNvPr id="17" name="Arrow 17"/>
          <p:cNvCxnSpPr/>
          <p:nvPr/>
        </p:nvCxnSpPr>
        <p:spPr>
          <a:xfrm>
            <a:off x="8183879" y="3154680"/>
            <a:ext cx="-7223759" cy="0"/>
          </a:xfrm>
          <a:prstGeom prst="line">
            <a:avLst/>
          </a:prstGeom>
          <a:ln w="24000">
            <a:solidFill>
              <a:srgbClr val="64748B"/>
            </a:solidFill>
            <a:headEnd type="triangle"/>
          </a:ln>
        </p:spPr>
      </p:cxnSp>
      <p:cxnSp>
        <p:nvCxnSpPr>
          <p:cNvPr id="18" name="Arrow 18"/>
          <p:cNvCxnSpPr/>
          <p:nvPr/>
        </p:nvCxnSpPr>
        <p:spPr>
          <a:xfrm>
            <a:off x="960120" y="3154680"/>
            <a:ext cx="0" cy="-1280161"/>
          </a:xfrm>
          <a:prstGeom prst="line">
            <a:avLst/>
          </a:prstGeom>
          <a:ln w="24000">
            <a:solidFill>
              <a:srgbClr val="64748B"/>
            </a:solidFill>
            <a:headEnd type="triangle"/>
          </a:ln>
        </p:spPr>
      </p:cxnSp>
      <p:sp>
        <p:nvSpPr>
          <p:cNvPr id="19" name="Text 19"/>
          <p:cNvSpPr txBox="1"/>
          <p:nvPr/>
        </p:nvSpPr>
        <p:spPr>
          <a:xfrm>
            <a:off x="1508760" y="3950208"/>
            <a:ext cx="80467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Если один блок завис, игрок видит не «работу», а мертвое окно.</a:t>
            </a:r>
            <a:endParaRPr lang="ru-RU" sz="1700" dirty="0"/>
          </a:p>
        </p:txBody>
      </p:sp>
      <p:sp>
        <p:nvSpPr>
          <p:cNvPr id="20" name="Page 20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03</a:t>
            </a:r>
            <a:endParaRPr lang="ru-RU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Бюджет кадра: всего 16 мс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60 FPS = 1 / 60 секунды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2286000"/>
            <a:ext cx="1143000" cy="7772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14400" y="2395728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events</a:t>
            </a:r>
            <a:endParaRPr lang="ru-RU" sz="1000" dirty="0"/>
          </a:p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2 мс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2057400" y="2286000"/>
            <a:ext cx="2286000" cy="7772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057400" y="239572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physics</a:t>
            </a:r>
            <a:endParaRPr lang="ru-RU" sz="1000" dirty="0"/>
          </a:p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4 мс</a:t>
            </a:r>
            <a:endParaRPr lang="ru-RU" sz="1000" dirty="0"/>
          </a:p>
        </p:txBody>
      </p:sp>
      <p:sp>
        <p:nvSpPr>
          <p:cNvPr id="10" name="Shape 10"/>
          <p:cNvSpPr/>
          <p:nvPr/>
        </p:nvSpPr>
        <p:spPr>
          <a:xfrm>
            <a:off x="4343400" y="2286000"/>
            <a:ext cx="4572000" cy="7772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4343400" y="23957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render</a:t>
            </a:r>
            <a:endParaRPr lang="ru-RU" sz="1000" dirty="0"/>
          </a:p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8 мс</a:t>
            </a:r>
            <a:endParaRPr lang="ru-RU" sz="1000" dirty="0"/>
          </a:p>
        </p:txBody>
      </p:sp>
      <p:sp>
        <p:nvSpPr>
          <p:cNvPr id="12" name="Shape 12"/>
          <p:cNvSpPr/>
          <p:nvPr/>
        </p:nvSpPr>
        <p:spPr>
          <a:xfrm>
            <a:off x="8915400" y="2286000"/>
            <a:ext cx="1143000" cy="7772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915400" y="2395728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logic</a:t>
            </a:r>
            <a:endParaRPr lang="ru-RU" sz="1000" dirty="0"/>
          </a:p>
          <a:p>
            <a:pPr algn="ctr"/>
            <a:r>
              <a:rPr lang="ru-RU" sz="10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2 мс</a:t>
            </a:r>
            <a:endParaRPr lang="ru-RU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777240" y="3429000"/>
            <a:ext cx="94183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Любой wait(), sleep(), join() или синхронный I/O крадет этот бюджет.</a:t>
            </a:r>
            <a:endParaRPr lang="ru-RU" sz="1700" dirty="0"/>
          </a:p>
        </p:txBody>
      </p:sp>
      <p:sp>
        <p:nvSpPr>
          <p:cNvPr id="15" name="Page 15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04</a:t>
            </a:r>
            <a:endParaRPr lang="ru-RU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Загрузка уровня: 400 МБ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На диске это данные, для игрока это ожидание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1005840" y="1828800"/>
            <a:ext cx="4297680" cy="2468880"/>
          </a:xfrm>
          <a:prstGeom prst="roundRect">
            <a:avLst/>
          </a:prstGeom>
          <a:solidFill>
            <a:srgbClr val="78350F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05840" y="224942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3400" b="1" dirty="0">
                <a:solidFill>
                  <a:srgbClr val="FEF3C7"/>
                </a:solidFill>
                <a:latin typeface="JetBrains Mono"/>
                <a:ea typeface="JetBrains Mono"/>
                <a:cs typeface="JetBrains Mono"/>
              </a:rPr>
              <a:t>400 МБ</a:t>
            </a:r>
            <a:endParaRPr lang="ru-RU" sz="3400" dirty="0"/>
          </a:p>
        </p:txBody>
      </p:sp>
      <p:sp>
        <p:nvSpPr>
          <p:cNvPr id="8" name="Text 8"/>
          <p:cNvSpPr txBox="1"/>
          <p:nvPr/>
        </p:nvSpPr>
        <p:spPr>
          <a:xfrm>
            <a:off x="5989320" y="1353312"/>
            <a:ext cx="4160520" cy="324612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334155"/>
            </a:solidFill>
          </a:ln>
        </p:spPr>
        <p:txBody>
          <a:bodyPr wrap="square" lIns="90000" tIns="90000" rIns="90000" bIns="90000" anchor="mid"/>
          <a:lstStyle/>
          <a:p>
            <a:pPr algn="l"/>
            <a:r>
              <a:rPr lang="ru-RU" sz="18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прочитать файлы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распаковать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распарсить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создать GPU-ресурсы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сообщить игре</a:t>
            </a:r>
            <a:endParaRPr lang="ru-RU" sz="1800" dirty="0"/>
          </a:p>
        </p:txBody>
      </p:sp>
      <p:cxnSp>
        <p:nvCxnSpPr>
          <p:cNvPr id="9" name="Arrow 9"/>
          <p:cNvCxnSpPr/>
          <p:nvPr/>
        </p:nvCxnSpPr>
        <p:spPr>
          <a:xfrm>
            <a:off x="5394960" y="3063240"/>
            <a:ext cx="594360" cy="0"/>
          </a:xfrm>
          <a:prstGeom prst="line">
            <a:avLst/>
          </a:prstGeom>
          <a:ln w="24000">
            <a:solidFill>
              <a:srgbClr val="FBBF24"/>
            </a:solidFill>
            <a:headEnd type="triangle"/>
          </a:ln>
        </p:spPr>
      </p:cxnSp>
      <p:sp>
        <p:nvSpPr>
          <p:cNvPr id="10" name="Page 10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05</a:t>
            </a:r>
            <a:endParaRPr lang="ru-RU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Почему нельзя долго работать на main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Потому что main отвечает за ощущение жизни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554480"/>
            <a:ext cx="429768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6733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События не читаются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947672"/>
            <a:ext cx="40416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ОС считает окно зависшим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5760720" y="1554480"/>
            <a:ext cx="429768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888736" y="16733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Кадры не рисуются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888736" y="1947672"/>
            <a:ext cx="40416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игрок видит фриз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822960" y="3383280"/>
            <a:ext cx="429768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50976" y="35021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Ввод не работает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950976" y="3776472"/>
            <a:ext cx="40416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кнопка «назад» бесполезна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5760720" y="3383280"/>
            <a:ext cx="429768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88736" y="35021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Закрытие тормозит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5888736" y="3776472"/>
            <a:ext cx="40416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можно получить ANR</a:t>
            </a:r>
            <a:endParaRPr lang="ru-RU" sz="11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06</a:t>
            </a:r>
            <a:endParaRPr lang="ru-RU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Тайминги, которые держим в голове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Не точные законы природы, а инженерные ориентиры</a:t>
            </a:r>
            <a:endParaRPr lang="ru-RU" sz="1100" dirty="0"/>
          </a:p>
        </p:txBody>
      </p:sp>
      <p:sp>
        <p:nvSpPr>
          <p:cNvPr id="6" name="Circle 6"/>
          <p:cNvSpPr/>
          <p:nvPr/>
        </p:nvSpPr>
        <p:spPr>
          <a:xfrm>
            <a:off x="777240" y="1828800"/>
            <a:ext cx="1481328" cy="1481328"/>
          </a:xfrm>
          <a:prstGeom prst="ellipse">
            <a:avLst/>
          </a:prstGeom>
          <a:solidFill>
            <a:srgbClr val="38BDF8"/>
          </a:solidFill>
          <a:ln w="16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777240" y="210312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9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16мс</a:t>
            </a:r>
            <a:endParaRPr lang="ru-RU" sz="1900" dirty="0"/>
          </a:p>
        </p:txBody>
      </p:sp>
      <p:sp>
        <p:nvSpPr>
          <p:cNvPr id="8" name="Text 8"/>
          <p:cNvSpPr txBox="1"/>
          <p:nvPr/>
        </p:nvSpPr>
        <p:spPr>
          <a:xfrm>
            <a:off x="466344" y="343814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кадр при 60 FPS</a:t>
            </a:r>
            <a:endParaRPr lang="ru-RU" sz="1000" dirty="0"/>
          </a:p>
        </p:txBody>
      </p:sp>
      <p:sp>
        <p:nvSpPr>
          <p:cNvPr id="9" name="Circle 9"/>
          <p:cNvSpPr/>
          <p:nvPr/>
        </p:nvSpPr>
        <p:spPr>
          <a:xfrm>
            <a:off x="3063240" y="1828800"/>
            <a:ext cx="1481328" cy="1481328"/>
          </a:xfrm>
          <a:prstGeom prst="ellipse">
            <a:avLst/>
          </a:prstGeom>
          <a:solidFill>
            <a:srgbClr val="34D399"/>
          </a:solidFill>
          <a:ln w="16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063240" y="210312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9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0.8с</a:t>
            </a:r>
            <a:endParaRPr lang="ru-RU" sz="1900" dirty="0"/>
          </a:p>
        </p:txBody>
      </p:sp>
      <p:sp>
        <p:nvSpPr>
          <p:cNvPr id="11" name="Text 11"/>
          <p:cNvSpPr txBox="1"/>
          <p:nvPr/>
        </p:nvSpPr>
        <p:spPr>
          <a:xfrm>
            <a:off x="2752344" y="343814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заметная реакция</a:t>
            </a:r>
            <a:endParaRPr lang="ru-RU" sz="1000" dirty="0"/>
          </a:p>
        </p:txBody>
      </p:sp>
      <p:sp>
        <p:nvSpPr>
          <p:cNvPr id="12" name="Circle 12"/>
          <p:cNvSpPr/>
          <p:nvPr/>
        </p:nvSpPr>
        <p:spPr>
          <a:xfrm>
            <a:off x="5349240" y="1828800"/>
            <a:ext cx="1481328" cy="1481328"/>
          </a:xfrm>
          <a:prstGeom prst="ellipse">
            <a:avLst/>
          </a:prstGeom>
          <a:solidFill>
            <a:srgbClr val="FBBF24"/>
          </a:solidFill>
          <a:ln w="16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349240" y="210312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9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2с</a:t>
            </a:r>
            <a:endParaRPr lang="ru-RU" sz="1900" dirty="0"/>
          </a:p>
        </p:txBody>
      </p:sp>
      <p:sp>
        <p:nvSpPr>
          <p:cNvPr id="14" name="Text 14"/>
          <p:cNvSpPr txBox="1"/>
          <p:nvPr/>
        </p:nvSpPr>
        <p:spPr>
          <a:xfrm>
            <a:off x="5038344" y="343814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ожидание</a:t>
            </a:r>
            <a:endParaRPr lang="ru-RU" sz="1000" dirty="0"/>
          </a:p>
          <a:p>
            <a:pPr algn="ctr"/>
            <a:r>
              <a:rPr lang="ru-RU" sz="10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нервирует</a:t>
            </a:r>
            <a:endParaRPr lang="ru-RU" sz="1000" dirty="0"/>
          </a:p>
        </p:txBody>
      </p:sp>
      <p:sp>
        <p:nvSpPr>
          <p:cNvPr id="15" name="Circle 15"/>
          <p:cNvSpPr/>
          <p:nvPr/>
        </p:nvSpPr>
        <p:spPr>
          <a:xfrm>
            <a:off x="7635240" y="1828800"/>
            <a:ext cx="1481328" cy="1481328"/>
          </a:xfrm>
          <a:prstGeom prst="ellipse">
            <a:avLst/>
          </a:prstGeom>
          <a:solidFill>
            <a:srgbClr val="FB7185"/>
          </a:solidFill>
          <a:ln w="16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7635240" y="2103120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900" b="1" dirty="0">
                <a:solidFill>
                  <a:srgbClr val="0B1020"/>
                </a:solidFill>
                <a:latin typeface="JetBrains Mono"/>
                <a:ea typeface="JetBrains Mono"/>
                <a:cs typeface="JetBrains Mono"/>
              </a:rPr>
              <a:t>5с</a:t>
            </a:r>
            <a:endParaRPr lang="ru-RU" sz="1900" dirty="0"/>
          </a:p>
        </p:txBody>
      </p:sp>
      <p:sp>
        <p:nvSpPr>
          <p:cNvPr id="17" name="Text 17"/>
          <p:cNvSpPr txBox="1"/>
          <p:nvPr/>
        </p:nvSpPr>
        <p:spPr>
          <a:xfrm>
            <a:off x="7324344" y="343814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0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верхняя зона ANR</a:t>
            </a:r>
            <a:endParaRPr lang="ru-RU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914400" y="457200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Практическое правило: целевой лимит делим на 2 и проверяем отмену чаще.</a:t>
            </a:r>
            <a:endParaRPr lang="ru-RU" sz="1700" dirty="0"/>
          </a:p>
        </p:txBody>
      </p:sp>
      <p:sp>
        <p:nvSpPr>
          <p:cNvPr id="19" name="Page 19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07</a:t>
            </a:r>
            <a:endParaRPr lang="ru-RU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Старый способ: кооперативная многозадачность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Одно ядро, один поток, много добровольных уступок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685800" y="201168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813816" y="213055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рисуем экран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813816" y="240487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loading...</a:t>
            </a:r>
            <a:endParaRPr lang="ru-RU" sz="1100" dirty="0"/>
          </a:p>
        </p:txBody>
      </p:sp>
      <p:cxnSp>
        <p:nvCxnSpPr>
          <p:cNvPr id="9" name="Arrow 9"/>
          <p:cNvCxnSpPr/>
          <p:nvPr/>
        </p:nvCxnSpPr>
        <p:spPr>
          <a:xfrm>
            <a:off x="2834640" y="2587752"/>
            <a:ext cx="365760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3291840" y="201168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419856" y="213055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грузим пачку</a:t>
            </a:r>
            <a:endParaRPr lang="ru-RU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3419856" y="240487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N текстур</a:t>
            </a:r>
            <a:endParaRPr lang="ru-RU" sz="1100" dirty="0"/>
          </a:p>
        </p:txBody>
      </p:sp>
      <p:cxnSp>
        <p:nvCxnSpPr>
          <p:cNvPr id="13" name="Arrow 13"/>
          <p:cNvCxnSpPr/>
          <p:nvPr/>
        </p:nvCxnSpPr>
        <p:spPr>
          <a:xfrm>
            <a:off x="5440680" y="2587752"/>
            <a:ext cx="365760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5897880" y="201168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025896" y="213055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обрабатываем ввод</a:t>
            </a:r>
            <a:endParaRPr lang="ru-RU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025896" y="240487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не зависаем</a:t>
            </a:r>
            <a:endParaRPr lang="ru-RU" sz="1100" dirty="0"/>
          </a:p>
        </p:txBody>
      </p:sp>
      <p:cxnSp>
        <p:nvCxnSpPr>
          <p:cNvPr id="17" name="Arrow 17"/>
          <p:cNvCxnSpPr/>
          <p:nvPr/>
        </p:nvCxnSpPr>
        <p:spPr>
          <a:xfrm>
            <a:off x="8046720" y="2587752"/>
            <a:ext cx="365760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8503920" y="201168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631936" y="213055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повторяем</a:t>
            </a:r>
            <a:endParaRPr lang="ru-RU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8631936" y="240487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пока готово</a:t>
            </a:r>
            <a:endParaRPr lang="ru-RU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868680" y="4206240"/>
            <a:ext cx="923544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dirty="0">
                <a:solidFill>
                  <a:srgbClr val="EDE9FE"/>
                </a:solidFill>
                <a:latin typeface="JetBrains Mono"/>
                <a:ea typeface="JetBrains Mono"/>
                <a:cs typeface="JetBrains Mono"/>
              </a:rPr>
              <a:t>Современная отмена устроена похоже: поток сам регулярно проверяет «продолжать?»</a:t>
            </a:r>
            <a:endParaRPr lang="ru-RU" sz="1700" dirty="0"/>
          </a:p>
        </p:txBody>
      </p:sp>
      <p:sp>
        <p:nvSpPr>
          <p:cNvPr id="22" name="Page 22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08</a:t>
            </a:r>
            <a:endParaRPr lang="ru-RU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Современный путь: отдельный поток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Main остается отзывчивым, worker делает долгую работу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68680" y="2011680"/>
            <a:ext cx="2788920" cy="123444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96695" y="2130552"/>
            <a:ext cx="25328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main thread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96695" y="2404872"/>
            <a:ext cx="253288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события, update, render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434840" y="1417320"/>
            <a:ext cx="278892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62855" y="1536192"/>
            <a:ext cx="25328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worker thread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562855" y="1810512"/>
            <a:ext cx="25328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читает и парсит ресурсы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635240" y="2834640"/>
            <a:ext cx="2606040" cy="1143000"/>
          </a:xfrm>
          <a:prstGeom prst="roundRect">
            <a:avLst/>
          </a:prstGeom>
          <a:solidFill>
            <a:srgbClr val="064E3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763256" y="2953512"/>
            <a:ext cx="2350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main queue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763256" y="3227832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сигнал «уровень готов»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703320" y="2532888"/>
            <a:ext cx="640080" cy="-475488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269480" y="2057400"/>
            <a:ext cx="365760" cy="1188720"/>
          </a:xfrm>
          <a:prstGeom prst="line">
            <a:avLst/>
          </a:prstGeom>
          <a:ln w="24000">
            <a:solidFill>
              <a:srgbClr val="34D399"/>
            </a:solidFill>
            <a:headEnd type="triangle"/>
          </a:ln>
        </p:spPr>
      </p:cxnSp>
      <p:sp>
        <p:nvSpPr>
          <p:cNvPr id="17" name="Page 1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09</a:t>
            </a:r>
            <a:endParaRPr lang="ru-RU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Почему «просто поток» быстро усложняется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Появляются жизненный цикл, ошибки и синхронизация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640080" y="132588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768096" y="14447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экран закрыт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768096" y="171907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объекты уже уничтожены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160520" y="132588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288536" y="14447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файл не прочитан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288536" y="171907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исключение ушло в thread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680960" y="132588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808976" y="14447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вечный цикл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808976" y="171907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готовность не придет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640080" y="301752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768096" y="3136391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mutex захвачен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768096" y="341071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join или kill ломает всех</a:t>
            </a:r>
            <a:endParaRPr lang="ru-RU" sz="1100" dirty="0"/>
          </a:p>
        </p:txBody>
      </p:sp>
      <p:sp>
        <p:nvSpPr>
          <p:cNvPr id="18" name="Shape 18"/>
          <p:cNvSpPr/>
          <p:nvPr/>
        </p:nvSpPr>
        <p:spPr>
          <a:xfrm>
            <a:off x="4160520" y="301752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288536" y="3136391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render ждет texture</a:t>
            </a:r>
            <a:endParaRPr lang="ru-RU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4288536" y="341071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main ждет закрытие</a:t>
            </a:r>
            <a:endParaRPr lang="ru-RU" sz="1100" dirty="0"/>
          </a:p>
        </p:txBody>
      </p:sp>
      <p:sp>
        <p:nvSpPr>
          <p:cNvPr id="21" name="Shape 21"/>
          <p:cNvSpPr/>
          <p:nvPr/>
        </p:nvSpPr>
        <p:spPr>
          <a:xfrm>
            <a:off x="7680960" y="3017520"/>
            <a:ext cx="297180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7808976" y="3136391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очередь main</a:t>
            </a:r>
            <a:endParaRPr lang="ru-RU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7808976" y="3410712"/>
            <a:ext cx="27157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мелкие задачи стали 60/сек</a:t>
            </a:r>
            <a:endParaRPr lang="ru-RU" sz="1100" dirty="0"/>
          </a:p>
        </p:txBody>
      </p:sp>
      <p:sp>
        <p:nvSpPr>
          <p:cNvPr id="24" name="Page 24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10</a:t>
            </a:r>
            <a:endParaRPr lang="ru-RU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Если main завершился раньше worker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ОС не делает красивую отмену вашего кода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1737360"/>
            <a:ext cx="301752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42416" y="1856231"/>
            <a:ext cx="2761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main умер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1042416" y="2130552"/>
            <a:ext cx="276148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объекты и глобальные ресурсы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уходят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434840" y="1737360"/>
            <a:ext cx="301752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562855" y="1856231"/>
            <a:ext cx="2761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worker снят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562855" y="2130552"/>
            <a:ext cx="2761487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ядро просто прекращает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выполнение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955279" y="1737360"/>
            <a:ext cx="251460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083296" y="1856231"/>
            <a:ext cx="2258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инварианты?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8083296" y="2130552"/>
            <a:ext cx="22585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не гарантированы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977639" y="2359152"/>
            <a:ext cx="365761" cy="0"/>
          </a:xfrm>
          <a:prstGeom prst="line">
            <a:avLst/>
          </a:prstGeom>
          <a:ln w="24000">
            <a:solidFill>
              <a:srgbClr val="FB7185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498079" y="2359152"/>
            <a:ext cx="365761" cy="0"/>
          </a:xfrm>
          <a:prstGeom prst="line">
            <a:avLst/>
          </a:prstGeom>
          <a:ln w="24000">
            <a:solidFill>
              <a:srgbClr val="FB7185"/>
            </a:solidFill>
            <a:head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868680" y="4041648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FECACA"/>
                </a:solidFill>
                <a:latin typeface="JetBrains Mono"/>
                <a:ea typeface="JetBrains Mono"/>
                <a:cs typeface="JetBrains Mono"/>
              </a:rPr>
              <a:t>Файл кэша, лог, mutex, OpenGL context: всё может остаться в промежуточном состоянии.</a:t>
            </a:r>
            <a:endParaRPr lang="ru-RU" sz="16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11</a:t>
            </a:r>
            <a:endParaRPr lang="ru-RU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join() тоже может быть проблемой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Корректность не должна превращаться в зависание при выходе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1645920"/>
            <a:ext cx="2971800" cy="123444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42416" y="176479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пользователь закрывает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1042416" y="203911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main хочет быть вежливым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343400" y="1645920"/>
            <a:ext cx="2971800" cy="123444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471416" y="176479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main делает join()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471416" y="203911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ждет worker слишком долго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772400" y="1645920"/>
            <a:ext cx="2606040" cy="1234440"/>
          </a:xfrm>
          <a:prstGeom prst="roundRect">
            <a:avLst/>
          </a:prstGeom>
          <a:solidFill>
            <a:srgbClr val="3B1D0A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900416" y="1764792"/>
            <a:ext cx="2350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ОС видит ANR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900416" y="2039112"/>
            <a:ext cx="23500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и вытесняет процесс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931920" y="2267712"/>
            <a:ext cx="320040" cy="0"/>
          </a:xfrm>
          <a:prstGeom prst="line">
            <a:avLst/>
          </a:prstGeom>
          <a:ln w="24000">
            <a:solidFill>
              <a:srgbClr val="FBBF24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360920" y="2267712"/>
            <a:ext cx="320040" cy="0"/>
          </a:xfrm>
          <a:prstGeom prst="line">
            <a:avLst/>
          </a:prstGeom>
          <a:ln w="24000">
            <a:solidFill>
              <a:srgbClr val="FB7185"/>
            </a:solidFill>
            <a:head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868680" y="4041648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FEF3C7"/>
                </a:solidFill>
                <a:latin typeface="JetBrains Mono"/>
                <a:ea typeface="JetBrains Mono"/>
                <a:cs typeface="JetBrains Mono"/>
              </a:rPr>
              <a:t>Отмена должна быть запрошена заранее и быстро доходить до interruption point.</a:t>
            </a:r>
            <a:endParaRPr lang="ru-RU" sz="16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12</a:t>
            </a:r>
            <a:endParaRPr lang="ru-RU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Почему нельзя убивать поток через API ОС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Thread kill обрывает код между двумя инструкциями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68680" y="1417320"/>
            <a:ext cx="297180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96695" y="153619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RAII не сработал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96695" y="181051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деструкторы не раскрутили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стек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160520" y="1417320"/>
            <a:ext cx="297180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288536" y="153619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mutex остался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288536" y="181051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синхронизация сломана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452360" y="1417320"/>
            <a:ext cx="2971800" cy="123444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580376" y="153619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файл оборван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580376" y="181051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кэш потерял инвариант</a:t>
            </a:r>
            <a:endParaRPr lang="ru-RU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777240" y="3675887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Правильный путь: попросить остановиться, дойти до безопасной точки, выйти обычным return или исключением, которое поймано.</a:t>
            </a:r>
            <a:endParaRPr lang="ru-RU" sz="1700" dirty="0"/>
          </a:p>
        </p:txBody>
      </p:sp>
      <p:sp>
        <p:nvSpPr>
          <p:cNvPr id="16" name="Page 16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13</a:t>
            </a:r>
            <a:endParaRPr lang="ru-RU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Владение объектами между потоками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Классический ответ: shared_ptr + weak_ptr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1554480"/>
            <a:ext cx="2971800" cy="123444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42416" y="16733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shared_ptr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1042416" y="194767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удерживает объект живым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343400" y="1554480"/>
            <a:ext cx="2971800" cy="123444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471416" y="1673352"/>
            <a:ext cx="2715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weak_ptr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471416" y="1947672"/>
            <a:ext cx="271576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не продлевает жизнь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772400" y="1554480"/>
            <a:ext cx="2606040" cy="123444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900416" y="1673352"/>
            <a:ext cx="2350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lock()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900416" y="1947672"/>
            <a:ext cx="23500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либо объект, либо null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931920" y="2176272"/>
            <a:ext cx="320040" cy="0"/>
          </a:xfrm>
          <a:prstGeom prst="line">
            <a:avLst/>
          </a:prstGeom>
          <a:ln w="24000">
            <a:solidFill>
              <a:srgbClr val="34D399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360920" y="2176272"/>
            <a:ext cx="320040" cy="0"/>
          </a:xfrm>
          <a:prstGeom prst="line">
            <a:avLst/>
          </a:prstGeom>
          <a:ln w="24000">
            <a:solidFill>
              <a:srgbClr val="34D399"/>
            </a:solidFill>
            <a:head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868680" y="3950208"/>
            <a:ext cx="941832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DCFCE7"/>
                </a:solidFill>
                <a:latin typeface="JetBrains Mono"/>
                <a:ea typeface="JetBrains Mono"/>
                <a:cs typeface="JetBrains Mono"/>
              </a:rPr>
              <a:t>Глобальный объект не «вечный»: при завершении процесса он тоже разрушается.</a:t>
            </a:r>
            <a:endParaRPr lang="ru-RU" sz="16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14</a:t>
            </a:r>
            <a:endParaRPr lang="ru-RU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std::jthread + stop_token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C++20 дает авто-join и кооперативную отмену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621792" y="1234440"/>
            <a:ext cx="10104120" cy="5074920"/>
          </a:xfrm>
          <a:prstGeom prst="roundRect">
            <a:avLst/>
          </a:prstGeom>
          <a:solidFill>
            <a:srgbClr val="111827"/>
          </a:solidFill>
          <a:ln w="14000">
            <a:solidFill>
              <a:srgbClr val="334155"/>
            </a:solidFill>
          </a:ln>
        </p:spPr>
        <p:txBody>
          <a:bodyPr wrap="square" lIns="95000" tIns="95000" rIns="95000" bIns="95000" anchor="mid"/>
          <a:lstStyle/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void do_work(std::stop_token stoken)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for (int i = 0; i &lt; 100; ++i)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if (stoken.stop_requested())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    return; // безопасная точка остановки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/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std::this_thread::sleep_for(100ms);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load_next_chunk();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/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std::jthread worker(do_work);</a:t>
            </a:r>
            <a:endParaRPr lang="ru-RU" sz="1200" dirty="0"/>
          </a:p>
        </p:txBody>
      </p:sp>
      <p:sp>
        <p:nvSpPr>
          <p:cNvPr id="7" name="Page 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15</a:t>
            </a:r>
            <a:endParaRPr lang="ru-RU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Отмена остается кооперативной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stop_token сам ничего не прерывает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463040"/>
            <a:ext cx="429768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58191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часто проверяем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85623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перед I/O, после пачки, в циклах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5760720" y="1463040"/>
            <a:ext cx="429768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888736" y="158191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быстро выходим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888736" y="185623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return из безопасной точки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822960" y="3154680"/>
            <a:ext cx="429768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50976" y="32735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чистим RAII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950976" y="354787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стек раскручивается штатно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5760720" y="3154680"/>
            <a:ext cx="429768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88736" y="32735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не блокируем main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5888736" y="354787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join только с понятным лимитом</a:t>
            </a:r>
            <a:endParaRPr lang="ru-RU" sz="11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16</a:t>
            </a:r>
            <a:endParaRPr lang="ru-RU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Boost: interruption points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Старый, но выразительный паттерн отмены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621792" y="1234440"/>
            <a:ext cx="10104120" cy="5074920"/>
          </a:xfrm>
          <a:prstGeom prst="roundRect">
            <a:avLst/>
          </a:prstGeom>
          <a:solidFill>
            <a:srgbClr val="111827"/>
          </a:solidFill>
          <a:ln w="14000">
            <a:solidFill>
              <a:srgbClr val="334155"/>
            </a:solidFill>
          </a:ln>
        </p:spPr>
        <p:txBody>
          <a:bodyPr wrap="square" lIns="95000" tIns="95000" rIns="95000" bIns="95000" anchor="mid"/>
          <a:lstStyle/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void do_work()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try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for (int i = 0; i &lt; 100; ++i)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    boost::this_thread::interruption_point();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/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    boost::this_thread::sleep_for(100ms);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    load_next_chunk();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 catch (const boost::thread_interrupted&amp;)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// graceful shutdown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/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thread.interrupt();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thread.join();</a:t>
            </a:r>
            <a:endParaRPr lang="ru-RU" sz="1200" dirty="0"/>
          </a:p>
        </p:txBody>
      </p:sp>
      <p:sp>
        <p:nvSpPr>
          <p:cNvPr id="7" name="Page 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17</a:t>
            </a:r>
            <a:endParaRPr lang="ru-RU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Почему try/catch обязателен в callback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Исключение в чужом потоке не вернется магически на main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777240" y="1554480"/>
            <a:ext cx="3063240" cy="13258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05256" y="1673352"/>
            <a:ext cx="28072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callback бросил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05256" y="1947672"/>
            <a:ext cx="2807208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нет файла, ошибка парсинга,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assert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160520" y="1554480"/>
            <a:ext cx="3063240" cy="13258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288536" y="1673352"/>
            <a:ext cx="28072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исключение не поймано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288536" y="1947672"/>
            <a:ext cx="2807208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std::terminate / падение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процесса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543800" y="1554480"/>
            <a:ext cx="2743200" cy="13258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671816" y="1673352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лог потерян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671816" y="1947672"/>
            <a:ext cx="2487168" cy="822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причину сложно найти</a:t>
            </a:r>
            <a:endParaRPr lang="ru-RU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777240" y="3822191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Граница потока должна ловить все, логировать, переводить ошибку в результат и уведомлять владельца.</a:t>
            </a:r>
            <a:endParaRPr lang="ru-RU" sz="1700" dirty="0"/>
          </a:p>
        </p:txBody>
      </p:sp>
      <p:sp>
        <p:nvSpPr>
          <p:cNvPr id="16" name="Page 16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18</a:t>
            </a:r>
            <a:endParaRPr lang="ru-RU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Шаблон безопасной границы worker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Пользовательский код не должен валить весь процесс без лога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621792" y="1234440"/>
            <a:ext cx="10104120" cy="5074920"/>
          </a:xfrm>
          <a:prstGeom prst="roundRect">
            <a:avLst/>
          </a:prstGeom>
          <a:solidFill>
            <a:srgbClr val="111827"/>
          </a:solidFill>
          <a:ln w="14000">
            <a:solidFill>
              <a:srgbClr val="334155"/>
            </a:solidFill>
          </a:ln>
        </p:spPr>
        <p:txBody>
          <a:bodyPr wrap="square" lIns="95000" tIns="95000" rIns="95000" bIns="95000" anchor="mid"/>
          <a:lstStyle/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void worker_entry(std::function&lt;void()&gt; user_callback)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try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user_callback();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post_result(success{});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 catch (const std::exception&amp; e)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log_error(e.what());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post_result(failure{e.what()});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 catch (...) {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log_error("unknown worker exception");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    post_result(failure{"unknown"});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    }</a:t>
            </a:r>
            <a:endParaRPr lang="ru-RU" sz="1200" dirty="0"/>
          </a:p>
          <a:p>
            <a:pPr algn="l"/>
            <a:r>
              <a:rPr lang="ru-RU" sz="1200" dirty="0">
                <a:solidFill>
                  <a:srgbClr val="E2E8F0"/>
                </a:solidFill>
                <a:latin typeface="JetBrains Mono"/>
                <a:ea typeface="JetBrains Mono"/>
                <a:cs typeface="JetBrains Mono"/>
              </a:rPr>
              <a:t>}</a:t>
            </a:r>
            <a:endParaRPr lang="ru-RU" sz="1200" dirty="0"/>
          </a:p>
        </p:txBody>
      </p:sp>
      <p:sp>
        <p:nvSpPr>
          <p:cNvPr id="7" name="Page 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19</a:t>
            </a:r>
            <a:endParaRPr lang="ru-RU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Где ставить точки отмены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Ответ рождается из таймингов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417320"/>
            <a:ext cx="4297680" cy="114300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53619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до длинного I/O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81051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чтобы не начинать лишнее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5760720" y="1417320"/>
            <a:ext cx="4297680" cy="114300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888736" y="153619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после каждой пачки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888736" y="181051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текстура, mesh, chunk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822960" y="3108960"/>
            <a:ext cx="4297680" cy="114300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50976" y="322783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в больших циклах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950976" y="350215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не реже целевого лимита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5760720" y="3108960"/>
            <a:ext cx="4297680" cy="114300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FBBF24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88736" y="322783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BF24"/>
                </a:solidFill>
                <a:latin typeface="JetBrains Mono"/>
                <a:ea typeface="JetBrains Mono"/>
                <a:cs typeface="JetBrains Mono"/>
              </a:rPr>
              <a:t>перед callback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5888736" y="350215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владелец мог исчезнуть</a:t>
            </a:r>
            <a:endParaRPr lang="ru-RU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868680" y="477316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400" dirty="0">
                <a:solidFill>
                  <a:srgbClr val="FEF3C7"/>
                </a:solidFill>
                <a:latin typeface="JetBrains Mono"/>
                <a:ea typeface="JetBrains Mono"/>
                <a:cs typeface="JetBrains Mono"/>
              </a:rPr>
              <a:t>Для закрытия без ANR: не зависать дольше ~2.5 секунд локально.</a:t>
            </a:r>
            <a:endParaRPr lang="ru-RU" sz="1400" dirty="0"/>
          </a:p>
        </p:txBody>
      </p:sp>
      <p:sp>
        <p:nvSpPr>
          <p:cNvPr id="19" name="Page 19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20</a:t>
            </a:r>
            <a:endParaRPr lang="ru-RU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Что хорошего в job_pool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Он отлично утилизирует ядра для коротких независимых задач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914400" y="1828800"/>
            <a:ext cx="1874519" cy="105156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42416" y="1947672"/>
            <a:ext cx="1618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job 1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1042416" y="2221992"/>
            <a:ext cx="1618487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короткий CPU task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3337560" y="1828800"/>
            <a:ext cx="1874519" cy="105156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465576" y="1947672"/>
            <a:ext cx="1618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job 2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3465576" y="2221992"/>
            <a:ext cx="1618487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короткий CPU task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5760720" y="1828800"/>
            <a:ext cx="1874519" cy="105156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888736" y="1947672"/>
            <a:ext cx="1618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job 3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5888736" y="2221992"/>
            <a:ext cx="1618487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короткий CPU task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8183879" y="1828800"/>
            <a:ext cx="1874519" cy="105156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311896" y="1947672"/>
            <a:ext cx="16184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job 4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8311896" y="2221992"/>
            <a:ext cx="1618487" cy="5486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короткий CPU task</a:t>
            </a:r>
            <a:endParaRPr lang="ru-RU" sz="1100" dirty="0"/>
          </a:p>
        </p:txBody>
      </p:sp>
      <p:sp>
        <p:nvSpPr>
          <p:cNvPr id="18" name="Text 18"/>
          <p:cNvSpPr txBox="1"/>
          <p:nvPr/>
        </p:nvSpPr>
        <p:spPr>
          <a:xfrm>
            <a:off x="868680" y="3794760"/>
            <a:ext cx="94183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DCFCE7"/>
                </a:solidFill>
                <a:latin typeface="JetBrains Mono"/>
                <a:ea typeface="JetBrains Mono"/>
                <a:cs typeface="JetBrains Mono"/>
              </a:rPr>
              <a:t>Консольная утилита или batch processing: да, можно загрузить железо на максимум.</a:t>
            </a:r>
            <a:endParaRPr lang="ru-RU" sz="1600" dirty="0"/>
          </a:p>
        </p:txBody>
      </p:sp>
      <p:sp>
        <p:nvSpPr>
          <p:cNvPr id="19" name="Page 19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21</a:t>
            </a:r>
            <a:endParaRPr lang="ru-RU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Проблема загрузки через tb::job_pool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В графическом приложении долгие задачи могут отравить пул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463040"/>
            <a:ext cx="429768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58191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wait/sleep внутри job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85623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воркер занят, новые задачи стоят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5760720" y="1463040"/>
            <a:ext cx="429768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888736" y="158191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нет контроля отмены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888736" y="185623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чужой пул не знает ваш stop_token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822960" y="3154680"/>
            <a:ext cx="429768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50976" y="32735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исключения опасны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950976" y="354787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callback может убить процесс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5760720" y="3154680"/>
            <a:ext cx="4297680" cy="114300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88736" y="327355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I/O непредсказуем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5888736" y="354787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latency ломает FPS-план</a:t>
            </a:r>
            <a:endParaRPr lang="ru-RU" sz="11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22</a:t>
            </a:r>
            <a:endParaRPr lang="ru-RU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Нужна отдельная модель загрузки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Не «любой job», а управляемая async-операция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777240" y="1417320"/>
            <a:ext cx="256032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05256" y="1536192"/>
            <a:ext cx="23042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handle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05256" y="1810512"/>
            <a:ext cx="23042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request_cancel()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3657600" y="1417320"/>
            <a:ext cx="256032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785615" y="1536192"/>
            <a:ext cx="23042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worker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3785615" y="1810512"/>
            <a:ext cx="23042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checks + RAII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6537960" y="1417320"/>
            <a:ext cx="256032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665976" y="1536192"/>
            <a:ext cx="23042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result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665976" y="1810512"/>
            <a:ext cx="23042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success / error /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cancelled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3657600" y="3429000"/>
            <a:ext cx="2560320" cy="1143000"/>
          </a:xfrm>
          <a:prstGeom prst="roundRect">
            <a:avLst/>
          </a:prstGeom>
          <a:solidFill>
            <a:srgbClr val="064E3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785615" y="3547872"/>
            <a:ext cx="23042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owner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3785615" y="3822191"/>
            <a:ext cx="23042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weak_ptr.lock()</a:t>
            </a:r>
            <a:endParaRPr lang="ru-RU" sz="1100" dirty="0"/>
          </a:p>
        </p:txBody>
      </p:sp>
      <p:cxnSp>
        <p:nvCxnSpPr>
          <p:cNvPr id="18" name="Arrow 18"/>
          <p:cNvCxnSpPr/>
          <p:nvPr/>
        </p:nvCxnSpPr>
        <p:spPr>
          <a:xfrm>
            <a:off x="3401568" y="1993392"/>
            <a:ext cx="182880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6281928" y="1993392"/>
            <a:ext cx="182880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4937760" y="2743200"/>
            <a:ext cx="0" cy="594360"/>
          </a:xfrm>
          <a:prstGeom prst="line">
            <a:avLst/>
          </a:prstGeom>
          <a:ln w="24000">
            <a:solidFill>
              <a:srgbClr val="34D399"/>
            </a:solidFill>
            <a:headEnd type="triangle"/>
          </a:ln>
        </p:spPr>
      </p:cxnSp>
      <p:sp>
        <p:nvSpPr>
          <p:cNvPr id="21" name="Page 21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23</a:t>
            </a:r>
            <a:endParaRPr lang="ru-RU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Состояния cancellable loading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Отмена - это штатный результат, а не авария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731520" y="205740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859536" y="217627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queued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859536" y="245059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задача ждет</a:t>
            </a:r>
            <a:endParaRPr lang="ru-RU" sz="1100" dirty="0"/>
          </a:p>
        </p:txBody>
      </p:sp>
      <p:cxnSp>
        <p:nvCxnSpPr>
          <p:cNvPr id="9" name="Arrow 9"/>
          <p:cNvCxnSpPr/>
          <p:nvPr/>
        </p:nvCxnSpPr>
        <p:spPr>
          <a:xfrm>
            <a:off x="2834640" y="2633472"/>
            <a:ext cx="411480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3383280" y="205740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3511296" y="217627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running</a:t>
            </a:r>
            <a:endParaRPr lang="ru-RU" sz="1100" dirty="0"/>
          </a:p>
        </p:txBody>
      </p:sp>
      <p:sp>
        <p:nvSpPr>
          <p:cNvPr id="12" name="Text 12"/>
          <p:cNvSpPr txBox="1"/>
          <p:nvPr/>
        </p:nvSpPr>
        <p:spPr>
          <a:xfrm>
            <a:off x="3511296" y="245059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грузит пачками</a:t>
            </a:r>
            <a:endParaRPr lang="ru-RU" sz="1100" dirty="0"/>
          </a:p>
        </p:txBody>
      </p:sp>
      <p:cxnSp>
        <p:nvCxnSpPr>
          <p:cNvPr id="13" name="Arrow 13"/>
          <p:cNvCxnSpPr/>
          <p:nvPr/>
        </p:nvCxnSpPr>
        <p:spPr>
          <a:xfrm>
            <a:off x="5486400" y="2633472"/>
            <a:ext cx="411479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6035040" y="205740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163055" y="217627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cancelling</a:t>
            </a:r>
            <a:endParaRPr lang="ru-RU" sz="1100" dirty="0"/>
          </a:p>
        </p:txBody>
      </p:sp>
      <p:sp>
        <p:nvSpPr>
          <p:cNvPr id="16" name="Text 16"/>
          <p:cNvSpPr txBox="1"/>
          <p:nvPr/>
        </p:nvSpPr>
        <p:spPr>
          <a:xfrm>
            <a:off x="6163055" y="245059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доходит до safe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point</a:t>
            </a:r>
            <a:endParaRPr lang="ru-RU" sz="1100" dirty="0"/>
          </a:p>
        </p:txBody>
      </p:sp>
      <p:cxnSp>
        <p:nvCxnSpPr>
          <p:cNvPr id="17" name="Arrow 17"/>
          <p:cNvCxnSpPr/>
          <p:nvPr/>
        </p:nvCxnSpPr>
        <p:spPr>
          <a:xfrm>
            <a:off x="8138160" y="2633472"/>
            <a:ext cx="411480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8" name="Shape 18"/>
          <p:cNvSpPr/>
          <p:nvPr/>
        </p:nvSpPr>
        <p:spPr>
          <a:xfrm>
            <a:off x="8686800" y="2057400"/>
            <a:ext cx="205740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814816" y="2176272"/>
            <a:ext cx="18013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done</a:t>
            </a:r>
            <a:endParaRPr lang="ru-RU" sz="1100" dirty="0"/>
          </a:p>
        </p:txBody>
      </p:sp>
      <p:sp>
        <p:nvSpPr>
          <p:cNvPr id="20" name="Text 20"/>
          <p:cNvSpPr txBox="1"/>
          <p:nvPr/>
        </p:nvSpPr>
        <p:spPr>
          <a:xfrm>
            <a:off x="8814816" y="2450592"/>
            <a:ext cx="180136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result</a:t>
            </a:r>
            <a:endParaRPr lang="ru-RU" sz="1100" dirty="0"/>
          </a:p>
        </p:txBody>
      </p:sp>
      <p:sp>
        <p:nvSpPr>
          <p:cNvPr id="21" name="Text 21"/>
          <p:cNvSpPr txBox="1"/>
          <p:nvPr/>
        </p:nvSpPr>
        <p:spPr>
          <a:xfrm>
            <a:off x="914400" y="4315968"/>
            <a:ext cx="9144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EDE9FE"/>
                </a:solidFill>
                <a:latin typeface="JetBrains Mono"/>
                <a:ea typeface="JetBrains Mono"/>
                <a:cs typeface="JetBrains Mono"/>
              </a:rPr>
              <a:t>done может означать: success, failure или cancelled.</a:t>
            </a:r>
            <a:endParaRPr lang="ru-RU" sz="1600" dirty="0"/>
          </a:p>
        </p:txBody>
      </p:sp>
      <p:sp>
        <p:nvSpPr>
          <p:cNvPr id="22" name="Page 22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24</a:t>
            </a:r>
            <a:endParaRPr lang="ru-RU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Main queue: только крупные события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Не привязывайте каждую мелкую загрузку к FPS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777240" y="1645920"/>
            <a:ext cx="2926080" cy="1234440"/>
          </a:xfrm>
          <a:prstGeom prst="roundRect">
            <a:avLst/>
          </a:prstGeom>
          <a:solidFill>
            <a:srgbClr val="3B1D0A"/>
          </a:solidFill>
          <a:ln w="16000">
            <a:solidFill>
              <a:srgbClr val="FB7185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05256" y="1764792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FB7185"/>
                </a:solidFill>
                <a:latin typeface="JetBrains Mono"/>
                <a:ea typeface="JetBrains Mono"/>
                <a:cs typeface="JetBrains Mono"/>
              </a:rPr>
              <a:t>плохо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05256" y="2039112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texture готова -&gt; main -&gt;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следующая texture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206240" y="1645920"/>
            <a:ext cx="2926080" cy="123444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334255" y="1764792"/>
            <a:ext cx="2670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лучше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334255" y="2039112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worker queue запускает</a:t>
            </a:r>
            <a:endParaRPr lang="ru-RU" sz="1100" dirty="0"/>
          </a:p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следующую сразу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635240" y="1645920"/>
            <a:ext cx="2606040" cy="123444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763256" y="1764792"/>
            <a:ext cx="2350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main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763256" y="2039112"/>
            <a:ext cx="235000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получает «уровень готов»</a:t>
            </a:r>
            <a:endParaRPr lang="ru-RU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777240" y="393192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FEF3C7"/>
                </a:solidFill>
                <a:latin typeface="JetBrains Mono"/>
                <a:ea typeface="JetBrains Mono"/>
                <a:cs typeface="JetBrains Mono"/>
              </a:rPr>
              <a:t>Сигнал на main раз в кадр - нормально для крупных фаз, плохо для сотен мелких зависимых задач.</a:t>
            </a:r>
            <a:endParaRPr lang="ru-RU" sz="1600" dirty="0"/>
          </a:p>
        </p:txBody>
      </p:sp>
      <p:sp>
        <p:nvSpPr>
          <p:cNvPr id="16" name="Page 16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25</a:t>
            </a:r>
            <a:endParaRPr lang="ru-RU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Как зависимость задач упирается в FPS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Если следующая загрузка стартует только из main queue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685800" y="146304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8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texture A готова -&gt; событие main -&gt; кадр -&gt; старт texture B</a:t>
            </a:r>
            <a:endParaRPr lang="ru-RU" sz="1800" dirty="0"/>
          </a:p>
        </p:txBody>
      </p:sp>
      <p:sp>
        <p:nvSpPr>
          <p:cNvPr id="7" name="Shape 7"/>
          <p:cNvSpPr/>
          <p:nvPr/>
        </p:nvSpPr>
        <p:spPr>
          <a:xfrm>
            <a:off x="9144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144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1</a:t>
            </a:r>
            <a:endParaRPr lang="ru-RU" sz="900" dirty="0"/>
          </a:p>
        </p:txBody>
      </p:sp>
      <p:sp>
        <p:nvSpPr>
          <p:cNvPr id="9" name="Circle 9"/>
          <p:cNvSpPr/>
          <p:nvPr/>
        </p:nvSpPr>
        <p:spPr>
          <a:xfrm>
            <a:off x="1298448" y="205740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25146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25146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2</a:t>
            </a:r>
            <a:endParaRPr lang="ru-RU" sz="900" dirty="0"/>
          </a:p>
        </p:txBody>
      </p:sp>
      <p:sp>
        <p:nvSpPr>
          <p:cNvPr id="12" name="Circle 12"/>
          <p:cNvSpPr/>
          <p:nvPr/>
        </p:nvSpPr>
        <p:spPr>
          <a:xfrm>
            <a:off x="2898648" y="205740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1148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41148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3</a:t>
            </a:r>
            <a:endParaRPr lang="ru-RU" sz="900" dirty="0"/>
          </a:p>
        </p:txBody>
      </p:sp>
      <p:sp>
        <p:nvSpPr>
          <p:cNvPr id="15" name="Circle 15"/>
          <p:cNvSpPr/>
          <p:nvPr/>
        </p:nvSpPr>
        <p:spPr>
          <a:xfrm>
            <a:off x="4498848" y="205740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57150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7150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4</a:t>
            </a:r>
            <a:endParaRPr lang="ru-RU" sz="900" dirty="0"/>
          </a:p>
        </p:txBody>
      </p:sp>
      <p:sp>
        <p:nvSpPr>
          <p:cNvPr id="18" name="Circle 18"/>
          <p:cNvSpPr/>
          <p:nvPr/>
        </p:nvSpPr>
        <p:spPr>
          <a:xfrm>
            <a:off x="6099048" y="2057400"/>
            <a:ext cx="457200" cy="4572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73152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3152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5</a:t>
            </a:r>
            <a:endParaRPr lang="ru-RU" sz="900" dirty="0"/>
          </a:p>
        </p:txBody>
      </p:sp>
      <p:sp>
        <p:nvSpPr>
          <p:cNvPr id="21" name="Shape 21"/>
          <p:cNvSpPr/>
          <p:nvPr/>
        </p:nvSpPr>
        <p:spPr>
          <a:xfrm>
            <a:off x="8915400" y="2743200"/>
            <a:ext cx="1234440" cy="640080"/>
          </a:xfrm>
          <a:prstGeom prst="roundRect">
            <a:avLst/>
          </a:prstGeom>
          <a:solidFill>
            <a:srgbClr val="1F2937"/>
          </a:solidFill>
          <a:ln w="16000"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915400" y="288036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frame 6</a:t>
            </a:r>
            <a:endParaRPr lang="ru-RU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868680" y="42062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700" b="1" dirty="0">
                <a:solidFill>
                  <a:srgbClr val="FECACA"/>
                </a:solidFill>
                <a:latin typeface="JetBrains Mono"/>
                <a:ea typeface="JetBrains Mono"/>
                <a:cs typeface="JetBrains Mono"/>
              </a:rPr>
              <a:t>Итог: максимум около 60 таких переходов в секунду при 60 FPS.</a:t>
            </a:r>
            <a:endParaRPr lang="ru-RU" sz="1700" dirty="0"/>
          </a:p>
        </p:txBody>
      </p:sp>
      <p:sp>
        <p:nvSpPr>
          <p:cNvPr id="24" name="Page 24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26</a:t>
            </a:r>
            <a:endParaRPr lang="ru-RU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Когда результат A влияет на задачу B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Опасность: граф зависимостей спрятан в callback'ах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600200"/>
            <a:ext cx="246888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719072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load manifest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993392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получили список текстур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3794760" y="1600200"/>
            <a:ext cx="246888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3922776" y="1719072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load textures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3922776" y="1993392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зависит от manifest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6766560" y="1600200"/>
            <a:ext cx="2468880" cy="1143000"/>
          </a:xfrm>
          <a:prstGeom prst="roundRect">
            <a:avLst/>
          </a:prstGeom>
          <a:solidFill>
            <a:srgbClr val="1E1B4B"/>
          </a:solidFill>
          <a:ln w="160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894576" y="1719072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A78BFA"/>
                </a:solidFill>
                <a:latin typeface="JetBrains Mono"/>
                <a:ea typeface="JetBrains Mono"/>
                <a:cs typeface="JetBrains Mono"/>
              </a:rPr>
              <a:t>create material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6894576" y="1993392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зависит от textures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364992" y="2176272"/>
            <a:ext cx="338328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6336792" y="2176272"/>
            <a:ext cx="338328" cy="0"/>
          </a:xfrm>
          <a:prstGeom prst="line">
            <a:avLst/>
          </a:prstGeom>
          <a:ln w="24000">
            <a:solidFill>
              <a:srgbClr val="C084FC"/>
            </a:solidFill>
            <a:head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777240" y="4041648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600" dirty="0">
                <a:solidFill>
                  <a:srgbClr val="EDE9FE"/>
                </a:solidFill>
                <a:latin typeface="JetBrains Mono"/>
                <a:ea typeface="JetBrains Mono"/>
                <a:cs typeface="JetBrains Mono"/>
              </a:rPr>
              <a:t>Если каждый переход идет через main, граф загрузки начинает тикать с частотой игры.</a:t>
            </a:r>
            <a:endParaRPr lang="ru-RU" sz="16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27</a:t>
            </a:r>
            <a:endParaRPr lang="ru-RU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Render thread и контекст графики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Еще одна причина не блокировать закрытие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68680" y="1508760"/>
            <a:ext cx="278892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96695" y="1627631"/>
            <a:ext cx="25328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main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96695" y="1901952"/>
            <a:ext cx="25328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закрывает приложение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4297680" y="1508760"/>
            <a:ext cx="278892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4425696" y="1627631"/>
            <a:ext cx="253288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render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4425696" y="1901952"/>
            <a:ext cx="253288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держит OpenGL context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7726679" y="1508760"/>
            <a:ext cx="2606040" cy="1143000"/>
          </a:xfrm>
          <a:prstGeom prst="roundRect">
            <a:avLst/>
          </a:prstGeom>
          <a:solidFill>
            <a:srgbClr val="102033"/>
          </a:solidFill>
          <a:ln w="16000">
            <a:solidFill>
              <a:srgbClr val="38BDF8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7854696" y="1627631"/>
            <a:ext cx="2350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loader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7854696" y="1901952"/>
            <a:ext cx="235000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ждет texture upload</a:t>
            </a:r>
            <a:endParaRPr lang="ru-RU" sz="1100" dirty="0"/>
          </a:p>
        </p:txBody>
      </p:sp>
      <p:cxnSp>
        <p:nvCxnSpPr>
          <p:cNvPr id="15" name="Arrow 15"/>
          <p:cNvCxnSpPr/>
          <p:nvPr/>
        </p:nvCxnSpPr>
        <p:spPr>
          <a:xfrm>
            <a:off x="3703320" y="2084831"/>
            <a:ext cx="502920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132320" y="2084831"/>
            <a:ext cx="502920" cy="0"/>
          </a:xfrm>
          <a:prstGeom prst="line">
            <a:avLst/>
          </a:prstGeom>
          <a:ln w="24000">
            <a:solidFill>
              <a:srgbClr val="7DD3FC"/>
            </a:solidFill>
            <a:headEnd type="triangle"/>
          </a:ln>
        </p:spPr>
      </p:cxnSp>
      <p:sp>
        <p:nvSpPr>
          <p:cNvPr id="17" name="Text 17"/>
          <p:cNvSpPr txBox="1"/>
          <p:nvPr/>
        </p:nvSpPr>
        <p:spPr>
          <a:xfrm>
            <a:off x="822960" y="3913632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8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Цикл ожиданий между потоками превращает «закрыть приложение» в ANR.</a:t>
            </a:r>
            <a:endParaRPr lang="ru-RU" sz="18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28</a:t>
            </a:r>
            <a:endParaRPr lang="ru-RU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Минимальный протокол результата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Main должен получить не только «готово»</a:t>
            </a:r>
            <a:endParaRPr lang="ru-RU" sz="1100" dirty="0"/>
          </a:p>
        </p:txBody>
      </p:sp>
      <p:sp>
        <p:nvSpPr>
          <p:cNvPr id="6" name="Shape 6"/>
          <p:cNvSpPr/>
          <p:nvPr/>
        </p:nvSpPr>
        <p:spPr>
          <a:xfrm>
            <a:off x="822960" y="1417320"/>
            <a:ext cx="4297680" cy="114300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950976" y="153619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success</a:t>
            </a:r>
            <a:endParaRPr lang="ru-RU" sz="1100" dirty="0"/>
          </a:p>
        </p:txBody>
      </p:sp>
      <p:sp>
        <p:nvSpPr>
          <p:cNvPr id="8" name="Text 8"/>
          <p:cNvSpPr txBox="1"/>
          <p:nvPr/>
        </p:nvSpPr>
        <p:spPr>
          <a:xfrm>
            <a:off x="950976" y="181051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ресурсы готовы</a:t>
            </a:r>
            <a:endParaRPr lang="ru-RU" sz="1100" dirty="0"/>
          </a:p>
        </p:txBody>
      </p:sp>
      <p:sp>
        <p:nvSpPr>
          <p:cNvPr id="9" name="Shape 9"/>
          <p:cNvSpPr/>
          <p:nvPr/>
        </p:nvSpPr>
        <p:spPr>
          <a:xfrm>
            <a:off x="5760720" y="1417320"/>
            <a:ext cx="4297680" cy="114300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888736" y="153619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failure</a:t>
            </a:r>
            <a:endParaRPr lang="ru-RU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888736" y="181051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ошибка с диагностикой</a:t>
            </a:r>
            <a:endParaRPr lang="ru-RU" sz="1100" dirty="0"/>
          </a:p>
        </p:txBody>
      </p:sp>
      <p:sp>
        <p:nvSpPr>
          <p:cNvPr id="12" name="Shape 12"/>
          <p:cNvSpPr/>
          <p:nvPr/>
        </p:nvSpPr>
        <p:spPr>
          <a:xfrm>
            <a:off x="822960" y="3108960"/>
            <a:ext cx="4297680" cy="114300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50976" y="322783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cancelled</a:t>
            </a:r>
            <a:endParaRPr lang="ru-RU" sz="1100" dirty="0"/>
          </a:p>
        </p:txBody>
      </p:sp>
      <p:sp>
        <p:nvSpPr>
          <p:cNvPr id="14" name="Text 14"/>
          <p:cNvSpPr txBox="1"/>
          <p:nvPr/>
        </p:nvSpPr>
        <p:spPr>
          <a:xfrm>
            <a:off x="950976" y="350215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владелец передумал</a:t>
            </a:r>
            <a:endParaRPr lang="ru-RU" sz="1100" dirty="0"/>
          </a:p>
        </p:txBody>
      </p:sp>
      <p:sp>
        <p:nvSpPr>
          <p:cNvPr id="15" name="Shape 15"/>
          <p:cNvSpPr/>
          <p:nvPr/>
        </p:nvSpPr>
        <p:spPr>
          <a:xfrm>
            <a:off x="5760720" y="3108960"/>
            <a:ext cx="4297680" cy="1143000"/>
          </a:xfrm>
          <a:prstGeom prst="roundRect">
            <a:avLst/>
          </a:prstGeom>
          <a:solidFill>
            <a:srgbClr val="052E2B"/>
          </a:solidFill>
          <a:ln w="160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88736" y="3227832"/>
            <a:ext cx="40416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owner missing</a:t>
            </a:r>
            <a:endParaRPr lang="ru-RU" sz="1100" dirty="0"/>
          </a:p>
        </p:txBody>
      </p:sp>
      <p:sp>
        <p:nvSpPr>
          <p:cNvPr id="17" name="Text 17"/>
          <p:cNvSpPr txBox="1"/>
          <p:nvPr/>
        </p:nvSpPr>
        <p:spPr>
          <a:xfrm>
            <a:off x="5888736" y="3502152"/>
            <a:ext cx="404164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weak_ptr не залочился</a:t>
            </a:r>
            <a:endParaRPr lang="ru-RU" sz="1100" dirty="0"/>
          </a:p>
        </p:txBody>
      </p:sp>
      <p:sp>
        <p:nvSpPr>
          <p:cNvPr id="18" name="Page 18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29</a:t>
            </a:r>
            <a:endParaRPr lang="ru-RU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Практический чек-лист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Что должно быть в реальной async-загрузке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1207008"/>
            <a:ext cx="9784080" cy="4572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FBBF24"/>
            </a:solidFill>
          </a:ln>
        </p:spPr>
        <p:txBody>
          <a:bodyPr wrap="square" lIns="90000" tIns="90000" rIns="90000" bIns="90000" anchor="mid"/>
          <a:lstStyle/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main никогда не делает долгий wait/sleep/join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у операции есть handle и request_cancel()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worker регулярно проверяет stop/interruption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граница worker ловит все исключения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результат типизирован: success/failure/cancelled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владельцы передаются через weak_ptr</a:t>
            </a:r>
            <a:endParaRPr lang="ru-RU" sz="1600" dirty="0"/>
          </a:p>
          <a:p>
            <a:pPr algn="l"/>
            <a:r>
              <a:rPr lang="ru-RU" sz="1600" dirty="0">
                <a:solidFill>
                  <a:srgbClr val="E5E7EB"/>
                </a:solidFill>
                <a:latin typeface="JetBrains Mono"/>
                <a:ea typeface="JetBrains Mono"/>
                <a:cs typeface="JetBrains Mono"/>
              </a:rPr>
              <a:t>✓ мелкие зависимости не идут через main queue</a:t>
            </a:r>
            <a:endParaRPr lang="ru-RU" sz="1600" dirty="0"/>
          </a:p>
        </p:txBody>
      </p:sp>
      <p:sp>
        <p:nvSpPr>
          <p:cNvPr id="7" name="Page 7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30</a:t>
            </a:r>
            <a:endParaRPr lang="ru-RU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02920" y="201168"/>
            <a:ext cx="10652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Ментальная модель</a:t>
            </a:r>
            <a:endParaRPr lang="ru-RU" sz="2400" dirty="0"/>
          </a:p>
        </p:txBody>
      </p:sp>
      <p:sp>
        <p:nvSpPr>
          <p:cNvPr id="5" name="Subtitle 5"/>
          <p:cNvSpPr txBox="1"/>
          <p:nvPr/>
        </p:nvSpPr>
        <p:spPr>
          <a:xfrm>
            <a:off x="530352" y="7498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l"/>
            <a:r>
              <a:rPr lang="ru-RU" sz="1100" dirty="0">
                <a:solidFill>
                  <a:srgbClr val="A7B3C8"/>
                </a:solidFill>
                <a:latin typeface="JetBrains Mono"/>
                <a:ea typeface="JetBrains Mono"/>
                <a:cs typeface="JetBrains Mono"/>
              </a:rPr>
              <a:t>Никакой серебряной пули нет</a:t>
            </a:r>
            <a:endParaRPr lang="ru-RU" sz="11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1444752"/>
            <a:ext cx="9601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25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Асинхронность не отменяет кооперативность.</a:t>
            </a:r>
            <a:endParaRPr lang="ru-RU" sz="2500" dirty="0"/>
          </a:p>
        </p:txBody>
      </p:sp>
      <p:sp>
        <p:nvSpPr>
          <p:cNvPr id="7" name="Text 7"/>
          <p:cNvSpPr txBox="1"/>
          <p:nvPr/>
        </p:nvSpPr>
        <p:spPr>
          <a:xfrm>
            <a:off x="914400" y="2816352"/>
            <a:ext cx="93268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900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Потоки работают безопасно только когда вы явно описали владение, отмену, ошибки, очереди и тайминги.</a:t>
            </a:r>
            <a:endParaRPr lang="ru-RU" sz="1900" dirty="0"/>
          </a:p>
        </p:txBody>
      </p:sp>
      <p:sp>
        <p:nvSpPr>
          <p:cNvPr id="8" name="Text 8"/>
          <p:cNvSpPr txBox="1"/>
          <p:nvPr/>
        </p:nvSpPr>
        <p:spPr>
          <a:xfrm>
            <a:off x="1691640" y="4892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ctr"/>
            <a:r>
              <a:rPr lang="ru-RU" sz="1400" dirty="0">
                <a:solidFill>
                  <a:srgbClr val="7DD3FC"/>
                </a:solidFill>
                <a:latin typeface="JetBrains Mono"/>
                <a:ea typeface="JetBrains Mono"/>
                <a:cs typeface="JetBrains Mono"/>
              </a:rPr>
              <a:t>Сначала инварианты, потом производительность.</a:t>
            </a:r>
            <a:endParaRPr lang="ru-RU" sz="1400" dirty="0"/>
          </a:p>
        </p:txBody>
      </p:sp>
      <p:sp>
        <p:nvSpPr>
          <p:cNvPr id="9" name="Page 9"/>
          <p:cNvSpPr txBox="1"/>
          <p:nvPr/>
        </p:nvSpPr>
        <p:spPr>
          <a:xfrm>
            <a:off x="10287000" y="651052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mid"/>
          <a:lstStyle/>
          <a:p>
            <a:pPr algn="r"/>
            <a:r>
              <a:rPr lang="ru-RU" sz="900" dirty="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31</a:t>
            </a:r>
            <a:endParaRPr lang="ru-RU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yncLoading">
  <a:themeElements>
    <a:clrScheme name="AsyncLoading">
      <a:dk1>
        <a:srgbClr val="0B1020"/>
      </a:dk1>
      <a:lt1>
        <a:srgbClr val="FFFFFF"/>
      </a:lt1>
      <a:dk2>
        <a:srgbClr val="111827"/>
      </a:dk2>
      <a:lt2>
        <a:srgbClr val="E5E7EB"/>
      </a:lt2>
      <a:accent1>
        <a:srgbClr val="7DD3FC"/>
      </a:accent1>
      <a:accent2>
        <a:srgbClr val="A78BFA"/>
      </a:accent2>
      <a:accent3>
        <a:srgbClr val="34D399"/>
      </a:accent3>
      <a:accent4>
        <a:srgbClr val="FBBF24"/>
      </a:accent4>
      <a:accent5>
        <a:srgbClr val="FB7185"/>
      </a:accent5>
      <a:accent6>
        <a:srgbClr val="94A3B8"/>
      </a:accent6>
      <a:hlink>
        <a:srgbClr val="38BDF8"/>
      </a:hlink>
      <a:folHlink>
        <a:srgbClr val="C084FC"/>
      </a:folHlink>
    </a:clrScheme>
    <a:fontScheme name="JetBrainsMono">
      <a:majorFont>
        <a:latin typeface="JetBrains Mono"/>
        <a:ea typeface="JetBrains Mono"/>
        <a:cs typeface="JetBrains Mono"/>
      </a:majorFont>
      <a:minorFont>
        <a:latin typeface="JetBrains Mono"/>
        <a:ea typeface="JetBrains Mono"/>
        <a:cs typeface="JetBrains Mono"/>
      </a:minorFont>
    </a:fontScheme>
    <a:fmtScheme name="Asyn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 generated presentation</Application>
  <PresentationFormat>16:9</PresentationFormat>
  <Slides>31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Асинхронная загрузка без зависаний</dc:title>
  <dc:creator>Cursor</dc:creator>
  <cp:lastModifiedBy>Cursor</cp:lastModifiedBy>
  <dcterms:created xsi:type="dcterms:W3CDTF">2026-05-11T00:00:00Z</dcterms:created>
  <dcterms:modified xsi:type="dcterms:W3CDTF">2026-05-11T00:00:00Z</dcterms:modified>
</cp:coreProperties>
</file>